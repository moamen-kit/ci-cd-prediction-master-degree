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78" r:id="rId29"/>
    <p:sldId id="279" r:id="rId30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0" r:id="rId31"/>
    <p:sldId id="267" r:id="rId13"/>
    <p:sldId id="268" r:id="rId14"/>
    <p:sldId id="269" r:id="rId15"/>
    <p:sldId id="281" r:id="rId32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
  <Relationship Id="rId32" Type="http://schemas.openxmlformats.org/officeDocument/2006/relationships/slide" Target="slides/slide2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9800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CAIRO UNIVERSITY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Graduate Studies for Statistical Research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 Program  —  Professional Master's Degree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CI/CD Pipeline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Failures Using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Techniques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3657600" cy="0"/>
          </a:xfrm>
          <a:prstGeom prst="line">
            <a:avLst/>
          </a:prstGeom>
          <a:noFill/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Mohamed Aly Hussein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5394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ID: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202401681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5669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Maged Mamdouh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Friday, September 11,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in the next 20 minutes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CI/CD failures matter — financially and operationally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2130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Gap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45059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prior research did, and what it left undone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89504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8895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28437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316382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ML Pipeline architecture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02736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80160" y="35570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87705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features, models, and evaluation regime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315968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315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280160" y="4270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0160" y="459028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metrics, ablation study, threshold optimization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80160" y="4983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80160" y="5303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Translating model performance into dollar savings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742432"/>
            <a:ext cx="548640" cy="5486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" y="5742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280160" y="56967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601675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proved, what remains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failures are expensive — in time and money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C8463D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703320" cy="73152"/>
          </a:xfrm>
          <a:prstGeom prst="rect">
            <a:avLst/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GitHub Actions runs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in failure (observed in our dataset)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D4922A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703320" cy="73152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$0.008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compute cost (Linux runner)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32104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1040" y="1463040"/>
            <a:ext cx="3703320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2104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 min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50392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interruption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0392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context-switch penalty per failure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11338560" cy="19202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41605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Cumulative Cost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45720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mid-sized organization running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pipeline executions per day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that is approximately </a:t>
            </a:r>
            <a:r>
              <a:rPr lang="en-US" sz="15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failed builds daily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consuming compute resources and developer time that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recovered after the fact.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Gap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prior research did — and what it missed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Patel (2019) and related studies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post-execution telemetry: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duration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utilization (CPU, memory)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Step-level intermediate status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count and patterns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retrospective anomaly detection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5120640"/>
            <a:ext cx="5120640" cy="1097280"/>
          </a:xfrm>
          <a:prstGeom prst="rect">
            <a:avLst/>
          </a:prstGeom>
          <a:solidFill>
            <a:srgbClr val="F8D7DA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CRITICAL LIMITATION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the predictor has its input, the resources have already been spent.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Pre-execution prediction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5146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only pre-execution features: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Commit-level metadata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added / deleted / files changed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message (NLP via TF-IDF)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Repository, branch, event context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proactive resource conservation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5120640"/>
            <a:ext cx="5120640" cy="1097280"/>
          </a:xfrm>
          <a:prstGeom prst="rect">
            <a:avLst/>
          </a:prstGeom>
          <a:solidFill>
            <a:srgbClr val="D4EDDA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37960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THE CONTRIBUTION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at commit time, before the runner starts. Decisions can prevent the cost rather than diagnose 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specific, measurable goals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91440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914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554480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Hybrid ML Pipeline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240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numerical, categorical, binary, and textual commit features into a single end-to-end classifier using scikit-learn's ColumnTransformer.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4864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91440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0" y="1554480"/>
            <a:ext cx="914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315200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Three Classifiers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0" y="2240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Logistic Regression (baseline), Random Forest (ensemble), and XGBoost (gradient boosting) under identical conditions.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54864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91440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840480"/>
            <a:ext cx="914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55448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Under Realistic Conditions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526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model on both stratified random and chronological splits to verify robustness to temporal data drift.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840480"/>
            <a:ext cx="54864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3840480"/>
            <a:ext cx="91440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17920" y="3840480"/>
            <a:ext cx="914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731520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Business Impact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15200" y="4526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precision and recall metrics into estimated annual cost savings under a documented operational scenario.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GitHub Actions data — not synthetic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0" cy="48463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PROFILE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9,772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workflow runs collected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871216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3282696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open-source repositories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5478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/ 11%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0080" y="3959352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/ Failure class balance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2245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0080" y="463600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languages covered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901184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7,817 / 1,955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312664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 (stratified)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577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hours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080" y="59893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time (rate-limited)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760720" y="1463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Repositories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760720" y="187452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facebook/react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microsoft/vscode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tensorflow/tensorflow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pytorch/pytorch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rust-lang/rust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python/cpython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elastic/elasticsearch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prisma/prisma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...and 10 more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60720" y="4297680"/>
            <a:ext cx="5943600" cy="201168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0" y="44348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real data, not synthetic?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0" y="48006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experiments on a 45K-row synthetic Kaggle dataset revealed that columns were statistically independent — essentially random noise. Pivoting to real GitHub Actions data was the most important methodological decision in the project.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Pipeline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parallel branches fused via ColumnTransformer</a:t>
            </a:r>
            <a:endParaRPr lang="en-US" sz="1400" dirty="0"/>
          </a:p>
        </p:txBody>
      </p:sp>
      <p:pic>
        <p:nvPicPr>
          <p:cNvPr id="4" name="Image 0" descr="/home/claude/thesis/figures/fig_11_hybrid_architecture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7772400" cy="4937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Choices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50392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branches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(scaled), categorical (one-hot), binary (passthrough), text (TF-IDF) — processed independently then fused.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matrix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~3,090 columns total. Sparse-aware classifiers (LR, XGB) consume directly without densification.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classifier head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output (no MultiOutputClassifier wrapper) — operational decision: success or failure.</a:t>
            </a:r>
            <a:endParaRPr lang="en-US" sz="12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branch can be swapped (e.g., TF-IDF → BERT) without touching the rest.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features across 4 modalities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88920" cy="457200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7889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features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lines_added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lines_deleted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files_changed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commit_age_days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message_length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2423160" cy="0"/>
          </a:xfrm>
          <a:prstGeom prst="line">
            <a:avLst/>
          </a:prstGeom>
          <a:noFill/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5120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5349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463040"/>
            <a:ext cx="2788920" cy="457200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383280" y="1463040"/>
            <a:ext cx="2788920" cy="54864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8328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175564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features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219456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workflow_name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566160" y="5029200"/>
            <a:ext cx="2423160" cy="0"/>
          </a:xfrm>
          <a:prstGeom prst="line">
            <a:avLst/>
          </a:prstGeom>
          <a:noFill/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566160" y="5120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566160" y="5349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 (with rare-category bucketing)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2788920" cy="4572000"/>
          </a:xfrm>
          <a:prstGeom prst="rect">
            <a:avLst/>
          </a:prstGeom>
          <a:solidFill>
            <a:srgbClr val="F7F9FB"/>
          </a:solidFill>
          <a:ln w="12700">
            <a:solidFill>
              <a:srgbClr val="D4922A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09360" y="1463040"/>
            <a:ext cx="2788920" cy="5486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0936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175564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features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219456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is_weekend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is_night_commit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is_pr_merge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is_main_branch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is_force_push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is_dependabot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5029200"/>
            <a:ext cx="2423160" cy="0"/>
          </a:xfrm>
          <a:prstGeom prst="line">
            <a:avLst/>
          </a:prstGeom>
          <a:noFill/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92240" y="5120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92240" y="5349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Passthrough (already 0/1)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235440" y="1463040"/>
            <a:ext cx="2788920" cy="4572000"/>
          </a:xfrm>
          <a:prstGeom prst="rect">
            <a:avLst/>
          </a:prstGeom>
          <a:solidFill>
            <a:srgbClr val="F7F9FB"/>
          </a:solidFill>
          <a:ln w="12700">
            <a:solidFill>
              <a:srgbClr val="8B3FBF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235440" y="1463040"/>
            <a:ext cx="2788920" cy="548640"/>
          </a:xfrm>
          <a:prstGeom prst="rect">
            <a:avLst/>
          </a:prstGeom>
          <a:solidFill>
            <a:srgbClr val="8B3FBF"/>
          </a:solidFill>
          <a:ln w="12700">
            <a:solidFill>
              <a:srgbClr val="8B3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23544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TEXTUAL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235440" y="175564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feature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18320" y="219456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cleaned commit message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18320" y="5029200"/>
            <a:ext cx="2423160" cy="0"/>
          </a:xfrm>
          <a:prstGeom prst="line">
            <a:avLst/>
          </a:prstGeom>
          <a:noFill/>
          <a:ln w="12700">
            <a:solidFill>
              <a:srgbClr val="8B3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418320" y="5120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418320" y="5349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(ngram 1-2, max_features=3000, sublinear_tf)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40080" y="6144768"/>
            <a:ext cx="11064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Identity-leakage defense: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693-token stoplist (author logins + repo names + bot signatures) prevents TF-IDF from learning identifiers.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Regime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Commit-grouped cross-validation, threshold chosen off the test set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48640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COMMIT-GROUPED 5-FOLD CV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what the thesis reports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of one commit stays on one side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chosen on a validation fold, never on test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predicted once, by a model that never saw its commit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"How well does this generalise to unseen commits?"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4864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0" y="14630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PER-REPOSITORY CHRONOLOGICAL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2148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deployment realism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260604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project cut at its own point in time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that project's past, test on its future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for all 18 of 18 projects; 57-day span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"Does it still work on later commits?"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6144768"/>
            <a:ext cx="11064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F1 (primary)  ·  Balanced Accuracy  ·  ROC-AUC  ·  PR-AUC  ·  Precision  ·  Recall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Default Threshold of 0.5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classifiers, commit-grouped cross-validation, threshold = 0.5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92608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6344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Bal. Acc.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22376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2376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50392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0392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84080" y="155448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784080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057400"/>
            <a:ext cx="2926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0574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38328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76.3%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74.1%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94360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27.6%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2376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2376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71.3%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0392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50392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0.397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784080" y="205740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78408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0.828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2560320"/>
            <a:ext cx="292608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25603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38328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38328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83.0%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66344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6344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70.8%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4360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94360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33.4%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22376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22376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55.1%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50392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50392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0.416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84080" y="2560320"/>
            <a:ext cx="137160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978408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0.801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57200" y="3063240"/>
            <a:ext cx="2926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" y="3063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38328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38328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90.4%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66344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66344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59.2%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94360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94360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73.1%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22376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722376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19.2%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50392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850392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0.304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9784080" y="306324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9784080" y="30632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0.824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40080" y="4251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Key Observation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40080" y="4709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achieves the highest PR-AUC (0.480) — meaning it ranks failures best — but the worst F1 (0.304).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has good information but a miscalibrated decision rule. Only 19% of true failures are flagged, because the 0.5 threshold is implicitly designed for a balanced class prior.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insight motivates the threshold optimization experiment ahead →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hybrid claim hold? Test each feature set in isolation</a:t>
            </a:r>
            <a:endParaRPr lang="en-US" sz="1400" dirty="0"/>
          </a:p>
        </p:txBody>
      </p:sp>
      <p:pic>
        <p:nvPicPr>
          <p:cNvPr id="4" name="Image 0" descr="/home/claude/thesis/figures/fig_15_ablation_stud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371600"/>
            <a:ext cx="77724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Configurations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41248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(TF-IDF)</a:t>
            </a:r>
            <a:endParaRPr lang="en-US" sz="11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0.196 — cannot overcome the 89:11 prior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Structured-only</a:t>
            </a:r>
            <a:endParaRPr lang="en-US" sz="11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0.422 — matches the full hybrid</a:t>
            </a:r>
            <a:endParaRPr lang="en-US" sz="11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(full)</a:t>
            </a:r>
            <a:endParaRPr lang="en-US" sz="1100" dirty="0"/>
          </a:p>
          <a:p>
            <a:pPr marL="0" indent="0">
              <a:buNone/>
            </a:pPr>
            <a:r>
              <a:rPr lang="en-US" sz="1050" i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0.422 — no lift from adding text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412480" y="4297680"/>
            <a:ext cx="3474720" cy="2011680"/>
          </a:xfrm>
          <a:prstGeom prst="rect">
            <a:avLst/>
          </a:prstGeom>
          <a:solidFill>
            <a:srgbClr val="FFF4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Honest Finding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95360" y="48006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claim is refuted on real data. Adding TF-IDF text to the structured features produces no measurable lift.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5532120"/>
            <a:ext cx="7772400" cy="8229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562356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note: 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marginal ROC-AUC edge the hybrid held under the earlier protocol does not survive honest evaluation. Text does not improve </a:t>
            </a:r>
            <a:r>
              <a:rPr lang="en-US" sz="1200" b="1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ability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either. Means over five folds.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model actually rely on?</a:t>
            </a:r>
            <a:endParaRPr lang="en-US" sz="1400" dirty="0"/>
          </a:p>
        </p:txBody>
      </p:sp>
      <p:pic>
        <p:nvPicPr>
          <p:cNvPr id="4" name="Image 0" descr="/home/claude/thesis/figures/fig_17_feature_importance_glob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371600"/>
            <a:ext cx="7315200" cy="4937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955280" y="182880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identity ranks first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feature under the corrected split, up from rank 3 before.</a:t>
            </a:r>
            <a:endParaRPr lang="en-US" sz="12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tokens fill ranks 2–10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package, ui, dotenv — which part of the code was touched.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Consistent With The Ablation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55280" y="4114800"/>
            <a:ext cx="3931920" cy="2194560"/>
          </a:xfrm>
          <a:prstGeom prst="rect">
            <a:avLst/>
          </a:prstGeom>
          <a:solidFill>
            <a:srgbClr val="EAF7F0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13816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4572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Failure-discriminative vocabulary is not "fix", "bug" or "revert" — but timezone, utc, thresholds, borrow.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138160" y="5349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do not know at commit time that their build will fail. Yet the ablation shows text adds nothing once project identity is known.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Optimization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lever — but far smaller than first reported</a:t>
            </a:r>
            <a:endParaRPr lang="en-US" sz="1400" dirty="0"/>
          </a:p>
        </p:txBody>
      </p:sp>
      <p:pic>
        <p:nvPicPr>
          <p:cNvPr id="4" name="Image 0" descr="/home/claude/thesis/figures/fig_20_threshold_optimiz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77724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412480" y="182880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threshold selected at 0.076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of magnitude below the default 0.5.</a:t>
            </a:r>
            <a:endParaRPr lang="en-US" sz="12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selected at 0.646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the default — opposite-direction miscalibration.</a:t>
            </a:r>
            <a:endParaRPr lang="en-US" sz="12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selected at 0.538</a:t>
            </a:r>
            <a:endParaRPr lang="en-US" sz="1200" dirty="0"/>
          </a:p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Marginally above default.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338560" cy="86868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5577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2103120" y="56235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points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improvement in failure F1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297680" y="56235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F1 lifts from </a:t>
            </a:r>
            <a:r>
              <a:rPr lang="en-US" sz="1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0.304 → 0.397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chosen on validation, </a:t>
            </a:r>
            <a:r>
              <a:rPr lang="en-US" sz="1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on the test set</a:t>
            </a: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The +27pp figure came from picking it on the test set.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vs. After Threshold Optimization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Per-model transformation</a:t>
            </a:r>
            <a:endParaRPr lang="en-US" sz="1400" dirty="0"/>
          </a:p>
        </p:txBody>
      </p:sp>
      <p:pic>
        <p:nvPicPr>
          <p:cNvPr id="4" name="Image 0" descr="/home/claude/thesis/figures/fig_21_metrics_before_after_threshol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371600"/>
            <a:ext cx="114300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5687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Methodological lesson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imbalanced binary classification, probability calibration is a first-class hyperparameter, not a deployment-time afterthought. But it must be calibrated on data that is not then used to report the result — and the next slide shows exactly what ignoring that was worth.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 ·  threshold 0.076  ·  commit-grouped 5-fold cross-validation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0.422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F1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0.064 across folds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8328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66.9%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38328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8328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imbalance-aware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0.824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630936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ability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3544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3544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0.480</a:t>
            </a:r>
            <a:endParaRPr lang="en-US" sz="5600" dirty="0"/>
          </a:p>
        </p:txBody>
      </p:sp>
      <p:sp>
        <p:nvSpPr>
          <p:cNvPr id="19" name="Text 17"/>
          <p:cNvSpPr/>
          <p:nvPr/>
        </p:nvSpPr>
        <p:spPr>
          <a:xfrm>
            <a:off x="923544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3544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solidFill>
            <a:srgbClr val="0E3A5C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Check (Per-Repository Chronological Split)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F1 on the chronological test partition:  </a:t>
            </a:r>
            <a:r>
              <a:rPr lang="en-US" sz="2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0.399</a:t>
            </a: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(−2pp)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each project's past and tested on its future, for all eighteen projects. The three classifiers are indistinguishable on F1; XGBoost is selected on PR-AUC.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metrics to dollar value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93776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Scenario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Mid-sized engineering organization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pipeline executions per day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8529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observed failure rate (~110/day)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23697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$0.008/min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compute cost (GitHub published)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6210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$75/hr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fully-loaded developer rate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0050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context-switch penalty per failure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false alarm triage 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7731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$18.75</a:t>
            </a: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missed failure cost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5486400" cy="4937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NET SAVINGS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0" y="21945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$243,670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6400800" y="3520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year, net of false alarms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0" y="4069080"/>
            <a:ext cx="4572000" cy="0"/>
          </a:xfrm>
          <a:prstGeom prst="line">
            <a:avLst/>
          </a:prstGeom>
          <a:noFill/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false-alarm cost:  $20.41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4617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which this configuration stops paying for itself. Logistic Regression looks better at $2.50 but breaks even at only $10.27.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5577840"/>
            <a:ext cx="5120640" cy="640080"/>
          </a:xfrm>
          <a:prstGeom prst="rect">
            <a:avLst/>
          </a:prstGeom>
          <a:solidFill>
            <a:srgbClr val="0E3A5C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537960" y="56692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&gt; point estimate.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depends on a ratio I assumed, not measured.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— Achieved?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the four stated goals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124712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" cy="105156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6304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Hybrid ML Pipeline</a:t>
            </a: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✓ ACHIEVED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19659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Four-branch ColumnTransformer implemented, ~3,090-column sparse matrix, &lt;10ms inference latency on commodity hardware.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1124712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822960" cy="105156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65176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463040" y="2743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Three Classifiers</a:t>
            </a: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✓ ACHIEVED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31546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/ RF / XGBoost trained on identical features, evaluated under identical metric suite, winner selected by objective criterion.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1124712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822960" cy="105156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84048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46304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Under Realistic Conditions</a:t>
            </a: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◐ PARTIALLY ACHIEVED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43434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0.422 grouped vs 0.399 chronological, temporally valid for all 18 projects. But the 600-run cap makes this short-horizon only.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5029200"/>
            <a:ext cx="1124712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5029200"/>
            <a:ext cx="822960" cy="105156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46304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Business Impact</a:t>
            </a:r>
            <a:r>
              <a:rPr lang="en-US" sz="12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✓ ACHIEVED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55321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$243,670 annual net saving with documented assumptions, plus the break-even false-alarm cost at which it reaches zero.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Contributions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thesis adds to the field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17320" y="164592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Pre-execution prediction protocol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feature-set discipline that distinguishes this work from post-execution telemetry approaches (Patel 2019).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5508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178040" y="164592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identifying what actually drives the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205740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identity alone outperforms the full hybrid. The system is a project-level risk estimator, and this is reported rather than obscured.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2278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417320" y="327355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account of two evaluation defects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685032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leakage cost 0.060 of F1 and test-set threshold selection cost 0.126 — isolated under otherwise identical conditions.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090672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55080" y="32278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178040" y="327355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Identity-leakage defense for TF-IDF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78040" y="3685032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693-token stoplist algorithm that prevents the vectorizer from learning author/repo identifiers.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718304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485546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417320" y="490118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reproducibility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17320" y="531266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seed, pinned versions, every artefact committed. One command reproduces every reported number in about three minutes.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718304"/>
            <a:ext cx="5486400" cy="1463040"/>
          </a:xfrm>
          <a:prstGeom prst="rect">
            <a:avLst/>
          </a:prstGeom>
          <a:solidFill>
            <a:srgbClr val="F7F9FB"/>
          </a:solidFill>
          <a:ln w="12700">
            <a:solidFill>
              <a:srgbClr val="065A82"/>
            </a:solidFill>
            <a:prstDash val="solid"/>
          </a:ln>
          <a:effectLst>
            <a:outerShdw blurRad="508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55080" y="485546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7178040" y="490118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Business-impact translation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78040" y="5312664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and recall converted to dollars under explicit assumptions, reported with the break-even cost at which the saving vanishes.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work doesn't claim — and why that's important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scale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9,772 runs from 18 projects. Larger samples would tighten the confidence intervals; the spread across folds is currently ±0.06 of F1.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bias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CI/CD environments differ in commit cadence, branch policy, and tooling. Transfer is unverified.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273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text representation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6850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Lexical-overlap encoding misses semantic similarity — though the ablation shows text contributes almost nothing regardless.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3090672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17920" y="3090672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37960" y="3273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fitted on all data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37960" y="36850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Medians, vocabularies and the stoplist are computed before splitting. Target-independent, so mild, but they belong in the pipeline.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718304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4718304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7240" y="49011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validation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31266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metrics ≠ deployed performance. A live deployment study would measure user behavior under predictions.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4718304"/>
            <a:ext cx="5486400" cy="1463040"/>
          </a:xfrm>
          <a:prstGeom prst="rect">
            <a:avLst/>
          </a:prstGeom>
          <a:solidFill>
            <a:srgbClr val="FFF6E6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4718304"/>
            <a:ext cx="137160" cy="1463040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37960" y="49011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features computed in UTC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37960" y="531266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in UTC across globally distributed projects — 18:00 UTC is mid-afternoon in California, midnight in Tokyo.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directions for extension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70992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09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645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Transformer-based text encoder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CodeBERT / Sentence-BERT — may restore hybrid advantage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00800" y="170992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709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0" y="1645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1M+ workflow runs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repos, broader generalization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" y="289864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dataset validation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3200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transfer to proprietary CI/CD environments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65176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00800" y="289864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0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learning capability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3200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adaptation to evolving codebases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84048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40080" y="408736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4087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023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SHAP-based per-prediction explanations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71600" y="4389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Individual-commit interpretability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384048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00800" y="408736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0" y="4087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32320" y="4023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grid/Bayesian search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4389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optimization than current defaults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502920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40080" y="527608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0080" y="5276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371600" y="5212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operationalized deployment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71600" y="5577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real user behavior under predictions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17920" y="5029200"/>
            <a:ext cx="5486400" cy="1051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400800" y="5276088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5276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132320" y="5212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failure stage prediction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132320" y="5577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vs. test vs. deploy failure differentiation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371600" cy="0"/>
          </a:xfrm>
          <a:prstGeom prst="line">
            <a:avLst/>
          </a:prstGeom>
          <a:noFill/>
          <a:ln w="381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16002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hybrid ML pipeline for pre-execution CI/CD failure prediction using only commit-time features available from the GitHub Actions API.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371600" y="25603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F1 = 0.422 ± 0.064 under commit-grouped cross-validation with the threshold chosen off the test set — lower than the prior art, under stricter constraints and a stricter protocol.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371600" y="35204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through ablation that categorical identity alone outperforms the full hybrid, so the system is a project-level risk estimator rather than a commit-level one.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371600" y="44805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two evaluation defects in my own earlier results: 0.060 from commit leakage, 0.126 from threshold selection on test.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53035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371600" y="54406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$243,670 annual net saving, reported alongside the break-even false-alarm cost of $20.41 at which it reaches zero.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C9B7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931920"/>
            <a:ext cx="3657600" cy="0"/>
          </a:xfrm>
          <a:prstGeom prst="line">
            <a:avLst/>
          </a:prstGeom>
          <a:noFill/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Mohamed Aly Hussein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526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Software Engineering  ·  Cairo University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892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Defense: Friday, September 11,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5760720"/>
            <a:ext cx="7315200" cy="457200"/>
          </a:xfrm>
          <a:prstGeom prst="rect">
            <a:avLst/>
          </a:prstGeom>
          <a:solidFill>
            <a:srgbClr val="0E3A5C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58064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📎 Backup material available:</a:t>
            </a: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thesis document, source code, Q&amp;A reference card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CI/CD? And What Is GitHub?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ideas that everything else in this talk depends 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archive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world keeps its software: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the code is recorded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changed what, and when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"commit" is one saved change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roughly 100 million developers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a very careful version-controlled filing cabinet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5120640"/>
            <a:ext cx="5120640" cy="1097280"/>
          </a:xfrm>
          <a:prstGeom prst="rect">
            <a:avLst/>
          </a:prstGeom>
          <a:solidFill>
            <a:srgbClr val="F8D7DA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WHY THIS COSTS MONEY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 takes minutes to hours and costs real compute. When one fails, a developer must stop and fix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486400" cy="4846320"/>
          </a:xfrm>
          <a:prstGeom prst="rect">
            <a:avLst/>
          </a:prstGeom>
          <a:solidFill>
            <a:srgbClr val="F7F9FB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2C8C5C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automatic checking machine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5146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every time anyone saves a change: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Rebuilds the entire program from scratch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thousands of automated tests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back "passed" or "failed"</a:t>
            </a:r>
            <a:endParaRPr lang="en-US" sz="1300" dirty="0"/>
          </a:p>
          <a:p>
            <a:pPr marL="381000" indent="-381000">
              <a:buSzPct val="100000"/>
              <a:buChar char="•"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involvement at any point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an automatic examiner that marks every draft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5120640"/>
            <a:ext cx="5120640" cy="1097280"/>
          </a:xfrm>
          <a:prstGeom prst="rect">
            <a:avLst/>
          </a:prstGeom>
          <a:solidFill>
            <a:srgbClr val="D4EDDA"/>
          </a:solidFill>
          <a:ln w="12700">
            <a:solidFill>
              <a:srgbClr val="2C8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37960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8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THE QUESTION THIS THESIS ASKS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moment the change is saved — before the checking machine even starts — can we predict that it is going to fail?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Problem Is Hard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shapes every methodological decision in this thesis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C8463D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703320" cy="73152"/>
          </a:xfrm>
          <a:prstGeom prst="rect">
            <a:avLst/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C84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runs simply succeed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guessing "it will pass" is already right 89% of the time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D4922A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703320" cy="73152"/>
          </a:xfrm>
          <a:prstGeom prst="rect">
            <a:avLst/>
          </a:prstGeom>
          <a:solidFill>
            <a:srgbClr val="D4922A"/>
          </a:solidFill>
          <a:ln w="12700">
            <a:solidFill>
              <a:srgbClr val="D4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4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fail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1,072 failures out of 9,772 collected runs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321040" y="1463040"/>
            <a:ext cx="3703320" cy="2194560"/>
          </a:xfrm>
          <a:prstGeom prst="rect">
            <a:avLst/>
          </a:prstGeom>
          <a:solidFill>
            <a:srgbClr val="F7F9FB"/>
          </a:solidFill>
          <a:ln w="12700">
            <a:solidFill>
              <a:srgbClr val="1C729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1040" y="1463040"/>
            <a:ext cx="3703320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21040" y="169164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50392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per commit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03920" y="30175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saved change triggers many checks — this matters later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23360"/>
            <a:ext cx="11338560" cy="19202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41605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Accuracy Is The Wrong Measure Here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45720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"success" every single time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scores </a:t>
            </a:r>
            <a:r>
              <a:rPr lang="en-US" sz="15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accuracy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has learned absolutely nothing. This thesis therefore reports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on the failure class, which rewards only catching failures.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Discriminating Experiment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model is told ONLY the project, workflow, branch and trigger?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92608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F1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6344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s.d.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22376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2376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503920" y="1554480"/>
            <a:ext cx="128016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03920" y="1554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84080" y="155448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784080" y="1554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057400"/>
            <a:ext cx="2926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0574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only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38328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0.196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0.066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94360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0.313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2376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2376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0.156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03920" y="20574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50392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0.208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784080" y="205740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78408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0.665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2560320"/>
            <a:ext cx="292608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25603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(full)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38328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38328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0.422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66344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6344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0.064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4360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94360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0.520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22376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22376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0.369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503920" y="2560320"/>
            <a:ext cx="128016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503920" y="25603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0.480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84080" y="2560320"/>
            <a:ext cx="1371600" cy="502920"/>
          </a:xfrm>
          <a:prstGeom prst="rect">
            <a:avLst/>
          </a:prstGeom>
          <a:solidFill>
            <a:srgbClr val="F7F9FB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9784080" y="25603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0.824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57200" y="3063240"/>
            <a:ext cx="29260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" y="3063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only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38328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38328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0.481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66344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66344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0.077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94360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94360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0.591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22376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722376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0.432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503920" y="306324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8503920" y="30632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0.547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9784080" y="306324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9784080" y="30632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0.865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40080" y="4251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The Central Finding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40080" y="4709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given no commit content at all — no size, no message — beats the full hybrid on every metric.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reading: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system is largely a project-level risk estimator, not a commit-level one. Failure rates vary 38-fold across the eighteen projects, and Elasticsearch contributes 600 runs with zero failures.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2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ran this experiment because it is the sharpest question an examiner can ask. →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Moamen M. Aly  ·  MSc Thesis Defense  ·  September 11, 2026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Original Number Went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same data — only the measuring protocol changes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0.5924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reported in June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split, threshold picked on test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8328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−0.060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38328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leakage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8328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both sides of the split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−0.126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630936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on test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and reported on the same data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35440" y="1645920"/>
            <a:ext cx="2788920" cy="2377440"/>
          </a:xfrm>
          <a:prstGeom prst="rect">
            <a:avLst/>
          </a:prstGeom>
          <a:solidFill>
            <a:srgbClr val="0E3A5C"/>
          </a:solidFill>
          <a:ln w="254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35440" y="17830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0.4216</a:t>
            </a:r>
            <a:endParaRPr lang="en-US" sz="5600" dirty="0"/>
          </a:p>
        </p:txBody>
      </p:sp>
      <p:sp>
        <p:nvSpPr>
          <p:cNvPr id="19" name="Text 17"/>
          <p:cNvSpPr/>
          <p:nvPr/>
        </p:nvSpPr>
        <p:spPr>
          <a:xfrm>
            <a:off x="9235440" y="30632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result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35440" y="34747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CV, threshold on validation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solidFill>
            <a:srgbClr val="0E3A5C"/>
          </a:solidFill>
          <a:ln w="127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 Did Not Expect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threshold on the test set cost  </a:t>
            </a:r>
            <a:r>
              <a:rPr lang="en-US" sz="2200" b="1" dirty="0">
                <a:solidFill>
                  <a:srgbClr val="00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twice</a:t>
            </a: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leakage did.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C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leakage is the error everyone looks for; the threshold error is the one that actually cost more. I found it, measured it, corrected it, and published the correction.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2451</Words>
  <Application>Microsoft Office PowerPoint</Application>
  <PresentationFormat>Widescreen</PresentationFormat>
  <Paragraphs>436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CI/CD Pipeline Build Failures Using Machine Learning</dc:title>
  <dc:subject>PptxGenJS Presentation</dc:subject>
  <dc:creator>Moamen Mohamed Aly Hussein</dc:creator>
  <cp:lastModifiedBy>Moamen Mohamed</cp:lastModifiedBy>
  <cp:revision>2</cp:revision>
  <dcterms:created xsi:type="dcterms:W3CDTF">2026-05-30T20:02:31Z</dcterms:created>
  <dcterms:modified xsi:type="dcterms:W3CDTF">2026-06-20T23:39:49Z</dcterms:modified>
</cp:coreProperties>
</file>