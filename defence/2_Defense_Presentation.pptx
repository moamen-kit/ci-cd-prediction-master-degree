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78" r:id="rId29"/>
    <p:sldId id="282" r:id="rId33"/>
    <p:sldId id="279" r:id="rId30"/>
    <p:sldId id="258" r:id="rId4"/>
    <p:sldId id="259" r:id="rId5"/>
    <p:sldId id="260" r:id="rId6"/>
    <p:sldId id="261" r:id="rId7"/>
    <p:sldId id="283" r:id="rId34"/>
    <p:sldId id="262" r:id="rId8"/>
    <p:sldId id="263" r:id="rId9"/>
    <p:sldId id="264" r:id="rId10"/>
    <p:sldId id="265" r:id="rId11"/>
    <p:sldId id="266" r:id="rId12"/>
    <p:sldId id="280" r:id="rId31"/>
    <p:sldId id="267" r:id="rId13"/>
    <p:sldId id="268" r:id="rId14"/>
    <p:sldId id="269" r:id="rId15"/>
    <p:sldId id="281" r:id="rId32"/>
    <p:sldId id="284" r:id="rId3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6.xml"/><Relationship Id="rId5" Type="http://schemas.openxmlformats.org/officeDocument/2006/relationships/slide" Target="slides/slide7.xml"/><Relationship Id="rId6" Type="http://schemas.openxmlformats.org/officeDocument/2006/relationships/slide" Target="slides/slide8.xml"/><Relationship Id="rId7" Type="http://schemas.openxmlformats.org/officeDocument/2006/relationships/slide" Target="slides/slide9.xml"/><Relationship Id="rId8" Type="http://schemas.openxmlformats.org/officeDocument/2006/relationships/slide" Target="slides/slide11.xml"/><Relationship Id="rId9" Type="http://schemas.openxmlformats.org/officeDocument/2006/relationships/slide" Target="slides/slide12.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slide" Target="slides/slide17.xml"/><Relationship Id="rId14" Type="http://schemas.openxmlformats.org/officeDocument/2006/relationships/slide" Target="slides/slide18.xml"/><Relationship Id="rId15" Type="http://schemas.openxmlformats.org/officeDocument/2006/relationships/slide" Target="slides/slide19.xml"/><Relationship Id="rId16" Type="http://schemas.openxmlformats.org/officeDocument/2006/relationships/slide" Target="slides/slide22.xml"/><Relationship Id="rId17" Type="http://schemas.openxmlformats.org/officeDocument/2006/relationships/slide" Target="slides/slide23.xml"/><Relationship Id="rId18" Type="http://schemas.openxmlformats.org/officeDocument/2006/relationships/slide" Target="slides/slide24.xml"/><Relationship Id="rId19" Type="http://schemas.openxmlformats.org/officeDocument/2006/relationships/slide" Target="slides/slide25.xml"/><Relationship Id="rId20" Type="http://schemas.openxmlformats.org/officeDocument/2006/relationships/slide" Target="slides/slide26.xml"/><Relationship Id="rId21" Type="http://schemas.openxmlformats.org/officeDocument/2006/relationships/slide" Target="slides/slide27.xml"/><Relationship Id="rId22" Type="http://schemas.openxmlformats.org/officeDocument/2006/relationships/slide" Target="slides/slide28.xml"/><Relationship Id="rId23" Type="http://schemas.openxmlformats.org/officeDocument/2006/relationships/slide" Target="slides/slide29.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3.xml"/><Relationship Id="rId30" Type="http://schemas.openxmlformats.org/officeDocument/2006/relationships/slide" Target="slides/slide5.xml"/><Relationship Id="rId31" Type="http://schemas.openxmlformats.org/officeDocument/2006/relationships/slide" Target="slides/slide16.xml"/><Relationship Id="rId32" Type="http://schemas.openxmlformats.org/officeDocument/2006/relationships/slide" Target="slides/slide20.xml"/><Relationship Id="rId33" Type="http://schemas.openxmlformats.org/officeDocument/2006/relationships/slide" Target="slides/slide4.xml"/><Relationship Id="rId34" Type="http://schemas.openxmlformats.org/officeDocument/2006/relationships/slide" Target="slides/slide10.xml"/><Relationship Id="rId35"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9800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731520" y="548640"/>
            <a:ext cx="10058400" cy="365760"/>
          </a:xfrm>
          <a:prstGeom prst="rect">
            <a:avLst/>
          </a:prstGeom>
          <a:noFill/>
          <a:ln/>
        </p:spPr>
        <p:txBody>
          <a:bodyPr wrap="square"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CAIRO UNIVERSITY</a:t>
            </a:r>
            <a:endParaRPr lang="en-US" sz="1400" dirty="0"/>
          </a:p>
        </p:txBody>
      </p:sp>
      <p:sp>
        <p:nvSpPr>
          <p:cNvPr id="4" name="Text 2"/>
          <p:cNvSpPr/>
          <p:nvPr/>
        </p:nvSpPr>
        <p:spPr>
          <a:xfrm>
            <a:off x="731520" y="914400"/>
            <a:ext cx="10058400" cy="365760"/>
          </a:xfrm>
          <a:prstGeom prst="rect">
            <a:avLst/>
          </a:prstGeom>
          <a:noFill/>
          <a:ln/>
        </p:spPr>
        <p:txBody>
          <a:bodyPr wrap="square" rtlCol="0" anchor="ctr"/>
          <a:lstStyle/>
          <a:p>
            <a:pPr marL="0" indent="0">
              <a:buNone/>
            </a:pPr>
            <a:r>
              <a:rPr lang="en-US" sz="1300" i="1" dirty="0">
                <a:solidFill>
                  <a:srgbClr val="B8C4D0"/>
                </a:solidFill>
                <a:latin typeface="Calibri" pitchFamily="34" charset="0"/>
                <a:ea typeface="Calibri" pitchFamily="34" charset="-122"/>
                <a:cs typeface="Calibri" pitchFamily="34" charset="-120"/>
              </a:rPr>
              <a:t>Faculty of Graduate Studies for Statistical Research</a:t>
            </a:r>
            <a:endParaRPr lang="en-US" sz="1300" dirty="0"/>
          </a:p>
        </p:txBody>
      </p:sp>
      <p:sp>
        <p:nvSpPr>
          <p:cNvPr id="5" name="Text 3"/>
          <p:cNvSpPr/>
          <p:nvPr/>
        </p:nvSpPr>
        <p:spPr>
          <a:xfrm>
            <a:off x="731520" y="1234440"/>
            <a:ext cx="10058400" cy="365760"/>
          </a:xfrm>
          <a:prstGeom prst="rect">
            <a:avLst/>
          </a:prstGeom>
          <a:noFill/>
          <a:ln/>
        </p:spPr>
        <p:txBody>
          <a:bodyPr wrap="square" rtlCol="0" anchor="ctr"/>
          <a:lstStyle/>
          <a:p>
            <a:pPr marL="0" indent="0">
              <a:buNone/>
            </a:pPr>
            <a:r>
              <a:rPr lang="en-US" sz="1200" dirty="0">
                <a:solidFill>
                  <a:srgbClr val="B8C4D0"/>
                </a:solidFill>
                <a:latin typeface="Calibri" pitchFamily="34" charset="0"/>
                <a:ea typeface="Calibri" pitchFamily="34" charset="-122"/>
                <a:cs typeface="Calibri" pitchFamily="34" charset="-120"/>
              </a:rPr>
              <a:t>Software Engineering Program  —  Professional Master's Degree</a:t>
            </a:r>
            <a:endParaRPr lang="en-US" sz="1200" dirty="0"/>
          </a:p>
        </p:txBody>
      </p:sp>
      <p:sp>
        <p:nvSpPr>
          <p:cNvPr id="6" name="Text 4"/>
          <p:cNvSpPr/>
          <p:nvPr/>
        </p:nvSpPr>
        <p:spPr>
          <a:xfrm>
            <a:off x="731520" y="2286000"/>
            <a:ext cx="10972800" cy="82296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Predicting CI/CD Pipeline</a:t>
            </a:r>
            <a:endParaRPr lang="en-US" sz="4200" dirty="0"/>
          </a:p>
        </p:txBody>
      </p:sp>
      <p:sp>
        <p:nvSpPr>
          <p:cNvPr id="7" name="Text 5"/>
          <p:cNvSpPr/>
          <p:nvPr/>
        </p:nvSpPr>
        <p:spPr>
          <a:xfrm>
            <a:off x="731520" y="3017520"/>
            <a:ext cx="10972800" cy="82296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Build Failures Using</a:t>
            </a:r>
            <a:endParaRPr lang="en-US" sz="4200" dirty="0"/>
          </a:p>
        </p:txBody>
      </p:sp>
      <p:sp>
        <p:nvSpPr>
          <p:cNvPr id="8" name="Text 6"/>
          <p:cNvSpPr/>
          <p:nvPr/>
        </p:nvSpPr>
        <p:spPr>
          <a:xfrm>
            <a:off x="731520" y="3749040"/>
            <a:ext cx="10972800" cy="822960"/>
          </a:xfrm>
          <a:prstGeom prst="rect">
            <a:avLst/>
          </a:prstGeom>
          <a:noFill/>
          <a:ln/>
        </p:spPr>
        <p:txBody>
          <a:bodyPr wrap="square" rtlCol="0" anchor="ctr"/>
          <a:lstStyle/>
          <a:p>
            <a:pPr marL="0" indent="0">
              <a:buNone/>
            </a:pPr>
            <a:r>
              <a:rPr lang="en-US" sz="4200" b="1" dirty="0">
                <a:solidFill>
                  <a:srgbClr val="00C9B7"/>
                </a:solidFill>
                <a:latin typeface="Calibri" pitchFamily="34" charset="0"/>
                <a:ea typeface="Calibri" pitchFamily="34" charset="-122"/>
                <a:cs typeface="Calibri" pitchFamily="34" charset="-120"/>
              </a:rPr>
              <a:t>Machine Learning Techniques</a:t>
            </a:r>
            <a:endParaRPr lang="en-US" sz="4200" dirty="0"/>
          </a:p>
        </p:txBody>
      </p:sp>
      <p:sp>
        <p:nvSpPr>
          <p:cNvPr id="9" name="Shape 7"/>
          <p:cNvSpPr/>
          <p:nvPr/>
        </p:nvSpPr>
        <p:spPr>
          <a:xfrm>
            <a:off x="731520" y="4937760"/>
            <a:ext cx="3657600" cy="0"/>
          </a:xfrm>
          <a:prstGeom prst="line">
            <a:avLst/>
          </a:prstGeom>
          <a:noFill/>
          <a:ln w="25400">
            <a:solidFill>
              <a:srgbClr val="00C9B7"/>
            </a:solidFill>
            <a:prstDash val="solid"/>
          </a:ln>
        </p:spPr>
        <p:txBody>
          <a:bodyPr/>
          <a:lstStyle/>
          <a:p>
            <a:endParaRPr lang="en-US"/>
          </a:p>
        </p:txBody>
      </p:sp>
      <p:sp>
        <p:nvSpPr>
          <p:cNvPr id="10" name="Text 8"/>
          <p:cNvSpPr/>
          <p:nvPr/>
        </p:nvSpPr>
        <p:spPr>
          <a:xfrm>
            <a:off x="731520" y="5074920"/>
            <a:ext cx="10972800" cy="365760"/>
          </a:xfrm>
          <a:prstGeom prst="rect">
            <a:avLst/>
          </a:prstGeom>
          <a:noFill/>
          <a:ln/>
        </p:spPr>
        <p:txBody>
          <a:bodyPr wrap="square" lIns="0" tIns="0" rIns="0" bIns="0" rtlCol="0" anchor="ctr"/>
          <a:lstStyle/>
          <a:p>
            <a:pPr marL="0" indent="0">
              <a:buNone/>
            </a:pPr>
            <a:r>
              <a:rPr lang="en-US" sz="1400" dirty="0">
                <a:solidFill>
                  <a:srgbClr val="B8C4D0"/>
                </a:solidFill>
                <a:latin typeface="Calibri" pitchFamily="34" charset="0"/>
                <a:ea typeface="Calibri" pitchFamily="34" charset="-122"/>
                <a:cs typeface="Calibri" pitchFamily="34" charset="-120"/>
              </a:rPr>
              <a:t>Presented by:  </a:t>
            </a:r>
            <a:r>
              <a:rPr lang="en-US" sz="1400" b="1" dirty="0">
                <a:solidFill>
                  <a:srgbClr val="FFFFFF"/>
                </a:solidFill>
                <a:latin typeface="Calibri" pitchFamily="34" charset="0"/>
                <a:ea typeface="Calibri" pitchFamily="34" charset="-122"/>
                <a:cs typeface="Calibri" pitchFamily="34" charset="-120"/>
              </a:rPr>
              <a:t>Moamen Mohamed Aly Hussein</a:t>
            </a:r>
            <a:endParaRPr lang="en-US" sz="1400" dirty="0"/>
          </a:p>
        </p:txBody>
      </p:sp>
      <p:sp>
        <p:nvSpPr>
          <p:cNvPr id="11" name="Text 9"/>
          <p:cNvSpPr/>
          <p:nvPr/>
        </p:nvSpPr>
        <p:spPr>
          <a:xfrm>
            <a:off x="731520" y="5394960"/>
            <a:ext cx="10972800" cy="274320"/>
          </a:xfrm>
          <a:prstGeom prst="rect">
            <a:avLst/>
          </a:prstGeom>
          <a:noFill/>
          <a:ln/>
        </p:spPr>
        <p:txBody>
          <a:bodyPr wrap="square" lIns="0" tIns="0" rIns="0" bIns="0" rtlCol="0" anchor="ctr"/>
          <a:lstStyle/>
          <a:p>
            <a:pPr marL="0" indent="0">
              <a:buNone/>
            </a:pPr>
            <a:r>
              <a:rPr lang="en-US" sz="1200" dirty="0">
                <a:solidFill>
                  <a:srgbClr val="B8C4D0"/>
                </a:solidFill>
                <a:latin typeface="Calibri" pitchFamily="34" charset="0"/>
                <a:ea typeface="Calibri" pitchFamily="34" charset="-122"/>
                <a:cs typeface="Calibri" pitchFamily="34" charset="-120"/>
              </a:rPr>
              <a:t>Student ID:  </a:t>
            </a:r>
            <a:r>
              <a:rPr lang="en-US" sz="1200" dirty="0">
                <a:solidFill>
                  <a:srgbClr val="FFFFFF"/>
                </a:solidFill>
                <a:latin typeface="Calibri" pitchFamily="34" charset="0"/>
                <a:ea typeface="Calibri" pitchFamily="34" charset="-122"/>
                <a:cs typeface="Calibri" pitchFamily="34" charset="-120"/>
              </a:rPr>
              <a:t>202401681</a:t>
            </a:r>
            <a:endParaRPr lang="en-US" sz="1200" dirty="0"/>
          </a:p>
        </p:txBody>
      </p:sp>
      <p:sp>
        <p:nvSpPr>
          <p:cNvPr id="12" name="Text 10"/>
          <p:cNvSpPr/>
          <p:nvPr/>
        </p:nvSpPr>
        <p:spPr>
          <a:xfrm>
            <a:off x="731520" y="5669280"/>
            <a:ext cx="10972800" cy="274320"/>
          </a:xfrm>
          <a:prstGeom prst="rect">
            <a:avLst/>
          </a:prstGeom>
          <a:noFill/>
          <a:ln/>
        </p:spPr>
        <p:txBody>
          <a:bodyPr wrap="square" lIns="0" tIns="0" rIns="0" bIns="0" rtlCol="0" anchor="ctr"/>
          <a:lstStyle/>
          <a:p>
            <a:pPr marL="0" indent="0">
              <a:buNone/>
            </a:pPr>
            <a:r>
              <a:rPr lang="en-US" sz="1200" dirty="0">
                <a:solidFill>
                  <a:srgbClr val="B8C4D0"/>
                </a:solidFill>
                <a:latin typeface="Calibri" pitchFamily="34" charset="0"/>
                <a:ea typeface="Calibri" pitchFamily="34" charset="-122"/>
                <a:cs typeface="Calibri" pitchFamily="34" charset="-120"/>
              </a:rPr>
              <a:t>Supervisor:  </a:t>
            </a:r>
            <a:r>
              <a:rPr lang="en-US" sz="1200" dirty="0">
                <a:solidFill>
                  <a:srgbClr val="FFFFFF"/>
                </a:solidFill>
                <a:latin typeface="Calibri" pitchFamily="34" charset="0"/>
                <a:ea typeface="Calibri" pitchFamily="34" charset="-122"/>
                <a:cs typeface="Calibri" pitchFamily="34" charset="-120"/>
              </a:rPr>
              <a:t>Dr. Maged Mamdouh</a:t>
            </a:r>
            <a:endParaRPr lang="en-US" sz="1200" dirty="0"/>
          </a:p>
        </p:txBody>
      </p:sp>
      <p:sp>
        <p:nvSpPr>
          <p:cNvPr id="13" name="Text 11"/>
          <p:cNvSpPr/>
          <p:nvPr/>
        </p:nvSpPr>
        <p:spPr>
          <a:xfrm>
            <a:off x="731520" y="6126480"/>
            <a:ext cx="10972800" cy="274320"/>
          </a:xfrm>
          <a:prstGeom prst="rect">
            <a:avLst/>
          </a:prstGeom>
          <a:noFill/>
          <a:ln/>
        </p:spPr>
        <p:txBody>
          <a:bodyPr wrap="square" rtlCol="0" anchor="ctr"/>
          <a:lstStyle/>
          <a:p>
            <a:pPr marL="0" indent="0">
              <a:buNone/>
            </a:pPr>
            <a:r>
              <a:rPr lang="en-US" sz="1100" i="1" dirty="0">
                <a:solidFill>
                  <a:srgbClr val="00C9B7"/>
                </a:solidFill>
                <a:latin typeface="Calibri" pitchFamily="34" charset="0"/>
                <a:ea typeface="Calibri" pitchFamily="34" charset="-122"/>
                <a:cs typeface="Calibri" pitchFamily="34" charset="-120"/>
              </a:rPr>
              <a:t>Date: Friday, September 11,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Agenda</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What we will cover in the next 25 minutes</a:t>
            </a:r>
            <a:endParaRPr lang="en-US" sz="1400" dirty="0"/>
          </a:p>
        </p:txBody>
      </p:sp>
      <p:sp>
        <p:nvSpPr>
          <p:cNvPr id="4" name="Shape 2"/>
          <p:cNvSpPr/>
          <p:nvPr/>
        </p:nvSpPr>
        <p:spPr>
          <a:xfrm>
            <a:off x="548640" y="1463040"/>
            <a:ext cx="548640" cy="548640"/>
          </a:xfrm>
          <a:prstGeom prst="ellipse">
            <a:avLst/>
          </a:prstGeom>
          <a:solidFill>
            <a:srgbClr val="065A82"/>
          </a:solidFill>
          <a:ln w="12700">
            <a:solidFill>
              <a:srgbClr val="065A82"/>
            </a:solidFill>
            <a:prstDash val="solid"/>
          </a:ln>
        </p:spPr>
        <p:txBody>
          <a:bodyPr/>
          <a:lstStyle/>
          <a:p>
            <a:endParaRPr lang="en-US"/>
          </a:p>
        </p:txBody>
      </p:sp>
      <p:sp>
        <p:nvSpPr>
          <p:cNvPr id="5" name="Text 3"/>
          <p:cNvSpPr/>
          <p:nvPr/>
        </p:nvSpPr>
        <p:spPr>
          <a:xfrm>
            <a:off x="548640" y="1463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280160" y="1417320"/>
            <a:ext cx="10058400" cy="365760"/>
          </a:xfrm>
          <a:prstGeom prst="rect">
            <a:avLst/>
          </a:prstGeom>
          <a:noFill/>
          <a:ln/>
        </p:spPr>
        <p:txBody>
          <a:bodyPr wrap="square" lIns="0" tIns="0" rIns="0" bIns="0" rtlCol="0" anchor="ctr"/>
          <a:lstStyle/>
          <a:p>
            <a:pPr marL="0" indent="0">
              <a:buNone/>
            </a:pPr>
            <a:r>
              <a:rPr lang="en-US" sz="1800" b="1" dirty="0">
                <a:solidFill>
                  <a:srgbClr val="1A1F2E"/>
                </a:solidFill>
                <a:latin typeface="Calibri" pitchFamily="34" charset="0"/>
                <a:ea typeface="Calibri" pitchFamily="34" charset="-122"/>
                <a:cs typeface="Calibri" pitchFamily="34" charset="-120"/>
              </a:rPr>
              <a:t>The Problem</a:t>
            </a:r>
            <a:endParaRPr lang="en-US" sz="1800" dirty="0"/>
          </a:p>
        </p:txBody>
      </p:sp>
      <p:sp>
        <p:nvSpPr>
          <p:cNvPr id="7" name="Text 5"/>
          <p:cNvSpPr/>
          <p:nvPr/>
        </p:nvSpPr>
        <p:spPr>
          <a:xfrm>
            <a:off x="1280160" y="1737360"/>
            <a:ext cx="10058400" cy="32004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Why CI/CD failures matter — financially and operationally</a:t>
            </a:r>
            <a:endParaRPr lang="en-US" sz="1200" dirty="0"/>
          </a:p>
        </p:txBody>
      </p:sp>
      <p:sp>
        <p:nvSpPr>
          <p:cNvPr id="8" name="Shape 6"/>
          <p:cNvSpPr/>
          <p:nvPr/>
        </p:nvSpPr>
        <p:spPr>
          <a:xfrm>
            <a:off x="548640" y="2176272"/>
            <a:ext cx="548640" cy="548640"/>
          </a:xfrm>
          <a:prstGeom prst="ellipse">
            <a:avLst/>
          </a:prstGeom>
          <a:solidFill>
            <a:srgbClr val="065A82"/>
          </a:solidFill>
          <a:ln w="12700">
            <a:solidFill>
              <a:srgbClr val="065A82"/>
            </a:solidFill>
            <a:prstDash val="solid"/>
          </a:ln>
        </p:spPr>
        <p:txBody>
          <a:bodyPr/>
          <a:lstStyle/>
          <a:p>
            <a:endParaRPr lang="en-US"/>
          </a:p>
        </p:txBody>
      </p:sp>
      <p:sp>
        <p:nvSpPr>
          <p:cNvPr id="9" name="Text 7"/>
          <p:cNvSpPr/>
          <p:nvPr/>
        </p:nvSpPr>
        <p:spPr>
          <a:xfrm>
            <a:off x="548640" y="2176272"/>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280160" y="2130552"/>
            <a:ext cx="10058400" cy="365760"/>
          </a:xfrm>
          <a:prstGeom prst="rect">
            <a:avLst/>
          </a:prstGeom>
          <a:noFill/>
          <a:ln/>
        </p:spPr>
        <p:txBody>
          <a:bodyPr wrap="square" lIns="0" tIns="0" rIns="0" bIns="0" rtlCol="0" anchor="ctr"/>
          <a:lstStyle/>
          <a:p>
            <a:pPr marL="0" indent="0">
              <a:buNone/>
            </a:pPr>
            <a:r>
              <a:rPr lang="en-US" sz="1800" b="1" dirty="0">
                <a:solidFill>
                  <a:srgbClr val="1A1F2E"/>
                </a:solidFill>
                <a:latin typeface="Calibri" pitchFamily="34" charset="0"/>
                <a:ea typeface="Calibri" pitchFamily="34" charset="-122"/>
                <a:cs typeface="Calibri" pitchFamily="34" charset="-120"/>
              </a:rPr>
              <a:t>Literature Gap</a:t>
            </a:r>
            <a:endParaRPr lang="en-US" sz="1800" dirty="0"/>
          </a:p>
        </p:txBody>
      </p:sp>
      <p:sp>
        <p:nvSpPr>
          <p:cNvPr id="11" name="Text 9"/>
          <p:cNvSpPr/>
          <p:nvPr/>
        </p:nvSpPr>
        <p:spPr>
          <a:xfrm>
            <a:off x="1280160" y="2450592"/>
            <a:ext cx="10058400" cy="32004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What prior research did, and what it left undone</a:t>
            </a:r>
            <a:endParaRPr lang="en-US" sz="1200" dirty="0"/>
          </a:p>
        </p:txBody>
      </p:sp>
      <p:sp>
        <p:nvSpPr>
          <p:cNvPr id="12" name="Shape 10"/>
          <p:cNvSpPr/>
          <p:nvPr/>
        </p:nvSpPr>
        <p:spPr>
          <a:xfrm>
            <a:off x="548640" y="2889504"/>
            <a:ext cx="548640" cy="548640"/>
          </a:xfrm>
          <a:prstGeom prst="ellipse">
            <a:avLst/>
          </a:prstGeom>
          <a:solidFill>
            <a:srgbClr val="065A82"/>
          </a:solidFill>
          <a:ln w="12700">
            <a:solidFill>
              <a:srgbClr val="065A82"/>
            </a:solidFill>
            <a:prstDash val="solid"/>
          </a:ln>
        </p:spPr>
        <p:txBody>
          <a:bodyPr/>
          <a:lstStyle/>
          <a:p>
            <a:endParaRPr lang="en-US"/>
          </a:p>
        </p:txBody>
      </p:sp>
      <p:sp>
        <p:nvSpPr>
          <p:cNvPr id="13" name="Text 11"/>
          <p:cNvSpPr/>
          <p:nvPr/>
        </p:nvSpPr>
        <p:spPr>
          <a:xfrm>
            <a:off x="548640" y="2889504"/>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280160" y="2843784"/>
            <a:ext cx="10058400" cy="365760"/>
          </a:xfrm>
          <a:prstGeom prst="rect">
            <a:avLst/>
          </a:prstGeom>
          <a:noFill/>
          <a:ln/>
        </p:spPr>
        <p:txBody>
          <a:bodyPr wrap="square" lIns="0" tIns="0" rIns="0" bIns="0" rtlCol="0" anchor="ctr"/>
          <a:lstStyle/>
          <a:p>
            <a:pPr marL="0" indent="0">
              <a:buNone/>
            </a:pPr>
            <a:r>
              <a:rPr lang="en-US" sz="1800" b="1" dirty="0">
                <a:solidFill>
                  <a:srgbClr val="1A1F2E"/>
                </a:solidFill>
                <a:latin typeface="Calibri" pitchFamily="34" charset="0"/>
                <a:ea typeface="Calibri" pitchFamily="34" charset="-122"/>
                <a:cs typeface="Calibri" pitchFamily="34" charset="-120"/>
              </a:rPr>
              <a:t>Proposed Solution</a:t>
            </a:r>
            <a:endParaRPr lang="en-US" sz="1800" dirty="0"/>
          </a:p>
        </p:txBody>
      </p:sp>
      <p:sp>
        <p:nvSpPr>
          <p:cNvPr id="15" name="Text 13"/>
          <p:cNvSpPr/>
          <p:nvPr/>
        </p:nvSpPr>
        <p:spPr>
          <a:xfrm>
            <a:off x="1280160" y="3163824"/>
            <a:ext cx="10058400" cy="32004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The Hybrid ML Pipeline architecture</a:t>
            </a:r>
            <a:endParaRPr lang="en-US" sz="1200" dirty="0"/>
          </a:p>
        </p:txBody>
      </p:sp>
      <p:sp>
        <p:nvSpPr>
          <p:cNvPr id="16" name="Shape 14"/>
          <p:cNvSpPr/>
          <p:nvPr/>
        </p:nvSpPr>
        <p:spPr>
          <a:xfrm>
            <a:off x="548640" y="3602736"/>
            <a:ext cx="548640" cy="548640"/>
          </a:xfrm>
          <a:prstGeom prst="ellipse">
            <a:avLst/>
          </a:prstGeom>
          <a:solidFill>
            <a:srgbClr val="065A82"/>
          </a:solidFill>
          <a:ln w="12700">
            <a:solidFill>
              <a:srgbClr val="065A82"/>
            </a:solidFill>
            <a:prstDash val="solid"/>
          </a:ln>
        </p:spPr>
        <p:txBody>
          <a:bodyPr/>
          <a:lstStyle/>
          <a:p>
            <a:endParaRPr lang="en-US"/>
          </a:p>
        </p:txBody>
      </p:sp>
      <p:sp>
        <p:nvSpPr>
          <p:cNvPr id="17" name="Text 15"/>
          <p:cNvSpPr/>
          <p:nvPr/>
        </p:nvSpPr>
        <p:spPr>
          <a:xfrm>
            <a:off x="548640" y="3602736"/>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1280160" y="3557016"/>
            <a:ext cx="10058400" cy="365760"/>
          </a:xfrm>
          <a:prstGeom prst="rect">
            <a:avLst/>
          </a:prstGeom>
          <a:noFill/>
          <a:ln/>
        </p:spPr>
        <p:txBody>
          <a:bodyPr wrap="square" lIns="0" tIns="0" rIns="0" bIns="0" rtlCol="0" anchor="ctr"/>
          <a:lstStyle/>
          <a:p>
            <a:pPr marL="0" indent="0">
              <a:buNone/>
            </a:pPr>
            <a:r>
              <a:rPr lang="en-US" sz="1800" b="1" dirty="0">
                <a:solidFill>
                  <a:srgbClr val="1A1F2E"/>
                </a:solidFill>
                <a:latin typeface="Calibri" pitchFamily="34" charset="0"/>
                <a:ea typeface="Calibri" pitchFamily="34" charset="-122"/>
                <a:cs typeface="Calibri" pitchFamily="34" charset="-120"/>
              </a:rPr>
              <a:t>Methodology</a:t>
            </a:r>
            <a:endParaRPr lang="en-US" sz="1800" dirty="0"/>
          </a:p>
        </p:txBody>
      </p:sp>
      <p:sp>
        <p:nvSpPr>
          <p:cNvPr id="19" name="Text 17"/>
          <p:cNvSpPr/>
          <p:nvPr/>
        </p:nvSpPr>
        <p:spPr>
          <a:xfrm>
            <a:off x="1280160" y="3877056"/>
            <a:ext cx="10058400" cy="32004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Data, features, models, and evaluation regime</a:t>
            </a:r>
            <a:endParaRPr lang="en-US" sz="1200" dirty="0"/>
          </a:p>
        </p:txBody>
      </p:sp>
      <p:sp>
        <p:nvSpPr>
          <p:cNvPr id="20" name="Shape 18"/>
          <p:cNvSpPr/>
          <p:nvPr/>
        </p:nvSpPr>
        <p:spPr>
          <a:xfrm>
            <a:off x="548640" y="4315968"/>
            <a:ext cx="548640" cy="548640"/>
          </a:xfrm>
          <a:prstGeom prst="ellipse">
            <a:avLst/>
          </a:prstGeom>
          <a:solidFill>
            <a:srgbClr val="065A82"/>
          </a:solidFill>
          <a:ln w="12700">
            <a:solidFill>
              <a:srgbClr val="065A82"/>
            </a:solidFill>
            <a:prstDash val="solid"/>
          </a:ln>
        </p:spPr>
        <p:txBody>
          <a:bodyPr/>
          <a:lstStyle/>
          <a:p>
            <a:endParaRPr lang="en-US"/>
          </a:p>
        </p:txBody>
      </p:sp>
      <p:sp>
        <p:nvSpPr>
          <p:cNvPr id="21" name="Text 19"/>
          <p:cNvSpPr/>
          <p:nvPr/>
        </p:nvSpPr>
        <p:spPr>
          <a:xfrm>
            <a:off x="548640" y="4315968"/>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2" name="Text 20"/>
          <p:cNvSpPr/>
          <p:nvPr/>
        </p:nvSpPr>
        <p:spPr>
          <a:xfrm>
            <a:off x="1280160" y="4270248"/>
            <a:ext cx="10058400" cy="365760"/>
          </a:xfrm>
          <a:prstGeom prst="rect">
            <a:avLst/>
          </a:prstGeom>
          <a:noFill/>
          <a:ln/>
        </p:spPr>
        <p:txBody>
          <a:bodyPr wrap="square" lIns="0" tIns="0" rIns="0" bIns="0" rtlCol="0" anchor="ctr"/>
          <a:lstStyle/>
          <a:p>
            <a:pPr marL="0" indent="0">
              <a:buNone/>
            </a:pPr>
            <a:r>
              <a:rPr lang="en-US" sz="1800" b="1" dirty="0">
                <a:solidFill>
                  <a:srgbClr val="1A1F2E"/>
                </a:solidFill>
                <a:latin typeface="Calibri" pitchFamily="34" charset="0"/>
                <a:ea typeface="Calibri" pitchFamily="34" charset="-122"/>
                <a:cs typeface="Calibri" pitchFamily="34" charset="-120"/>
              </a:rPr>
              <a:t>Results</a:t>
            </a:r>
            <a:endParaRPr lang="en-US" sz="1800" dirty="0"/>
          </a:p>
        </p:txBody>
      </p:sp>
      <p:sp>
        <p:nvSpPr>
          <p:cNvPr id="23" name="Text 21"/>
          <p:cNvSpPr/>
          <p:nvPr/>
        </p:nvSpPr>
        <p:spPr>
          <a:xfrm>
            <a:off x="1280160" y="4590288"/>
            <a:ext cx="10058400" cy="32004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Headline metrics, ablation study, threshold optimization</a:t>
            </a:r>
            <a:endParaRPr lang="en-US" sz="1200" dirty="0"/>
          </a:p>
        </p:txBody>
      </p:sp>
      <p:sp>
        <p:nvSpPr>
          <p:cNvPr id="24" name="Shape 22"/>
          <p:cNvSpPr/>
          <p:nvPr/>
        </p:nvSpPr>
        <p:spPr>
          <a:xfrm>
            <a:off x="548640" y="5029200"/>
            <a:ext cx="548640" cy="548640"/>
          </a:xfrm>
          <a:prstGeom prst="ellipse">
            <a:avLst/>
          </a:prstGeom>
          <a:solidFill>
            <a:srgbClr val="065A82"/>
          </a:solidFill>
          <a:ln w="12700">
            <a:solidFill>
              <a:srgbClr val="065A82"/>
            </a:solidFill>
            <a:prstDash val="solid"/>
          </a:ln>
        </p:spPr>
        <p:txBody>
          <a:bodyPr/>
          <a:lstStyle/>
          <a:p>
            <a:endParaRPr lang="en-US"/>
          </a:p>
        </p:txBody>
      </p:sp>
      <p:sp>
        <p:nvSpPr>
          <p:cNvPr id="25" name="Text 23"/>
          <p:cNvSpPr/>
          <p:nvPr/>
        </p:nvSpPr>
        <p:spPr>
          <a:xfrm>
            <a:off x="548640" y="50292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6" name="Text 24"/>
          <p:cNvSpPr/>
          <p:nvPr/>
        </p:nvSpPr>
        <p:spPr>
          <a:xfrm>
            <a:off x="1280160" y="4983480"/>
            <a:ext cx="10058400" cy="365760"/>
          </a:xfrm>
          <a:prstGeom prst="rect">
            <a:avLst/>
          </a:prstGeom>
          <a:noFill/>
          <a:ln/>
        </p:spPr>
        <p:txBody>
          <a:bodyPr wrap="square" lIns="0" tIns="0" rIns="0" bIns="0" rtlCol="0" anchor="ctr"/>
          <a:lstStyle/>
          <a:p>
            <a:pPr marL="0" indent="0">
              <a:buNone/>
            </a:pPr>
            <a:r>
              <a:rPr lang="en-US" sz="1800" b="1" dirty="0">
                <a:solidFill>
                  <a:srgbClr val="1A1F2E"/>
                </a:solidFill>
                <a:latin typeface="Calibri" pitchFamily="34" charset="0"/>
                <a:ea typeface="Calibri" pitchFamily="34" charset="-122"/>
                <a:cs typeface="Calibri" pitchFamily="34" charset="-120"/>
              </a:rPr>
              <a:t>Business Impact</a:t>
            </a:r>
            <a:endParaRPr lang="en-US" sz="1800" dirty="0"/>
          </a:p>
        </p:txBody>
      </p:sp>
      <p:sp>
        <p:nvSpPr>
          <p:cNvPr id="27" name="Text 25"/>
          <p:cNvSpPr/>
          <p:nvPr/>
        </p:nvSpPr>
        <p:spPr>
          <a:xfrm>
            <a:off x="1280160" y="5303520"/>
            <a:ext cx="10058400" cy="32004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Translating model performance into dollar savings</a:t>
            </a:r>
            <a:endParaRPr lang="en-US" sz="1200" dirty="0"/>
          </a:p>
        </p:txBody>
      </p:sp>
      <p:sp>
        <p:nvSpPr>
          <p:cNvPr id="28" name="Shape 26"/>
          <p:cNvSpPr/>
          <p:nvPr/>
        </p:nvSpPr>
        <p:spPr>
          <a:xfrm>
            <a:off x="548640" y="5742432"/>
            <a:ext cx="548640" cy="548640"/>
          </a:xfrm>
          <a:prstGeom prst="ellipse">
            <a:avLst/>
          </a:prstGeom>
          <a:solidFill>
            <a:srgbClr val="065A82"/>
          </a:solidFill>
          <a:ln w="12700">
            <a:solidFill>
              <a:srgbClr val="065A82"/>
            </a:solidFill>
            <a:prstDash val="solid"/>
          </a:ln>
        </p:spPr>
        <p:txBody>
          <a:bodyPr/>
          <a:lstStyle/>
          <a:p>
            <a:endParaRPr lang="en-US"/>
          </a:p>
        </p:txBody>
      </p:sp>
      <p:sp>
        <p:nvSpPr>
          <p:cNvPr id="29" name="Text 27"/>
          <p:cNvSpPr/>
          <p:nvPr/>
        </p:nvSpPr>
        <p:spPr>
          <a:xfrm>
            <a:off x="548640" y="5742432"/>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30" name="Text 28"/>
          <p:cNvSpPr/>
          <p:nvPr/>
        </p:nvSpPr>
        <p:spPr>
          <a:xfrm>
            <a:off x="1280160" y="5696712"/>
            <a:ext cx="10058400" cy="365760"/>
          </a:xfrm>
          <a:prstGeom prst="rect">
            <a:avLst/>
          </a:prstGeom>
          <a:noFill/>
          <a:ln/>
        </p:spPr>
        <p:txBody>
          <a:bodyPr wrap="square" lIns="0" tIns="0" rIns="0" bIns="0" rtlCol="0" anchor="ctr"/>
          <a:lstStyle/>
          <a:p>
            <a:pPr marL="0" indent="0">
              <a:buNone/>
            </a:pPr>
            <a:r>
              <a:rPr lang="en-US" sz="1800" b="1" dirty="0">
                <a:solidFill>
                  <a:srgbClr val="1A1F2E"/>
                </a:solidFill>
                <a:latin typeface="Calibri" pitchFamily="34" charset="0"/>
                <a:ea typeface="Calibri" pitchFamily="34" charset="-122"/>
                <a:cs typeface="Calibri" pitchFamily="34" charset="-120"/>
              </a:rPr>
              <a:t>Conclusions &amp; Future Work</a:t>
            </a:r>
            <a:endParaRPr lang="en-US" sz="1800" dirty="0"/>
          </a:p>
        </p:txBody>
      </p:sp>
      <p:sp>
        <p:nvSpPr>
          <p:cNvPr id="31" name="Text 29"/>
          <p:cNvSpPr/>
          <p:nvPr/>
        </p:nvSpPr>
        <p:spPr>
          <a:xfrm>
            <a:off x="1280160" y="6016752"/>
            <a:ext cx="10058400" cy="32004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What we proved, what remains</a:t>
            </a:r>
            <a:endParaRPr lang="en-US" sz="1200" dirty="0"/>
          </a:p>
        </p:txBody>
      </p:sp>
      <p:sp>
        <p:nvSpPr>
          <p:cNvPr id="32" name="Text 30"/>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33" name="Text 31"/>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 / 29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What Is CI/CD? And What Is GitHub?</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The two ideas that everything else in this talk depends on</a:t>
            </a:r>
            <a:endParaRPr lang="en-US" sz="1400" dirty="0"/>
          </a:p>
        </p:txBody>
      </p:sp>
      <p:sp>
        <p:nvSpPr>
          <p:cNvPr id="4" name="Shape 2"/>
          <p:cNvSpPr/>
          <p:nvPr/>
        </p:nvSpPr>
        <p:spPr>
          <a:xfrm>
            <a:off x="457200" y="1463040"/>
            <a:ext cx="5486400" cy="4846320"/>
          </a:xfrm>
          <a:prstGeom prst="rect">
            <a:avLst/>
          </a:prstGeom>
          <a:solidFill>
            <a:srgbClr val="F7F9FB"/>
          </a:solidFill>
          <a:ln w="12700">
            <a:solidFill>
              <a:srgbClr val="C8463D"/>
            </a:solidFill>
            <a:prstDash val="solid"/>
          </a:ln>
        </p:spPr>
        <p:txBody>
          <a:bodyPr/>
          <a:lstStyle/>
          <a:p>
            <a:endParaRPr lang="en-US"/>
          </a:p>
        </p:txBody>
      </p:sp>
      <p:sp>
        <p:nvSpPr>
          <p:cNvPr id="5" name="Shape 3"/>
          <p:cNvSpPr/>
          <p:nvPr/>
        </p:nvSpPr>
        <p:spPr>
          <a:xfrm>
            <a:off x="457200" y="1463040"/>
            <a:ext cx="5486400" cy="457200"/>
          </a:xfrm>
          <a:prstGeom prst="rect">
            <a:avLst/>
          </a:prstGeom>
          <a:solidFill>
            <a:srgbClr val="C8463D"/>
          </a:solidFill>
          <a:ln w="12700">
            <a:solidFill>
              <a:srgbClr val="C8463D"/>
            </a:solidFill>
            <a:prstDash val="solid"/>
          </a:ln>
        </p:spPr>
        <p:txBody>
          <a:bodyPr/>
          <a:lstStyle/>
          <a:p>
            <a:endParaRPr lang="en-US"/>
          </a:p>
        </p:txBody>
      </p:sp>
      <p:sp>
        <p:nvSpPr>
          <p:cNvPr id="6" name="Text 4"/>
          <p:cNvSpPr/>
          <p:nvPr/>
        </p:nvSpPr>
        <p:spPr>
          <a:xfrm>
            <a:off x="457200" y="1463040"/>
            <a:ext cx="5486400" cy="45720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libri" pitchFamily="34" charset="0"/>
                <a:ea typeface="Calibri" pitchFamily="34" charset="-122"/>
                <a:cs typeface="Calibri" pitchFamily="34" charset="-120"/>
              </a:rPr>
              <a:t>GITHUB</a:t>
            </a:r>
            <a:endParaRPr lang="en-US" sz="1600" dirty="0"/>
          </a:p>
        </p:txBody>
      </p:sp>
      <p:sp>
        <p:nvSpPr>
          <p:cNvPr id="7" name="Text 5"/>
          <p:cNvSpPr/>
          <p:nvPr/>
        </p:nvSpPr>
        <p:spPr>
          <a:xfrm>
            <a:off x="640080" y="2057400"/>
            <a:ext cx="5120640" cy="365760"/>
          </a:xfrm>
          <a:prstGeom prst="rect">
            <a:avLst/>
          </a:prstGeom>
          <a:noFill/>
          <a:ln/>
        </p:spPr>
        <p:txBody>
          <a:bodyPr wrap="square" lIns="0" tIns="0" rIns="0" bIns="0" rtlCol="0" anchor="ctr"/>
          <a:lstStyle/>
          <a:p>
            <a:pPr marL="0" indent="0">
              <a:buNone/>
            </a:pPr>
            <a:r>
              <a:rPr lang="en-US" sz="1300" i="1" dirty="0">
                <a:solidFill>
                  <a:srgbClr val="5A6470"/>
                </a:solidFill>
                <a:latin typeface="Calibri" pitchFamily="34" charset="0"/>
                <a:ea typeface="Calibri" pitchFamily="34" charset="-122"/>
                <a:cs typeface="Calibri" pitchFamily="34" charset="-120"/>
              </a:rPr>
              <a:t>The shared archive</a:t>
            </a:r>
            <a:endParaRPr lang="en-US" sz="1300" dirty="0"/>
          </a:p>
        </p:txBody>
      </p:sp>
      <p:sp>
        <p:nvSpPr>
          <p:cNvPr id="8" name="Text 6"/>
          <p:cNvSpPr/>
          <p:nvPr/>
        </p:nvSpPr>
        <p:spPr>
          <a:xfrm>
            <a:off x="640080" y="2514600"/>
            <a:ext cx="5120640" cy="2286000"/>
          </a:xfrm>
          <a:prstGeom prst="rect">
            <a:avLst/>
          </a:prstGeom>
          <a:noFill/>
          <a:ln/>
        </p:spPr>
        <p:txBody>
          <a:bodyPr wrap="square" lIns="0" tIns="0" rIns="0" bIns="0" rtlCol="0" anchor="ctr"/>
          <a:lstStyle/>
          <a:p>
            <a:pPr marL="342900" indent="-342900">
              <a:buSzPct val="100000"/>
              <a:buChar char="•"/>
            </a:pPr>
            <a:r>
              <a:rPr lang="en-US" sz="1300" b="1" dirty="0">
                <a:solidFill>
                  <a:srgbClr val="1A1F2E"/>
                </a:solidFill>
                <a:latin typeface="Calibri" pitchFamily="34" charset="0"/>
                <a:ea typeface="Calibri" pitchFamily="34" charset="-122"/>
                <a:cs typeface="Calibri" pitchFamily="34" charset="-120"/>
              </a:rPr>
              <a:t>Where the world keeps its software:</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Every change to the code is recorded</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Who changed what, and when</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A "commit" is one saved change</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Used by roughly 100 million developers</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342900" indent="-342900">
              <a:buSzPct val="100000"/>
              <a:buChar char="•"/>
            </a:pPr>
            <a:r>
              <a:rPr lang="en-US" sz="1300" dirty="0">
                <a:solidFill>
                  <a:srgbClr val="1A1F2E"/>
                </a:solidFill>
                <a:latin typeface="Calibri" pitchFamily="34" charset="0"/>
                <a:ea typeface="Calibri" pitchFamily="34" charset="-122"/>
                <a:cs typeface="Calibri" pitchFamily="34" charset="-120"/>
              </a:rPr>
              <a:t>Think: a very careful version-controlled filing cabinet</a:t>
            </a:r>
            <a:endParaRPr lang="en-US" sz="1300" dirty="0"/>
          </a:p>
        </p:txBody>
      </p:sp>
      <p:sp>
        <p:nvSpPr>
          <p:cNvPr id="9" name="Shape 7"/>
          <p:cNvSpPr/>
          <p:nvPr/>
        </p:nvSpPr>
        <p:spPr>
          <a:xfrm>
            <a:off x="640080" y="5120640"/>
            <a:ext cx="5120640" cy="1097280"/>
          </a:xfrm>
          <a:prstGeom prst="rect">
            <a:avLst/>
          </a:prstGeom>
          <a:solidFill>
            <a:srgbClr val="F8D7DA"/>
          </a:solidFill>
          <a:ln w="12700">
            <a:solidFill>
              <a:srgbClr val="C8463D"/>
            </a:solidFill>
            <a:prstDash val="solid"/>
          </a:ln>
        </p:spPr>
        <p:txBody>
          <a:bodyPr/>
          <a:lstStyle/>
          <a:p>
            <a:endParaRPr lang="en-US"/>
          </a:p>
        </p:txBody>
      </p:sp>
      <p:sp>
        <p:nvSpPr>
          <p:cNvPr id="10" name="Text 8"/>
          <p:cNvSpPr/>
          <p:nvPr/>
        </p:nvSpPr>
        <p:spPr>
          <a:xfrm>
            <a:off x="777240" y="5212080"/>
            <a:ext cx="4846320" cy="914400"/>
          </a:xfrm>
          <a:prstGeom prst="rect">
            <a:avLst/>
          </a:prstGeom>
          <a:noFill/>
          <a:ln/>
        </p:spPr>
        <p:txBody>
          <a:bodyPr wrap="square" lIns="0" tIns="0" rIns="0" bIns="0" rtlCol="0" anchor="ctr"/>
          <a:lstStyle/>
          <a:p>
            <a:pPr marL="0" indent="0">
              <a:buNone/>
            </a:pPr>
            <a:r>
              <a:rPr lang="en-US" sz="1100" b="1" dirty="0">
                <a:solidFill>
                  <a:srgbClr val="C8463D"/>
                </a:solidFill>
                <a:latin typeface="Calibri" pitchFamily="34" charset="0"/>
                <a:ea typeface="Calibri" pitchFamily="34" charset="-122"/>
                <a:cs typeface="Calibri" pitchFamily="34" charset="-120"/>
              </a:rPr>
              <a:t>⚠  WHY THIS COSTS MONEY</a:t>
            </a:r>
            <a:endParaRPr lang="en-US" sz="1100" dirty="0"/>
          </a:p>
          <a:p>
            <a:pPr marL="0" indent="0">
              <a:buNone/>
            </a:pPr>
            <a:r>
              <a:rPr lang="en-US" sz="1100" i="1" dirty="0">
                <a:solidFill>
                  <a:srgbClr val="1A1F2E"/>
                </a:solidFill>
                <a:latin typeface="Calibri" pitchFamily="34" charset="0"/>
                <a:ea typeface="Calibri" pitchFamily="34" charset="-122"/>
                <a:cs typeface="Calibri" pitchFamily="34" charset="-120"/>
              </a:rPr>
              <a:t>Each check takes minutes to hours and costs real compute. When one fails, a developer must stop and fix it.</a:t>
            </a:r>
            <a:endParaRPr lang="en-US" sz="1100" dirty="0"/>
          </a:p>
        </p:txBody>
      </p:sp>
      <p:sp>
        <p:nvSpPr>
          <p:cNvPr id="11" name="Shape 9"/>
          <p:cNvSpPr/>
          <p:nvPr/>
        </p:nvSpPr>
        <p:spPr>
          <a:xfrm>
            <a:off x="6217920" y="1463040"/>
            <a:ext cx="5486400" cy="4846320"/>
          </a:xfrm>
          <a:prstGeom prst="rect">
            <a:avLst/>
          </a:prstGeom>
          <a:solidFill>
            <a:srgbClr val="F7F9FB"/>
          </a:solidFill>
          <a:ln w="12700">
            <a:solidFill>
              <a:srgbClr val="2C8C5C"/>
            </a:solidFill>
            <a:prstDash val="solid"/>
          </a:ln>
        </p:spPr>
        <p:txBody>
          <a:bodyPr/>
          <a:lstStyle/>
          <a:p>
            <a:endParaRPr lang="en-US"/>
          </a:p>
        </p:txBody>
      </p:sp>
      <p:sp>
        <p:nvSpPr>
          <p:cNvPr id="12" name="Shape 10"/>
          <p:cNvSpPr/>
          <p:nvPr/>
        </p:nvSpPr>
        <p:spPr>
          <a:xfrm>
            <a:off x="6217920" y="1463040"/>
            <a:ext cx="5486400" cy="457200"/>
          </a:xfrm>
          <a:prstGeom prst="rect">
            <a:avLst/>
          </a:prstGeom>
          <a:solidFill>
            <a:srgbClr val="2C8C5C"/>
          </a:solidFill>
          <a:ln w="12700">
            <a:solidFill>
              <a:srgbClr val="2C8C5C"/>
            </a:solidFill>
            <a:prstDash val="solid"/>
          </a:ln>
        </p:spPr>
        <p:txBody>
          <a:bodyPr/>
          <a:lstStyle/>
          <a:p>
            <a:endParaRPr lang="en-US"/>
          </a:p>
        </p:txBody>
      </p:sp>
      <p:sp>
        <p:nvSpPr>
          <p:cNvPr id="13" name="Text 11"/>
          <p:cNvSpPr/>
          <p:nvPr/>
        </p:nvSpPr>
        <p:spPr>
          <a:xfrm>
            <a:off x="6217920" y="1463040"/>
            <a:ext cx="5486400" cy="45720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libri" pitchFamily="34" charset="0"/>
                <a:ea typeface="Calibri" pitchFamily="34" charset="-122"/>
                <a:cs typeface="Calibri" pitchFamily="34" charset="-120"/>
              </a:rPr>
              <a:t>CI/CD</a:t>
            </a:r>
            <a:endParaRPr lang="en-US" sz="1600" dirty="0"/>
          </a:p>
        </p:txBody>
      </p:sp>
      <p:sp>
        <p:nvSpPr>
          <p:cNvPr id="14" name="Text 12"/>
          <p:cNvSpPr/>
          <p:nvPr/>
        </p:nvSpPr>
        <p:spPr>
          <a:xfrm>
            <a:off x="6400800" y="2057400"/>
            <a:ext cx="5120640" cy="365760"/>
          </a:xfrm>
          <a:prstGeom prst="rect">
            <a:avLst/>
          </a:prstGeom>
          <a:noFill/>
          <a:ln/>
        </p:spPr>
        <p:txBody>
          <a:bodyPr wrap="square" lIns="0" tIns="0" rIns="0" bIns="0" rtlCol="0" anchor="ctr"/>
          <a:lstStyle/>
          <a:p>
            <a:pPr marL="0" indent="0">
              <a:buNone/>
            </a:pPr>
            <a:r>
              <a:rPr lang="en-US" sz="1300" i="1" dirty="0">
                <a:solidFill>
                  <a:srgbClr val="5A6470"/>
                </a:solidFill>
                <a:latin typeface="Calibri" pitchFamily="34" charset="0"/>
                <a:ea typeface="Calibri" pitchFamily="34" charset="-122"/>
                <a:cs typeface="Calibri" pitchFamily="34" charset="-120"/>
              </a:rPr>
              <a:t>The automatic checking machine</a:t>
            </a:r>
            <a:endParaRPr lang="en-US" sz="1300" dirty="0"/>
          </a:p>
        </p:txBody>
      </p:sp>
      <p:sp>
        <p:nvSpPr>
          <p:cNvPr id="15" name="Text 13"/>
          <p:cNvSpPr/>
          <p:nvPr/>
        </p:nvSpPr>
        <p:spPr>
          <a:xfrm>
            <a:off x="6400800" y="2514600"/>
            <a:ext cx="5120640" cy="2286000"/>
          </a:xfrm>
          <a:prstGeom prst="rect">
            <a:avLst/>
          </a:prstGeom>
          <a:noFill/>
          <a:ln/>
        </p:spPr>
        <p:txBody>
          <a:bodyPr wrap="square" lIns="0" tIns="0" rIns="0" bIns="0" rtlCol="0" anchor="ctr"/>
          <a:lstStyle/>
          <a:p>
            <a:pPr marL="342900" indent="-342900">
              <a:buSzPct val="100000"/>
              <a:buChar char="•"/>
            </a:pPr>
            <a:r>
              <a:rPr lang="en-US" sz="1300" b="1" dirty="0">
                <a:solidFill>
                  <a:srgbClr val="1A1F2E"/>
                </a:solidFill>
                <a:latin typeface="Calibri" pitchFamily="34" charset="0"/>
                <a:ea typeface="Calibri" pitchFamily="34" charset="-122"/>
                <a:cs typeface="Calibri" pitchFamily="34" charset="-120"/>
              </a:rPr>
              <a:t>Runs every time anyone saves a change:</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Rebuilds the entire program from scratch</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Runs thousands of automated tests</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Reports back "passed" or "failed"</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No human involvement at any point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342900" indent="-342900">
              <a:buSzPct val="100000"/>
              <a:buChar char="•"/>
            </a:pPr>
            <a:r>
              <a:rPr lang="en-US" sz="1300" dirty="0">
                <a:solidFill>
                  <a:srgbClr val="1A1F2E"/>
                </a:solidFill>
                <a:latin typeface="Calibri" pitchFamily="34" charset="0"/>
                <a:ea typeface="Calibri" pitchFamily="34" charset="-122"/>
                <a:cs typeface="Calibri" pitchFamily="34" charset="-120"/>
              </a:rPr>
              <a:t>Think: an automatic examiner that marks every draft</a:t>
            </a:r>
            <a:endParaRPr lang="en-US" sz="1300" dirty="0"/>
          </a:p>
        </p:txBody>
      </p:sp>
      <p:sp>
        <p:nvSpPr>
          <p:cNvPr id="16" name="Shape 14"/>
          <p:cNvSpPr/>
          <p:nvPr/>
        </p:nvSpPr>
        <p:spPr>
          <a:xfrm>
            <a:off x="6400800" y="5120640"/>
            <a:ext cx="5120640" cy="1097280"/>
          </a:xfrm>
          <a:prstGeom prst="rect">
            <a:avLst/>
          </a:prstGeom>
          <a:solidFill>
            <a:srgbClr val="D4EDDA"/>
          </a:solidFill>
          <a:ln w="12700">
            <a:solidFill>
              <a:srgbClr val="2C8C5C"/>
            </a:solidFill>
            <a:prstDash val="solid"/>
          </a:ln>
        </p:spPr>
        <p:txBody>
          <a:bodyPr/>
          <a:lstStyle/>
          <a:p>
            <a:endParaRPr lang="en-US"/>
          </a:p>
        </p:txBody>
      </p:sp>
      <p:sp>
        <p:nvSpPr>
          <p:cNvPr id="17" name="Text 15"/>
          <p:cNvSpPr/>
          <p:nvPr/>
        </p:nvSpPr>
        <p:spPr>
          <a:xfrm>
            <a:off x="6537960" y="5212080"/>
            <a:ext cx="4846320" cy="914400"/>
          </a:xfrm>
          <a:prstGeom prst="rect">
            <a:avLst/>
          </a:prstGeom>
          <a:noFill/>
          <a:ln/>
        </p:spPr>
        <p:txBody>
          <a:bodyPr wrap="square" lIns="0" tIns="0" rIns="0" bIns="0" rtlCol="0" anchor="ctr"/>
          <a:lstStyle/>
          <a:p>
            <a:pPr marL="0" indent="0">
              <a:buNone/>
            </a:pPr>
            <a:r>
              <a:rPr lang="en-US" sz="1100" b="1" dirty="0">
                <a:solidFill>
                  <a:srgbClr val="2C8C5C"/>
                </a:solidFill>
                <a:latin typeface="Calibri" pitchFamily="34" charset="0"/>
                <a:ea typeface="Calibri" pitchFamily="34" charset="-122"/>
                <a:cs typeface="Calibri" pitchFamily="34" charset="-120"/>
              </a:rPr>
              <a:t>✓  THE QUESTION THIS THESIS ASKS</a:t>
            </a:r>
            <a:endParaRPr lang="en-US" sz="1100" dirty="0"/>
          </a:p>
          <a:p>
            <a:pPr marL="0" indent="0">
              <a:buNone/>
            </a:pPr>
            <a:r>
              <a:rPr lang="en-US" sz="1100" i="1" dirty="0">
                <a:solidFill>
                  <a:srgbClr val="1A1F2E"/>
                </a:solidFill>
                <a:latin typeface="Calibri" pitchFamily="34" charset="0"/>
                <a:ea typeface="Calibri" pitchFamily="34" charset="-122"/>
                <a:cs typeface="Calibri" pitchFamily="34" charset="-120"/>
              </a:rPr>
              <a:t>At the moment the change is saved — before the checking machine even starts — can we predict that it is going to fail?</a:t>
            </a:r>
            <a:endParaRPr lang="en-US" sz="1100" dirty="0"/>
          </a:p>
        </p:txBody>
      </p:sp>
      <p:sp>
        <p:nvSpPr>
          <p:cNvPr id="18" name="Text 16"/>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19" name="Text 17"/>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3 / 29</a:t>
            </a:r>
            <a:endParaRPr lang="en-US" sz="10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30000" cy="594360"/>
          </a:xfrm>
          <a:prstGeom prst="rect">
            <a:avLst/>
          </a:prstGeom>
          <a:noFill/>
        </p:spPr>
        <p:txBody>
          <a:bodyPr wrap="square" lIns="0" rIns="0" tIns="0" bIns="0" anchor="t">
            <a:spAutoFit/>
          </a:bodyPr>
          <a:lstStyle/>
          <a:p>
            <a:pPr algn="l">
              <a:spcAft>
                <a:spcPts val="0"/>
              </a:spcAft>
            </a:pPr>
            <a:r>
              <a:rPr sz="2800" b="1">
                <a:solidFill>
                  <a:srgbClr val="065A82"/>
                </a:solidFill>
                <a:latin typeface="Calibri"/>
              </a:rPr>
              <a:t>How One Check Actually Runs</a:t>
            </a:r>
          </a:p>
        </p:txBody>
      </p:sp>
      <p:sp>
        <p:nvSpPr>
          <p:cNvPr id="3" name="TextBox 2"/>
          <p:cNvSpPr txBox="1"/>
          <p:nvPr/>
        </p:nvSpPr>
        <p:spPr>
          <a:xfrm>
            <a:off x="365760" y="868680"/>
            <a:ext cx="11430000" cy="320040"/>
          </a:xfrm>
          <a:prstGeom prst="rect">
            <a:avLst/>
          </a:prstGeom>
          <a:noFill/>
        </p:spPr>
        <p:txBody>
          <a:bodyPr wrap="square" lIns="0" rIns="0" tIns="0" bIns="0" anchor="t">
            <a:spAutoFit/>
          </a:bodyPr>
          <a:lstStyle/>
          <a:p>
            <a:pPr algn="l">
              <a:spcAft>
                <a:spcPts val="0"/>
              </a:spcAft>
            </a:pPr>
            <a:r>
              <a:rPr sz="1400" b="0">
                <a:solidFill>
                  <a:srgbClr val="1C7293"/>
                </a:solidFill>
                <a:latin typeface="Calibri"/>
              </a:rPr>
              <a:t>The whole mechanism end to end — and the exact moment this thesis makes its prediction</a:t>
            </a:r>
          </a:p>
        </p:txBody>
      </p:sp>
      <p:sp>
        <p:nvSpPr>
          <p:cNvPr id="4" name="TextBox 3"/>
          <p:cNvSpPr txBox="1"/>
          <p:nvPr/>
        </p:nvSpPr>
        <p:spPr>
          <a:xfrm>
            <a:off x="365760" y="6492240"/>
            <a:ext cx="7315200" cy="274320"/>
          </a:xfrm>
          <a:prstGeom prst="rect">
            <a:avLst/>
          </a:prstGeom>
          <a:noFill/>
        </p:spPr>
        <p:txBody>
          <a:bodyPr wrap="square" lIns="0" rIns="0" tIns="0" bIns="0" anchor="t">
            <a:spAutoFit/>
          </a:bodyPr>
          <a:lstStyle/>
          <a:p>
            <a:pPr algn="l">
              <a:spcAft>
                <a:spcPts val="0"/>
              </a:spcAft>
            </a:pPr>
            <a:r>
              <a:rPr sz="900" b="0">
                <a:solidFill>
                  <a:srgbClr val="5A6470"/>
                </a:solidFill>
                <a:latin typeface="Calibri"/>
              </a:rPr>
              <a:t>Moamen M. Aly  ·  MSc Thesis Defense  ·  September 11, 2026</a:t>
            </a:r>
          </a:p>
        </p:txBody>
      </p:sp>
      <p:sp>
        <p:nvSpPr>
          <p:cNvPr id="5" name="TextBox 4"/>
          <p:cNvSpPr txBox="1"/>
          <p:nvPr/>
        </p:nvSpPr>
        <p:spPr>
          <a:xfrm>
            <a:off x="11430000" y="6492240"/>
            <a:ext cx="640080" cy="274320"/>
          </a:xfrm>
          <a:prstGeom prst="rect">
            <a:avLst/>
          </a:prstGeom>
          <a:noFill/>
        </p:spPr>
        <p:txBody>
          <a:bodyPr wrap="square" lIns="0" rIns="0" tIns="0" bIns="0" anchor="t">
            <a:spAutoFit/>
          </a:bodyPr>
          <a:lstStyle/>
          <a:p>
            <a:pPr algn="r">
              <a:spcAft>
                <a:spcPts val="0"/>
              </a:spcAft>
            </a:pPr>
            <a:r>
              <a:rPr sz="900" b="0">
                <a:solidFill>
                  <a:srgbClr val="5A6470"/>
                </a:solidFill>
                <a:latin typeface="Calibri"/>
              </a:rPr>
              <a:t>4 / 29</a:t>
            </a:r>
          </a:p>
        </p:txBody>
      </p:sp>
      <p:sp>
        <p:nvSpPr>
          <p:cNvPr id="6" name="Rectangle 5"/>
          <p:cNvSpPr/>
          <p:nvPr/>
        </p:nvSpPr>
        <p:spPr>
          <a:xfrm>
            <a:off x="457200" y="1554480"/>
            <a:ext cx="2331720" cy="1874519"/>
          </a:xfrm>
          <a:prstGeom prst="rect">
            <a:avLst/>
          </a:prstGeom>
          <a:solidFill>
            <a:srgbClr val="F7F9FB"/>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57200" y="1554480"/>
            <a:ext cx="2331720" cy="347472"/>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200" y="1636776"/>
            <a:ext cx="2331720" cy="274320"/>
          </a:xfrm>
          <a:prstGeom prst="rect">
            <a:avLst/>
          </a:prstGeom>
          <a:noFill/>
        </p:spPr>
        <p:txBody>
          <a:bodyPr wrap="square" lIns="0" rIns="0" tIns="0" bIns="0" anchor="t">
            <a:spAutoFit/>
          </a:bodyPr>
          <a:lstStyle/>
          <a:p>
            <a:pPr algn="ctr">
              <a:spcAft>
                <a:spcPts val="0"/>
              </a:spcAft>
            </a:pPr>
            <a:r>
              <a:rPr sz="1100" b="1">
                <a:solidFill>
                  <a:srgbClr val="FFFFFF"/>
                </a:solidFill>
                <a:latin typeface="Calibri"/>
              </a:rPr>
              <a:t>1  ·  T H E   C O M M I T</a:t>
            </a:r>
          </a:p>
        </p:txBody>
      </p:sp>
      <p:sp>
        <p:nvSpPr>
          <p:cNvPr id="9" name="TextBox 8"/>
          <p:cNvSpPr txBox="1"/>
          <p:nvPr/>
        </p:nvSpPr>
        <p:spPr>
          <a:xfrm>
            <a:off x="640080" y="2057400"/>
            <a:ext cx="1965960" cy="1234440"/>
          </a:xfrm>
          <a:prstGeom prst="rect">
            <a:avLst/>
          </a:prstGeom>
          <a:noFill/>
        </p:spPr>
        <p:txBody>
          <a:bodyPr wrap="square" lIns="0" rIns="0" tIns="0" bIns="0" anchor="t">
            <a:spAutoFit/>
          </a:bodyPr>
          <a:lstStyle/>
          <a:p>
            <a:pPr algn="l">
              <a:lnSpc>
                <a:spcPct val="95000"/>
              </a:lnSpc>
              <a:spcAft>
                <a:spcPts val="0"/>
              </a:spcAft>
            </a:pPr>
            <a:r>
              <a:rPr sz="1300" b="1">
                <a:solidFill>
                  <a:srgbClr val="1A1F2E"/>
                </a:solidFill>
                <a:latin typeface="Calibri"/>
              </a:rPr>
              <a:t>A developer saves</a:t>
            </a:r>
          </a:p>
          <a:p>
            <a:pPr algn="l">
              <a:lnSpc>
                <a:spcPct val="95000"/>
              </a:lnSpc>
              <a:spcAft>
                <a:spcPts val="0"/>
              </a:spcAft>
            </a:pPr>
            <a:r>
              <a:rPr sz="1300" b="1">
                <a:solidFill>
                  <a:srgbClr val="1A1F2E"/>
                </a:solidFill>
                <a:latin typeface="Calibri"/>
              </a:rPr>
              <a:t>one change</a:t>
            </a:r>
          </a:p>
          <a:p>
            <a:pPr algn="l">
              <a:lnSpc>
                <a:spcPct val="95000"/>
              </a:lnSpc>
              <a:spcAft>
                <a:spcPts val="0"/>
              </a:spcAft>
            </a:pPr>
            <a:r>
              <a:rPr sz="600" b="0">
                <a:solidFill>
                  <a:srgbClr val="1A1F2E"/>
                </a:solidFill>
                <a:latin typeface="Calibri"/>
              </a:rPr>
              <a:t/>
            </a:r>
          </a:p>
          <a:p>
            <a:pPr algn="l">
              <a:lnSpc>
                <a:spcPct val="95000"/>
              </a:lnSpc>
              <a:spcAft>
                <a:spcPts val="0"/>
              </a:spcAft>
            </a:pPr>
            <a:r>
              <a:rPr sz="1050" b="0">
                <a:solidFill>
                  <a:srgbClr val="5A6470"/>
                </a:solidFill>
                <a:latin typeface="Calibri"/>
              </a:rPr>
              <a:t>Files touched, lines added,</a:t>
            </a:r>
          </a:p>
          <a:p>
            <a:pPr algn="l">
              <a:lnSpc>
                <a:spcPct val="95000"/>
              </a:lnSpc>
              <a:spcAft>
                <a:spcPts val="0"/>
              </a:spcAft>
            </a:pPr>
            <a:r>
              <a:rPr sz="1050" b="0">
                <a:solidFill>
                  <a:srgbClr val="5A6470"/>
                </a:solidFill>
                <a:latin typeface="Calibri"/>
              </a:rPr>
              <a:t>the message they wrote,</a:t>
            </a:r>
          </a:p>
          <a:p>
            <a:pPr algn="l">
              <a:lnSpc>
                <a:spcPct val="95000"/>
              </a:lnSpc>
              <a:spcAft>
                <a:spcPts val="0"/>
              </a:spcAft>
            </a:pPr>
            <a:r>
              <a:rPr sz="1050" b="0">
                <a:solidFill>
                  <a:srgbClr val="5A6470"/>
                </a:solidFill>
                <a:latin typeface="Calibri"/>
              </a:rPr>
              <a:t>the branch, the hour.</a:t>
            </a:r>
          </a:p>
        </p:txBody>
      </p:sp>
      <p:sp>
        <p:nvSpPr>
          <p:cNvPr id="10" name="Right Arrow 9"/>
          <p:cNvSpPr/>
          <p:nvPr/>
        </p:nvSpPr>
        <p:spPr>
          <a:xfrm>
            <a:off x="2862072" y="2267712"/>
            <a:ext cx="329184" cy="40233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ight Arrow 10"/>
          <p:cNvSpPr/>
          <p:nvPr/>
        </p:nvSpPr>
        <p:spPr>
          <a:xfrm>
            <a:off x="8887968" y="2267712"/>
            <a:ext cx="329184" cy="40233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273552" y="1554480"/>
            <a:ext cx="5532120" cy="1874519"/>
          </a:xfrm>
          <a:prstGeom prst="rect">
            <a:avLst/>
          </a:prstGeom>
          <a:solidFill>
            <a:srgbClr val="F7F9FB"/>
          </a:solidFill>
          <a:ln w="12700">
            <a:solidFill>
              <a:srgbClr val="2C8C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273552" y="1554480"/>
            <a:ext cx="5532120" cy="347472"/>
          </a:xfrm>
          <a:prstGeom prst="rect">
            <a:avLst/>
          </a:prstGeom>
          <a:solidFill>
            <a:srgbClr val="2C8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273552" y="1636776"/>
            <a:ext cx="5532120" cy="274320"/>
          </a:xfrm>
          <a:prstGeom prst="rect">
            <a:avLst/>
          </a:prstGeom>
          <a:noFill/>
        </p:spPr>
        <p:txBody>
          <a:bodyPr wrap="square" lIns="0" rIns="0" tIns="0" bIns="0" anchor="t">
            <a:spAutoFit/>
          </a:bodyPr>
          <a:lstStyle/>
          <a:p>
            <a:pPr algn="ctr">
              <a:spcAft>
                <a:spcPts val="0"/>
              </a:spcAft>
            </a:pPr>
            <a:r>
              <a:rPr sz="1100" b="1">
                <a:solidFill>
                  <a:srgbClr val="FFFFFF"/>
                </a:solidFill>
                <a:latin typeface="Calibri"/>
              </a:rPr>
              <a:t>2  ·  T H E   C H E C K I N G   M A C H I N E   R U N S</a:t>
            </a:r>
          </a:p>
        </p:txBody>
      </p:sp>
      <p:sp>
        <p:nvSpPr>
          <p:cNvPr id="15" name="Rectangle 14"/>
          <p:cNvSpPr/>
          <p:nvPr/>
        </p:nvSpPr>
        <p:spPr>
          <a:xfrm>
            <a:off x="3429000" y="2084831"/>
            <a:ext cx="1225296" cy="713232"/>
          </a:xfrm>
          <a:prstGeom prst="rect">
            <a:avLst/>
          </a:prstGeom>
          <a:solidFill>
            <a:srgbClr val="FFFFFF"/>
          </a:solidFill>
          <a:ln w="9525">
            <a:solidFill>
              <a:srgbClr val="C9D6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493008" y="2176272"/>
            <a:ext cx="1097280" cy="548640"/>
          </a:xfrm>
          <a:prstGeom prst="rect">
            <a:avLst/>
          </a:prstGeom>
          <a:noFill/>
        </p:spPr>
        <p:txBody>
          <a:bodyPr wrap="square" lIns="0" rIns="0" tIns="0" bIns="0" anchor="t">
            <a:spAutoFit/>
          </a:bodyPr>
          <a:lstStyle/>
          <a:p>
            <a:pPr algn="ctr">
              <a:lnSpc>
                <a:spcPct val="95000"/>
              </a:lnSpc>
              <a:spcAft>
                <a:spcPts val="0"/>
              </a:spcAft>
            </a:pPr>
            <a:r>
              <a:rPr sz="1050" b="1">
                <a:solidFill>
                  <a:srgbClr val="1A1F2E"/>
                </a:solidFill>
                <a:latin typeface="Calibri"/>
              </a:rPr>
              <a:t>Fetch code</a:t>
            </a:r>
          </a:p>
          <a:p>
            <a:pPr algn="ctr">
              <a:lnSpc>
                <a:spcPct val="95000"/>
              </a:lnSpc>
              <a:spcAft>
                <a:spcPts val="0"/>
              </a:spcAft>
            </a:pPr>
            <a:r>
              <a:rPr sz="950" b="0">
                <a:solidFill>
                  <a:srgbClr val="5A6470"/>
                </a:solidFill>
                <a:latin typeface="Calibri"/>
              </a:rPr>
              <a:t>0.3–2 min</a:t>
            </a:r>
          </a:p>
        </p:txBody>
      </p:sp>
      <p:sp>
        <p:nvSpPr>
          <p:cNvPr id="17" name="Rectangle 16"/>
          <p:cNvSpPr/>
          <p:nvPr/>
        </p:nvSpPr>
        <p:spPr>
          <a:xfrm>
            <a:off x="4754880" y="2084831"/>
            <a:ext cx="1225296" cy="713232"/>
          </a:xfrm>
          <a:prstGeom prst="rect">
            <a:avLst/>
          </a:prstGeom>
          <a:solidFill>
            <a:srgbClr val="FFFFFF"/>
          </a:solidFill>
          <a:ln w="9525">
            <a:solidFill>
              <a:srgbClr val="C9D6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18888" y="2176272"/>
            <a:ext cx="1097280" cy="548640"/>
          </a:xfrm>
          <a:prstGeom prst="rect">
            <a:avLst/>
          </a:prstGeom>
          <a:noFill/>
        </p:spPr>
        <p:txBody>
          <a:bodyPr wrap="square" lIns="0" rIns="0" tIns="0" bIns="0" anchor="t">
            <a:spAutoFit/>
          </a:bodyPr>
          <a:lstStyle/>
          <a:p>
            <a:pPr algn="ctr">
              <a:lnSpc>
                <a:spcPct val="95000"/>
              </a:lnSpc>
              <a:spcAft>
                <a:spcPts val="0"/>
              </a:spcAft>
            </a:pPr>
            <a:r>
              <a:rPr sz="1050" b="1">
                <a:solidFill>
                  <a:srgbClr val="1A1F2E"/>
                </a:solidFill>
                <a:latin typeface="Calibri"/>
              </a:rPr>
              <a:t>Install tools</a:t>
            </a:r>
          </a:p>
          <a:p>
            <a:pPr algn="ctr">
              <a:lnSpc>
                <a:spcPct val="95000"/>
              </a:lnSpc>
              <a:spcAft>
                <a:spcPts val="0"/>
              </a:spcAft>
            </a:pPr>
            <a:r>
              <a:rPr sz="950" b="0">
                <a:solidFill>
                  <a:srgbClr val="5A6470"/>
                </a:solidFill>
                <a:latin typeface="Calibri"/>
              </a:rPr>
              <a:t>1–15 min</a:t>
            </a:r>
          </a:p>
        </p:txBody>
      </p:sp>
      <p:sp>
        <p:nvSpPr>
          <p:cNvPr id="19" name="Rectangle 18"/>
          <p:cNvSpPr/>
          <p:nvPr/>
        </p:nvSpPr>
        <p:spPr>
          <a:xfrm>
            <a:off x="6080760" y="2084831"/>
            <a:ext cx="1225296" cy="713232"/>
          </a:xfrm>
          <a:prstGeom prst="rect">
            <a:avLst/>
          </a:prstGeom>
          <a:solidFill>
            <a:srgbClr val="FFFFFF"/>
          </a:solidFill>
          <a:ln w="9525">
            <a:solidFill>
              <a:srgbClr val="C9D6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44768" y="2176272"/>
            <a:ext cx="1097280" cy="548640"/>
          </a:xfrm>
          <a:prstGeom prst="rect">
            <a:avLst/>
          </a:prstGeom>
          <a:noFill/>
        </p:spPr>
        <p:txBody>
          <a:bodyPr wrap="square" lIns="0" rIns="0" tIns="0" bIns="0" anchor="t">
            <a:spAutoFit/>
          </a:bodyPr>
          <a:lstStyle/>
          <a:p>
            <a:pPr algn="ctr">
              <a:lnSpc>
                <a:spcPct val="95000"/>
              </a:lnSpc>
              <a:spcAft>
                <a:spcPts val="0"/>
              </a:spcAft>
            </a:pPr>
            <a:r>
              <a:rPr sz="1050" b="1">
                <a:solidFill>
                  <a:srgbClr val="1A1F2E"/>
                </a:solidFill>
                <a:latin typeface="Calibri"/>
              </a:rPr>
              <a:t>Build it all</a:t>
            </a:r>
          </a:p>
          <a:p>
            <a:pPr algn="ctr">
              <a:lnSpc>
                <a:spcPct val="95000"/>
              </a:lnSpc>
              <a:spcAft>
                <a:spcPts val="0"/>
              </a:spcAft>
            </a:pPr>
            <a:r>
              <a:rPr sz="950" b="0">
                <a:solidFill>
                  <a:srgbClr val="5A6470"/>
                </a:solidFill>
                <a:latin typeface="Calibri"/>
              </a:rPr>
              <a:t>2–40 min</a:t>
            </a:r>
          </a:p>
        </p:txBody>
      </p:sp>
      <p:sp>
        <p:nvSpPr>
          <p:cNvPr id="21" name="Rectangle 20"/>
          <p:cNvSpPr/>
          <p:nvPr/>
        </p:nvSpPr>
        <p:spPr>
          <a:xfrm>
            <a:off x="7406640" y="2084831"/>
            <a:ext cx="1225296" cy="713232"/>
          </a:xfrm>
          <a:prstGeom prst="rect">
            <a:avLst/>
          </a:prstGeom>
          <a:solidFill>
            <a:srgbClr val="FFFFFF"/>
          </a:solidFill>
          <a:ln w="9525">
            <a:solidFill>
              <a:srgbClr val="C9D6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70648" y="2176272"/>
            <a:ext cx="1097280" cy="548640"/>
          </a:xfrm>
          <a:prstGeom prst="rect">
            <a:avLst/>
          </a:prstGeom>
          <a:noFill/>
        </p:spPr>
        <p:txBody>
          <a:bodyPr wrap="square" lIns="0" rIns="0" tIns="0" bIns="0" anchor="t">
            <a:spAutoFit/>
          </a:bodyPr>
          <a:lstStyle/>
          <a:p>
            <a:pPr algn="ctr">
              <a:lnSpc>
                <a:spcPct val="95000"/>
              </a:lnSpc>
              <a:spcAft>
                <a:spcPts val="0"/>
              </a:spcAft>
            </a:pPr>
            <a:r>
              <a:rPr sz="1050" b="1">
                <a:solidFill>
                  <a:srgbClr val="1A1F2E"/>
                </a:solidFill>
                <a:latin typeface="Calibri"/>
              </a:rPr>
              <a:t>Run the tests</a:t>
            </a:r>
          </a:p>
          <a:p>
            <a:pPr algn="ctr">
              <a:lnSpc>
                <a:spcPct val="95000"/>
              </a:lnSpc>
              <a:spcAft>
                <a:spcPts val="0"/>
              </a:spcAft>
            </a:pPr>
            <a:r>
              <a:rPr sz="950" b="0">
                <a:solidFill>
                  <a:srgbClr val="5A6470"/>
                </a:solidFill>
                <a:latin typeface="Calibri"/>
              </a:rPr>
              <a:t>5–90 min</a:t>
            </a:r>
          </a:p>
        </p:txBody>
      </p:sp>
      <p:sp>
        <p:nvSpPr>
          <p:cNvPr id="23" name="TextBox 22"/>
          <p:cNvSpPr txBox="1"/>
          <p:nvPr/>
        </p:nvSpPr>
        <p:spPr>
          <a:xfrm>
            <a:off x="3429000" y="2926080"/>
            <a:ext cx="5212080" cy="320040"/>
          </a:xfrm>
          <a:prstGeom prst="rect">
            <a:avLst/>
          </a:prstGeom>
          <a:noFill/>
        </p:spPr>
        <p:txBody>
          <a:bodyPr wrap="square" lIns="0" rIns="0" tIns="0" bIns="0" anchor="t">
            <a:spAutoFit/>
          </a:bodyPr>
          <a:lstStyle/>
          <a:p>
            <a:pPr algn="ctr">
              <a:spcAft>
                <a:spcPts val="0"/>
              </a:spcAft>
            </a:pPr>
            <a:r>
              <a:rPr sz="1050" b="0">
                <a:solidFill>
                  <a:srgbClr val="5A6470"/>
                </a:solidFill>
                <a:latin typeface="Calibri"/>
              </a:rPr>
              <a:t>No human is involved at any point. The machine decides on its own.</a:t>
            </a:r>
          </a:p>
        </p:txBody>
      </p:sp>
      <p:sp>
        <p:nvSpPr>
          <p:cNvPr id="24" name="Rectangle 23"/>
          <p:cNvSpPr/>
          <p:nvPr/>
        </p:nvSpPr>
        <p:spPr>
          <a:xfrm>
            <a:off x="9235440" y="1554480"/>
            <a:ext cx="2496312" cy="859536"/>
          </a:xfrm>
          <a:prstGeom prst="rect">
            <a:avLst/>
          </a:prstGeom>
          <a:solidFill>
            <a:srgbClr val="E3F2E9"/>
          </a:solidFill>
          <a:ln w="12700">
            <a:solidFill>
              <a:srgbClr val="2C8C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72600" y="1673352"/>
            <a:ext cx="2240280" cy="640080"/>
          </a:xfrm>
          <a:prstGeom prst="rect">
            <a:avLst/>
          </a:prstGeom>
          <a:noFill/>
        </p:spPr>
        <p:txBody>
          <a:bodyPr wrap="square" lIns="0" rIns="0" tIns="0" bIns="0" anchor="t">
            <a:spAutoFit/>
          </a:bodyPr>
          <a:lstStyle/>
          <a:p>
            <a:pPr algn="ctr">
              <a:lnSpc>
                <a:spcPct val="95000"/>
              </a:lnSpc>
              <a:spcAft>
                <a:spcPts val="0"/>
              </a:spcAft>
            </a:pPr>
            <a:r>
              <a:rPr sz="1200" b="1">
                <a:solidFill>
                  <a:srgbClr val="2C8C5C"/>
                </a:solidFill>
                <a:latin typeface="Calibri"/>
              </a:rPr>
              <a:t>✓  P A S S E D</a:t>
            </a:r>
          </a:p>
          <a:p>
            <a:pPr algn="ctr">
              <a:lnSpc>
                <a:spcPct val="95000"/>
              </a:lnSpc>
              <a:spcAft>
                <a:spcPts val="0"/>
              </a:spcAft>
            </a:pPr>
            <a:r>
              <a:rPr sz="1050" b="0">
                <a:solidFill>
                  <a:srgbClr val="1A1F2E"/>
                </a:solidFill>
                <a:latin typeface="Calibri"/>
              </a:rPr>
              <a:t>89% of the time</a:t>
            </a:r>
          </a:p>
        </p:txBody>
      </p:sp>
      <p:sp>
        <p:nvSpPr>
          <p:cNvPr id="26" name="Rectangle 25"/>
          <p:cNvSpPr/>
          <p:nvPr/>
        </p:nvSpPr>
        <p:spPr>
          <a:xfrm>
            <a:off x="9235440" y="2569464"/>
            <a:ext cx="2496312" cy="859536"/>
          </a:xfrm>
          <a:prstGeom prst="rect">
            <a:avLst/>
          </a:prstGeom>
          <a:solidFill>
            <a:srgbClr val="F8D7DA"/>
          </a:solidFill>
          <a:ln w="12700">
            <a:solidFill>
              <a:srgbClr val="C846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72600" y="2688336"/>
            <a:ext cx="2240280" cy="640080"/>
          </a:xfrm>
          <a:prstGeom prst="rect">
            <a:avLst/>
          </a:prstGeom>
          <a:noFill/>
        </p:spPr>
        <p:txBody>
          <a:bodyPr wrap="square" lIns="0" rIns="0" tIns="0" bIns="0" anchor="t">
            <a:spAutoFit/>
          </a:bodyPr>
          <a:lstStyle/>
          <a:p>
            <a:pPr algn="ctr">
              <a:lnSpc>
                <a:spcPct val="95000"/>
              </a:lnSpc>
              <a:spcAft>
                <a:spcPts val="0"/>
              </a:spcAft>
            </a:pPr>
            <a:r>
              <a:rPr sz="1200" b="1">
                <a:solidFill>
                  <a:srgbClr val="C8463D"/>
                </a:solidFill>
                <a:latin typeface="Calibri"/>
              </a:rPr>
              <a:t>✗  F A I L E D</a:t>
            </a:r>
          </a:p>
          <a:p>
            <a:pPr algn="ctr">
              <a:lnSpc>
                <a:spcPct val="95000"/>
              </a:lnSpc>
              <a:spcAft>
                <a:spcPts val="0"/>
              </a:spcAft>
            </a:pPr>
            <a:r>
              <a:rPr sz="1050" b="0">
                <a:solidFill>
                  <a:srgbClr val="1A1F2E"/>
                </a:solidFill>
                <a:latin typeface="Calibri"/>
              </a:rPr>
              <a:t>11% of the time</a:t>
            </a:r>
          </a:p>
        </p:txBody>
      </p:sp>
      <p:sp>
        <p:nvSpPr>
          <p:cNvPr id="28" name="Rectangle 27"/>
          <p:cNvSpPr/>
          <p:nvPr/>
        </p:nvSpPr>
        <p:spPr>
          <a:xfrm>
            <a:off x="457200" y="3657600"/>
            <a:ext cx="8348472" cy="841248"/>
          </a:xfrm>
          <a:prstGeom prst="rect">
            <a:avLst/>
          </a:prstGeom>
          <a:solidFill>
            <a:srgbClr val="FDF3E0"/>
          </a:solidFill>
          <a:ln w="12700">
            <a:solidFill>
              <a:srgbClr val="D492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0080" y="3776472"/>
            <a:ext cx="8001000" cy="640080"/>
          </a:xfrm>
          <a:prstGeom prst="rect">
            <a:avLst/>
          </a:prstGeom>
          <a:noFill/>
        </p:spPr>
        <p:txBody>
          <a:bodyPr wrap="square" lIns="0" rIns="0" tIns="0" bIns="0" anchor="t">
            <a:spAutoFit/>
          </a:bodyPr>
          <a:lstStyle/>
          <a:p>
            <a:pPr algn="l">
              <a:lnSpc>
                <a:spcPct val="105000"/>
              </a:lnSpc>
              <a:spcAft>
                <a:spcPts val="0"/>
              </a:spcAft>
            </a:pPr>
            <a:r>
              <a:rPr sz="1100" b="1">
                <a:solidFill>
                  <a:srgbClr val="D4922A"/>
                </a:solidFill>
                <a:latin typeface="Calibri"/>
              </a:rPr>
              <a:t>⬆  T H I S   T H E S I S   P R E D I C T S   H E R E</a:t>
            </a:r>
          </a:p>
          <a:p>
            <a:pPr algn="l">
              <a:lnSpc>
                <a:spcPct val="105000"/>
              </a:lnSpc>
              <a:spcAft>
                <a:spcPts val="0"/>
              </a:spcAft>
            </a:pPr>
            <a:r>
              <a:rPr sz="1100" b="0">
                <a:solidFill>
                  <a:srgbClr val="1A1F2E"/>
                </a:solidFill>
                <a:latin typeface="Calibri"/>
              </a:rPr>
              <a:t>At stage 1 — the instant the change is saved, before the machine has started. Everything to the right has not happened yet.</a:t>
            </a:r>
          </a:p>
        </p:txBody>
      </p:sp>
      <p:sp>
        <p:nvSpPr>
          <p:cNvPr id="30" name="TextBox 29"/>
          <p:cNvSpPr txBox="1"/>
          <p:nvPr/>
        </p:nvSpPr>
        <p:spPr>
          <a:xfrm>
            <a:off x="9235440" y="3703320"/>
            <a:ext cx="2496312" cy="777240"/>
          </a:xfrm>
          <a:prstGeom prst="rect">
            <a:avLst/>
          </a:prstGeom>
          <a:noFill/>
        </p:spPr>
        <p:txBody>
          <a:bodyPr wrap="square" lIns="0" rIns="0" tIns="0" bIns="0" anchor="t">
            <a:spAutoFit/>
          </a:bodyPr>
          <a:lstStyle/>
          <a:p>
            <a:pPr algn="l">
              <a:lnSpc>
                <a:spcPct val="95000"/>
              </a:lnSpc>
              <a:spcAft>
                <a:spcPts val="0"/>
              </a:spcAft>
            </a:pPr>
            <a:r>
              <a:rPr sz="1050" b="1">
                <a:solidFill>
                  <a:srgbClr val="1A1F2E"/>
                </a:solidFill>
                <a:latin typeface="Calibri"/>
              </a:rPr>
              <a:t>Predicting after stage 2</a:t>
            </a:r>
          </a:p>
          <a:p>
            <a:pPr algn="l">
              <a:lnSpc>
                <a:spcPct val="95000"/>
              </a:lnSpc>
              <a:spcAft>
                <a:spcPts val="0"/>
              </a:spcAft>
            </a:pPr>
            <a:r>
              <a:rPr sz="1050" b="0">
                <a:solidFill>
                  <a:srgbClr val="5A6470"/>
                </a:solidFill>
                <a:latin typeface="Calibri"/>
              </a:rPr>
              <a:t>saves nobody anything:</a:t>
            </a:r>
          </a:p>
          <a:p>
            <a:pPr algn="l">
              <a:lnSpc>
                <a:spcPct val="95000"/>
              </a:lnSpc>
              <a:spcAft>
                <a:spcPts val="0"/>
              </a:spcAft>
            </a:pPr>
            <a:r>
              <a:rPr sz="1050" b="0">
                <a:solidFill>
                  <a:srgbClr val="5A6470"/>
                </a:solidFill>
                <a:latin typeface="Calibri"/>
              </a:rPr>
              <a:t>the money is already spent.</a:t>
            </a:r>
          </a:p>
        </p:txBody>
      </p:sp>
      <p:sp>
        <p:nvSpPr>
          <p:cNvPr id="31" name="Rectangle 30"/>
          <p:cNvSpPr/>
          <p:nvPr/>
        </p:nvSpPr>
        <p:spPr>
          <a:xfrm>
            <a:off x="457200" y="4754880"/>
            <a:ext cx="11274552" cy="1508760"/>
          </a:xfrm>
          <a:prstGeom prst="rect">
            <a:avLst/>
          </a:prstGeom>
          <a:solidFill>
            <a:srgbClr val="F7F9FB"/>
          </a:solidFill>
          <a:ln w="9525">
            <a:solidFill>
              <a:srgbClr val="C9D6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5800" y="4919472"/>
            <a:ext cx="10835640" cy="320040"/>
          </a:xfrm>
          <a:prstGeom prst="rect">
            <a:avLst/>
          </a:prstGeom>
          <a:noFill/>
        </p:spPr>
        <p:txBody>
          <a:bodyPr wrap="square" lIns="0" rIns="0" tIns="0" bIns="0" anchor="t">
            <a:spAutoFit/>
          </a:bodyPr>
          <a:lstStyle/>
          <a:p>
            <a:pPr algn="l">
              <a:spcAft>
                <a:spcPts val="0"/>
              </a:spcAft>
            </a:pPr>
            <a:r>
              <a:rPr sz="1500" b="1">
                <a:solidFill>
                  <a:srgbClr val="065A82"/>
                </a:solidFill>
                <a:latin typeface="Calibri"/>
              </a:rPr>
              <a:t>Why the prediction has to happen at stage 1</a:t>
            </a:r>
          </a:p>
        </p:txBody>
      </p:sp>
      <p:sp>
        <p:nvSpPr>
          <p:cNvPr id="33" name="TextBox 32"/>
          <p:cNvSpPr txBox="1"/>
          <p:nvPr/>
        </p:nvSpPr>
        <p:spPr>
          <a:xfrm>
            <a:off x="685800" y="5303520"/>
            <a:ext cx="10835640" cy="822960"/>
          </a:xfrm>
          <a:prstGeom prst="rect">
            <a:avLst/>
          </a:prstGeom>
          <a:noFill/>
        </p:spPr>
        <p:txBody>
          <a:bodyPr wrap="square" lIns="0" rIns="0" tIns="0" bIns="0" anchor="t">
            <a:spAutoFit/>
          </a:bodyPr>
          <a:lstStyle/>
          <a:p>
            <a:pPr algn="l">
              <a:lnSpc>
                <a:spcPct val="115000"/>
              </a:lnSpc>
              <a:spcAft>
                <a:spcPts val="600"/>
              </a:spcAft>
            </a:pPr>
            <a:r>
              <a:rPr sz="1200" b="0">
                <a:solidFill>
                  <a:srgbClr val="1A1F2E"/>
                </a:solidFill>
                <a:latin typeface="Calibri"/>
              </a:rPr>
              <a:t>Anything measurable only after the machine starts — how long the run took, how many times it was retried — is a </a:t>
            </a:r>
            <a:r>
              <a:rPr sz="1200" b="1">
                <a:solidFill>
                  <a:srgbClr val="1A1F2E"/>
                </a:solidFill>
                <a:latin typeface="Calibri"/>
              </a:rPr>
              <a:t>consequence</a:t>
            </a:r>
            <a:r>
              <a:rPr sz="1200" b="0">
                <a:solidFill>
                  <a:srgbClr val="1A1F2E"/>
                </a:solidFill>
                <a:latin typeface="Calibri"/>
              </a:rPr>
              <a:t> of the failure, not a cause of it.</a:t>
            </a:r>
          </a:p>
          <a:p>
            <a:pPr algn="l">
              <a:lnSpc>
                <a:spcPct val="115000"/>
              </a:lnSpc>
              <a:spcAft>
                <a:spcPts val="600"/>
              </a:spcAft>
            </a:pPr>
            <a:r>
              <a:rPr sz="1200" b="0">
                <a:solidFill>
                  <a:srgbClr val="1A1F2E"/>
                </a:solidFill>
                <a:latin typeface="Calibri"/>
              </a:rPr>
              <a:t>Feeding those back in would raise every number in this thesis and predict nothing anyone can act on. They are excluded by design, and that constraint is the central claim of the 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Why This Problem Is Hard</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One number shapes every methodological decision in this thesis</a:t>
            </a:r>
            <a:endParaRPr lang="en-US" sz="1400" dirty="0"/>
          </a:p>
        </p:txBody>
      </p:sp>
      <p:sp>
        <p:nvSpPr>
          <p:cNvPr id="4" name="Shape 2"/>
          <p:cNvSpPr/>
          <p:nvPr/>
        </p:nvSpPr>
        <p:spPr>
          <a:xfrm>
            <a:off x="457200" y="1463040"/>
            <a:ext cx="3703320" cy="2194560"/>
          </a:xfrm>
          <a:prstGeom prst="rect">
            <a:avLst/>
          </a:prstGeom>
          <a:solidFill>
            <a:srgbClr val="F7F9FB"/>
          </a:solidFill>
          <a:ln w="12700">
            <a:solidFill>
              <a:srgbClr val="C8463D"/>
            </a:solidFill>
            <a:prstDash val="solid"/>
          </a:ln>
          <a:effectLst>
            <a:outerShdw blurRad="101600" dist="25400" dir="5400000" algn="bl" rotWithShape="0">
              <a:srgbClr val="000000">
                <a:alpha val="8000"/>
              </a:srgbClr>
            </a:outerShdw>
          </a:effectLst>
        </p:spPr>
        <p:txBody>
          <a:bodyPr/>
          <a:lstStyle/>
          <a:p>
            <a:endParaRPr lang="en-US"/>
          </a:p>
        </p:txBody>
      </p:sp>
      <p:sp>
        <p:nvSpPr>
          <p:cNvPr id="5" name="Shape 3"/>
          <p:cNvSpPr/>
          <p:nvPr/>
        </p:nvSpPr>
        <p:spPr>
          <a:xfrm>
            <a:off x="457200" y="1463040"/>
            <a:ext cx="3703320" cy="73152"/>
          </a:xfrm>
          <a:prstGeom prst="rect">
            <a:avLst/>
          </a:prstGeom>
          <a:solidFill>
            <a:srgbClr val="C8463D"/>
          </a:solidFill>
          <a:ln w="12700">
            <a:solidFill>
              <a:srgbClr val="C8463D"/>
            </a:solidFill>
            <a:prstDash val="solid"/>
          </a:ln>
        </p:spPr>
        <p:txBody>
          <a:bodyPr/>
          <a:lstStyle/>
          <a:p>
            <a:endParaRPr lang="en-US"/>
          </a:p>
        </p:txBody>
      </p:sp>
      <p:sp>
        <p:nvSpPr>
          <p:cNvPr id="6" name="Text 4"/>
          <p:cNvSpPr/>
          <p:nvPr/>
        </p:nvSpPr>
        <p:spPr>
          <a:xfrm>
            <a:off x="457200" y="1691640"/>
            <a:ext cx="3703320" cy="822960"/>
          </a:xfrm>
          <a:prstGeom prst="rect">
            <a:avLst/>
          </a:prstGeom>
          <a:noFill/>
          <a:ln/>
        </p:spPr>
        <p:txBody>
          <a:bodyPr wrap="square" lIns="0" tIns="0" rIns="0" bIns="0" rtlCol="0" anchor="ctr"/>
          <a:lstStyle/>
          <a:p>
            <a:pPr marL="0" indent="0" algn="ctr">
              <a:buNone/>
            </a:pPr>
            <a:r>
              <a:rPr lang="en-US" sz="4400" b="1" dirty="0">
                <a:solidFill>
                  <a:srgbClr val="C8463D"/>
                </a:solidFill>
                <a:latin typeface="Calibri" pitchFamily="34" charset="0"/>
                <a:ea typeface="Calibri" pitchFamily="34" charset="-122"/>
                <a:cs typeface="Calibri" pitchFamily="34" charset="-120"/>
              </a:rPr>
              <a:t>89%</a:t>
            </a:r>
            <a:endParaRPr lang="en-US" sz="4400" dirty="0"/>
          </a:p>
        </p:txBody>
      </p:sp>
      <p:sp>
        <p:nvSpPr>
          <p:cNvPr id="7" name="Text 5"/>
          <p:cNvSpPr/>
          <p:nvPr/>
        </p:nvSpPr>
        <p:spPr>
          <a:xfrm>
            <a:off x="640080" y="2606040"/>
            <a:ext cx="3337560" cy="365760"/>
          </a:xfrm>
          <a:prstGeom prst="rect">
            <a:avLst/>
          </a:prstGeom>
          <a:noFill/>
          <a:ln/>
        </p:spPr>
        <p:txBody>
          <a:bodyPr wrap="square" lIns="0" tIns="0" rIns="0" bIns="0" rtlCol="0" anchor="ctr"/>
          <a:lstStyle/>
          <a:p>
            <a:pPr marL="0" indent="0" algn="ctr">
              <a:buNone/>
            </a:pPr>
            <a:r>
              <a:rPr lang="en-US" sz="1400" b="1" dirty="0">
                <a:solidFill>
                  <a:srgbClr val="1A1F2E"/>
                </a:solidFill>
                <a:latin typeface="Calibri" pitchFamily="34" charset="0"/>
                <a:ea typeface="Calibri" pitchFamily="34" charset="-122"/>
                <a:cs typeface="Calibri" pitchFamily="34" charset="-120"/>
              </a:rPr>
              <a:t>of runs simply succeed</a:t>
            </a:r>
            <a:endParaRPr lang="en-US" sz="1400" dirty="0"/>
          </a:p>
        </p:txBody>
      </p:sp>
      <p:sp>
        <p:nvSpPr>
          <p:cNvPr id="8" name="Text 6"/>
          <p:cNvSpPr/>
          <p:nvPr/>
        </p:nvSpPr>
        <p:spPr>
          <a:xfrm>
            <a:off x="640080" y="3017520"/>
            <a:ext cx="3337560" cy="548640"/>
          </a:xfrm>
          <a:prstGeom prst="rect">
            <a:avLst/>
          </a:prstGeom>
          <a:noFill/>
          <a:ln/>
        </p:spPr>
        <p:txBody>
          <a:bodyPr wrap="square" lIns="0" tIns="0" rIns="0" bIns="0" rtlCol="0" anchor="ctr"/>
          <a:lstStyle/>
          <a:p>
            <a:pPr marL="0" indent="0" algn="ctr">
              <a:buNone/>
            </a:pPr>
            <a:r>
              <a:rPr lang="en-US" sz="1100" i="1" dirty="0">
                <a:solidFill>
                  <a:srgbClr val="5A6470"/>
                </a:solidFill>
                <a:latin typeface="Calibri" pitchFamily="34" charset="0"/>
                <a:ea typeface="Calibri" pitchFamily="34" charset="-122"/>
                <a:cs typeface="Calibri" pitchFamily="34" charset="-120"/>
              </a:rPr>
              <a:t>so guessing "it will pass" is already right 89% of the time</a:t>
            </a:r>
            <a:endParaRPr lang="en-US" sz="1100" dirty="0"/>
          </a:p>
        </p:txBody>
      </p:sp>
      <p:sp>
        <p:nvSpPr>
          <p:cNvPr id="9" name="Shape 7"/>
          <p:cNvSpPr/>
          <p:nvPr/>
        </p:nvSpPr>
        <p:spPr>
          <a:xfrm>
            <a:off x="4389120" y="1463040"/>
            <a:ext cx="3703320" cy="2194560"/>
          </a:xfrm>
          <a:prstGeom prst="rect">
            <a:avLst/>
          </a:prstGeom>
          <a:solidFill>
            <a:srgbClr val="F7F9FB"/>
          </a:solidFill>
          <a:ln w="12700">
            <a:solidFill>
              <a:srgbClr val="D4922A"/>
            </a:solidFill>
            <a:prstDash val="solid"/>
          </a:ln>
          <a:effectLst>
            <a:outerShdw blurRad="101600" dist="25400" dir="5400000" algn="bl" rotWithShape="0">
              <a:srgbClr val="000000">
                <a:alpha val="8000"/>
              </a:srgbClr>
            </a:outerShdw>
          </a:effectLst>
        </p:spPr>
        <p:txBody>
          <a:bodyPr/>
          <a:lstStyle/>
          <a:p>
            <a:endParaRPr lang="en-US"/>
          </a:p>
        </p:txBody>
      </p:sp>
      <p:sp>
        <p:nvSpPr>
          <p:cNvPr id="10" name="Shape 8"/>
          <p:cNvSpPr/>
          <p:nvPr/>
        </p:nvSpPr>
        <p:spPr>
          <a:xfrm>
            <a:off x="4389120" y="1463040"/>
            <a:ext cx="3703320" cy="73152"/>
          </a:xfrm>
          <a:prstGeom prst="rect">
            <a:avLst/>
          </a:prstGeom>
          <a:solidFill>
            <a:srgbClr val="D4922A"/>
          </a:solidFill>
          <a:ln w="12700">
            <a:solidFill>
              <a:srgbClr val="D4922A"/>
            </a:solidFill>
            <a:prstDash val="solid"/>
          </a:ln>
        </p:spPr>
        <p:txBody>
          <a:bodyPr/>
          <a:lstStyle/>
          <a:p>
            <a:endParaRPr lang="en-US"/>
          </a:p>
        </p:txBody>
      </p:sp>
      <p:sp>
        <p:nvSpPr>
          <p:cNvPr id="11" name="Text 9"/>
          <p:cNvSpPr/>
          <p:nvPr/>
        </p:nvSpPr>
        <p:spPr>
          <a:xfrm>
            <a:off x="4389120" y="1691640"/>
            <a:ext cx="3703320" cy="822960"/>
          </a:xfrm>
          <a:prstGeom prst="rect">
            <a:avLst/>
          </a:prstGeom>
          <a:noFill/>
          <a:ln/>
        </p:spPr>
        <p:txBody>
          <a:bodyPr wrap="square" lIns="0" tIns="0" rIns="0" bIns="0" rtlCol="0" anchor="ctr"/>
          <a:lstStyle/>
          <a:p>
            <a:pPr marL="0" indent="0" algn="ctr">
              <a:buNone/>
            </a:pPr>
            <a:r>
              <a:rPr lang="en-US" sz="4400" b="1" dirty="0">
                <a:solidFill>
                  <a:srgbClr val="D4922A"/>
                </a:solidFill>
                <a:latin typeface="Calibri" pitchFamily="34" charset="0"/>
                <a:ea typeface="Calibri" pitchFamily="34" charset="-122"/>
                <a:cs typeface="Calibri" pitchFamily="34" charset="-120"/>
              </a:rPr>
              <a:t>11%</a:t>
            </a:r>
            <a:endParaRPr lang="en-US" sz="4400" dirty="0"/>
          </a:p>
        </p:txBody>
      </p:sp>
      <p:sp>
        <p:nvSpPr>
          <p:cNvPr id="12" name="Text 10"/>
          <p:cNvSpPr/>
          <p:nvPr/>
        </p:nvSpPr>
        <p:spPr>
          <a:xfrm>
            <a:off x="4572000" y="2606040"/>
            <a:ext cx="3337560" cy="365760"/>
          </a:xfrm>
          <a:prstGeom prst="rect">
            <a:avLst/>
          </a:prstGeom>
          <a:noFill/>
          <a:ln/>
        </p:spPr>
        <p:txBody>
          <a:bodyPr wrap="square" lIns="0" tIns="0" rIns="0" bIns="0" rtlCol="0" anchor="ctr"/>
          <a:lstStyle/>
          <a:p>
            <a:pPr marL="0" indent="0" algn="ctr">
              <a:buNone/>
            </a:pPr>
            <a:r>
              <a:rPr lang="en-US" sz="1400" b="1" dirty="0">
                <a:solidFill>
                  <a:srgbClr val="1A1F2E"/>
                </a:solidFill>
                <a:latin typeface="Calibri" pitchFamily="34" charset="0"/>
                <a:ea typeface="Calibri" pitchFamily="34" charset="-122"/>
                <a:cs typeface="Calibri" pitchFamily="34" charset="-120"/>
              </a:rPr>
              <a:t>actually fail</a:t>
            </a:r>
            <a:endParaRPr lang="en-US" sz="1400" dirty="0"/>
          </a:p>
        </p:txBody>
      </p:sp>
      <p:sp>
        <p:nvSpPr>
          <p:cNvPr id="13" name="Text 11"/>
          <p:cNvSpPr/>
          <p:nvPr/>
        </p:nvSpPr>
        <p:spPr>
          <a:xfrm>
            <a:off x="4572000" y="3017520"/>
            <a:ext cx="3337560" cy="548640"/>
          </a:xfrm>
          <a:prstGeom prst="rect">
            <a:avLst/>
          </a:prstGeom>
          <a:noFill/>
          <a:ln/>
        </p:spPr>
        <p:txBody>
          <a:bodyPr wrap="square" lIns="0" tIns="0" rIns="0" bIns="0" rtlCol="0" anchor="ctr"/>
          <a:lstStyle/>
          <a:p>
            <a:pPr marL="0" indent="0" algn="ctr">
              <a:buNone/>
            </a:pPr>
            <a:r>
              <a:rPr lang="en-US" sz="1100" i="1" dirty="0">
                <a:solidFill>
                  <a:srgbClr val="5A6470"/>
                </a:solidFill>
                <a:latin typeface="Calibri" pitchFamily="34" charset="0"/>
                <a:ea typeface="Calibri" pitchFamily="34" charset="-122"/>
                <a:cs typeface="Calibri" pitchFamily="34" charset="-120"/>
              </a:rPr>
              <a:t>1,072 failures out of 9,772 collected runs</a:t>
            </a:r>
            <a:endParaRPr lang="en-US" sz="1100" dirty="0"/>
          </a:p>
        </p:txBody>
      </p:sp>
      <p:sp>
        <p:nvSpPr>
          <p:cNvPr id="14" name="Shape 12"/>
          <p:cNvSpPr/>
          <p:nvPr/>
        </p:nvSpPr>
        <p:spPr>
          <a:xfrm>
            <a:off x="8321040" y="1463040"/>
            <a:ext cx="3703320" cy="2194560"/>
          </a:xfrm>
          <a:prstGeom prst="rect">
            <a:avLst/>
          </a:prstGeom>
          <a:solidFill>
            <a:srgbClr val="F7F9FB"/>
          </a:solidFill>
          <a:ln w="12700">
            <a:solidFill>
              <a:srgbClr val="1C7293"/>
            </a:solidFill>
            <a:prstDash val="solid"/>
          </a:ln>
          <a:effectLst>
            <a:outerShdw blurRad="101600" dist="25400" dir="5400000" algn="bl" rotWithShape="0">
              <a:srgbClr val="000000">
                <a:alpha val="8000"/>
              </a:srgbClr>
            </a:outerShdw>
          </a:effectLst>
        </p:spPr>
        <p:txBody>
          <a:bodyPr/>
          <a:lstStyle/>
          <a:p>
            <a:endParaRPr lang="en-US"/>
          </a:p>
        </p:txBody>
      </p:sp>
      <p:sp>
        <p:nvSpPr>
          <p:cNvPr id="15" name="Shape 13"/>
          <p:cNvSpPr/>
          <p:nvPr/>
        </p:nvSpPr>
        <p:spPr>
          <a:xfrm>
            <a:off x="8321040" y="1463040"/>
            <a:ext cx="3703320" cy="73152"/>
          </a:xfrm>
          <a:prstGeom prst="rect">
            <a:avLst/>
          </a:prstGeom>
          <a:solidFill>
            <a:srgbClr val="1C7293"/>
          </a:solidFill>
          <a:ln w="12700">
            <a:solidFill>
              <a:srgbClr val="1C7293"/>
            </a:solidFill>
            <a:prstDash val="solid"/>
          </a:ln>
        </p:spPr>
        <p:txBody>
          <a:bodyPr/>
          <a:lstStyle/>
          <a:p>
            <a:endParaRPr lang="en-US"/>
          </a:p>
        </p:txBody>
      </p:sp>
      <p:sp>
        <p:nvSpPr>
          <p:cNvPr id="16" name="Text 14"/>
          <p:cNvSpPr/>
          <p:nvPr/>
        </p:nvSpPr>
        <p:spPr>
          <a:xfrm>
            <a:off x="8321040" y="1691640"/>
            <a:ext cx="3703320" cy="822960"/>
          </a:xfrm>
          <a:prstGeom prst="rect">
            <a:avLst/>
          </a:prstGeom>
          <a:noFill/>
          <a:ln/>
        </p:spPr>
        <p:txBody>
          <a:bodyPr wrap="square" lIns="0" tIns="0" rIns="0" bIns="0" rtlCol="0" anchor="ctr"/>
          <a:lstStyle/>
          <a:p>
            <a:pPr marL="0" indent="0" algn="ctr">
              <a:buNone/>
            </a:pPr>
            <a:r>
              <a:rPr lang="en-US" sz="4400" b="1" dirty="0">
                <a:solidFill>
                  <a:srgbClr val="1C7293"/>
                </a:solidFill>
                <a:latin typeface="Calibri" pitchFamily="34" charset="0"/>
                <a:ea typeface="Calibri" pitchFamily="34" charset="-122"/>
                <a:cs typeface="Calibri" pitchFamily="34" charset="-120"/>
              </a:rPr>
              <a:t>3.45</a:t>
            </a:r>
            <a:endParaRPr lang="en-US" sz="4400" dirty="0"/>
          </a:p>
        </p:txBody>
      </p:sp>
      <p:sp>
        <p:nvSpPr>
          <p:cNvPr id="17" name="Text 15"/>
          <p:cNvSpPr/>
          <p:nvPr/>
        </p:nvSpPr>
        <p:spPr>
          <a:xfrm>
            <a:off x="8503920" y="2606040"/>
            <a:ext cx="3337560" cy="365760"/>
          </a:xfrm>
          <a:prstGeom prst="rect">
            <a:avLst/>
          </a:prstGeom>
          <a:noFill/>
          <a:ln/>
        </p:spPr>
        <p:txBody>
          <a:bodyPr wrap="square" lIns="0" tIns="0" rIns="0" bIns="0" rtlCol="0" anchor="ctr"/>
          <a:lstStyle/>
          <a:p>
            <a:pPr marL="0" indent="0" algn="ctr">
              <a:buNone/>
            </a:pPr>
            <a:r>
              <a:rPr lang="en-US" sz="1400" b="1" dirty="0">
                <a:solidFill>
                  <a:srgbClr val="1A1F2E"/>
                </a:solidFill>
                <a:latin typeface="Calibri" pitchFamily="34" charset="0"/>
                <a:ea typeface="Calibri" pitchFamily="34" charset="-122"/>
                <a:cs typeface="Calibri" pitchFamily="34" charset="-120"/>
              </a:rPr>
              <a:t>runs per commit</a:t>
            </a:r>
            <a:endParaRPr lang="en-US" sz="1400" dirty="0"/>
          </a:p>
        </p:txBody>
      </p:sp>
      <p:sp>
        <p:nvSpPr>
          <p:cNvPr id="18" name="Text 16"/>
          <p:cNvSpPr/>
          <p:nvPr/>
        </p:nvSpPr>
        <p:spPr>
          <a:xfrm>
            <a:off x="8503920" y="3017520"/>
            <a:ext cx="3337560" cy="548640"/>
          </a:xfrm>
          <a:prstGeom prst="rect">
            <a:avLst/>
          </a:prstGeom>
          <a:noFill/>
          <a:ln/>
        </p:spPr>
        <p:txBody>
          <a:bodyPr wrap="square" lIns="0" tIns="0" rIns="0" bIns="0" rtlCol="0" anchor="ctr"/>
          <a:lstStyle/>
          <a:p>
            <a:pPr marL="0" indent="0" algn="ctr">
              <a:buNone/>
            </a:pPr>
            <a:r>
              <a:rPr lang="en-US" sz="1100" i="1" dirty="0">
                <a:solidFill>
                  <a:srgbClr val="5A6470"/>
                </a:solidFill>
                <a:latin typeface="Calibri" pitchFamily="34" charset="0"/>
                <a:ea typeface="Calibri" pitchFamily="34" charset="-122"/>
                <a:cs typeface="Calibri" pitchFamily="34" charset="-120"/>
              </a:rPr>
              <a:t>one saved change triggers many checks — this matters later</a:t>
            </a:r>
            <a:endParaRPr lang="en-US" sz="1100" dirty="0"/>
          </a:p>
        </p:txBody>
      </p:sp>
      <p:sp>
        <p:nvSpPr>
          <p:cNvPr id="19" name="Shape 17"/>
          <p:cNvSpPr/>
          <p:nvPr/>
        </p:nvSpPr>
        <p:spPr>
          <a:xfrm>
            <a:off x="457200" y="4023360"/>
            <a:ext cx="11338560" cy="1920240"/>
          </a:xfrm>
          <a:prstGeom prst="rect">
            <a:avLst/>
          </a:prstGeom>
          <a:solidFill>
            <a:srgbClr val="21295C"/>
          </a:solidFill>
          <a:ln w="12700">
            <a:solidFill>
              <a:srgbClr val="21295C"/>
            </a:solidFill>
            <a:prstDash val="solid"/>
          </a:ln>
        </p:spPr>
        <p:txBody>
          <a:bodyPr/>
          <a:lstStyle/>
          <a:p>
            <a:endParaRPr lang="en-US"/>
          </a:p>
        </p:txBody>
      </p:sp>
      <p:sp>
        <p:nvSpPr>
          <p:cNvPr id="20" name="Text 18"/>
          <p:cNvSpPr/>
          <p:nvPr/>
        </p:nvSpPr>
        <p:spPr>
          <a:xfrm>
            <a:off x="731520" y="4160520"/>
            <a:ext cx="10607040" cy="365760"/>
          </a:xfrm>
          <a:prstGeom prst="rect">
            <a:avLst/>
          </a:prstGeom>
          <a:noFill/>
          <a:ln/>
        </p:spPr>
        <p:txBody>
          <a:bodyPr wrap="square" lIns="0" tIns="0" rIns="0" bIns="0" rtlCol="0" anchor="ctr"/>
          <a:lstStyle/>
          <a:p>
            <a:pPr marL="0" indent="0">
              <a:buNone/>
            </a:pPr>
            <a:r>
              <a:rPr lang="en-US" sz="1600" b="1" dirty="0">
                <a:solidFill>
                  <a:srgbClr val="00C9B7"/>
                </a:solidFill>
                <a:latin typeface="Calibri" pitchFamily="34" charset="0"/>
                <a:ea typeface="Calibri" pitchFamily="34" charset="-122"/>
                <a:cs typeface="Calibri" pitchFamily="34" charset="-120"/>
              </a:rPr>
              <a:t>Why Accuracy Is The Wrong Measure Here</a:t>
            </a:r>
            <a:endParaRPr lang="en-US" sz="1600" dirty="0"/>
          </a:p>
        </p:txBody>
      </p:sp>
      <p:sp>
        <p:nvSpPr>
          <p:cNvPr id="21" name="Text 19"/>
          <p:cNvSpPr/>
          <p:nvPr/>
        </p:nvSpPr>
        <p:spPr>
          <a:xfrm>
            <a:off x="731520" y="4572000"/>
            <a:ext cx="10698480" cy="12801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 model that predicts </a:t>
            </a:r>
            <a:r>
              <a:rPr lang="en-US" sz="1500" b="1" dirty="0">
                <a:solidFill>
                  <a:srgbClr val="FFFFFF"/>
                </a:solidFill>
                <a:latin typeface="Calibri" pitchFamily="34" charset="0"/>
                <a:ea typeface="Calibri" pitchFamily="34" charset="-122"/>
                <a:cs typeface="Calibri" pitchFamily="34" charset="-120"/>
              </a:rPr>
              <a:t>"success" every single time</a:t>
            </a:r>
            <a:r>
              <a:rPr lang="en-US" sz="1500" dirty="0">
                <a:solidFill>
                  <a:srgbClr val="FFFFFF"/>
                </a:solidFill>
                <a:latin typeface="Calibri" pitchFamily="34" charset="0"/>
                <a:ea typeface="Calibri" pitchFamily="34" charset="-122"/>
                <a:cs typeface="Calibri" pitchFamily="34" charset="-120"/>
              </a:rPr>
              <a:t> scores </a:t>
            </a:r>
            <a:r>
              <a:rPr lang="en-US" sz="1500" b="1" dirty="0">
                <a:solidFill>
                  <a:srgbClr val="00C9B7"/>
                </a:solidFill>
                <a:latin typeface="Calibri" pitchFamily="34" charset="0"/>
                <a:ea typeface="Calibri" pitchFamily="34" charset="-122"/>
                <a:cs typeface="Calibri" pitchFamily="34" charset="-120"/>
              </a:rPr>
              <a:t>89% accuracy</a:t>
            </a:r>
            <a:r>
              <a:rPr lang="en-US" sz="1500" dirty="0">
                <a:solidFill>
                  <a:srgbClr val="FFFFFF"/>
                </a:solidFill>
                <a:latin typeface="Calibri" pitchFamily="34" charset="0"/>
                <a:ea typeface="Calibri" pitchFamily="34" charset="-122"/>
                <a:cs typeface="Calibri" pitchFamily="34" charset="-120"/>
              </a:rPr>
              <a:t> and has learned absolutely nothing. This thesis therefore reports </a:t>
            </a:r>
            <a:r>
              <a:rPr lang="en-US" sz="1500" b="1" dirty="0">
                <a:solidFill>
                  <a:srgbClr val="FFFFFF"/>
                </a:solidFill>
                <a:latin typeface="Calibri" pitchFamily="34" charset="0"/>
                <a:ea typeface="Calibri" pitchFamily="34" charset="-122"/>
                <a:cs typeface="Calibri" pitchFamily="34" charset="-120"/>
              </a:rPr>
              <a:t>F1 on the failure class, which rewards only catching failures.</a:t>
            </a:r>
            <a:endParaRPr lang="en-US" sz="1500" dirty="0"/>
          </a:p>
        </p:txBody>
      </p:sp>
      <p:sp>
        <p:nvSpPr>
          <p:cNvPr id="22" name="Text 20"/>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3" name="Text 21"/>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5 / 29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The Problem</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CI/CD failures are expensive — in time and money</a:t>
            </a:r>
            <a:endParaRPr lang="en-US" sz="1400" dirty="0"/>
          </a:p>
        </p:txBody>
      </p:sp>
      <p:sp>
        <p:nvSpPr>
          <p:cNvPr id="4" name="Shape 2"/>
          <p:cNvSpPr/>
          <p:nvPr/>
        </p:nvSpPr>
        <p:spPr>
          <a:xfrm>
            <a:off x="457200" y="1463040"/>
            <a:ext cx="3703320" cy="2194560"/>
          </a:xfrm>
          <a:prstGeom prst="rect">
            <a:avLst/>
          </a:prstGeom>
          <a:solidFill>
            <a:srgbClr val="F7F9FB"/>
          </a:solidFill>
          <a:ln w="12700">
            <a:solidFill>
              <a:srgbClr val="C8463D"/>
            </a:solidFill>
            <a:prstDash val="solid"/>
          </a:ln>
          <a:effectLst>
            <a:outerShdw blurRad="101600" dist="25400" dir="5400000" algn="bl" rotWithShape="0">
              <a:srgbClr val="000000">
                <a:alpha val="8000"/>
              </a:srgbClr>
            </a:outerShdw>
          </a:effectLst>
        </p:spPr>
        <p:txBody>
          <a:bodyPr/>
          <a:lstStyle/>
          <a:p>
            <a:endParaRPr lang="en-US"/>
          </a:p>
        </p:txBody>
      </p:sp>
      <p:sp>
        <p:nvSpPr>
          <p:cNvPr id="5" name="Shape 3"/>
          <p:cNvSpPr/>
          <p:nvPr/>
        </p:nvSpPr>
        <p:spPr>
          <a:xfrm>
            <a:off x="457200" y="1463040"/>
            <a:ext cx="3703320" cy="73152"/>
          </a:xfrm>
          <a:prstGeom prst="rect">
            <a:avLst/>
          </a:prstGeom>
          <a:solidFill>
            <a:srgbClr val="C8463D"/>
          </a:solidFill>
          <a:ln w="12700">
            <a:solidFill>
              <a:srgbClr val="C8463D"/>
            </a:solidFill>
            <a:prstDash val="solid"/>
          </a:ln>
        </p:spPr>
        <p:txBody>
          <a:bodyPr/>
          <a:lstStyle/>
          <a:p>
            <a:endParaRPr lang="en-US"/>
          </a:p>
        </p:txBody>
      </p:sp>
      <p:sp>
        <p:nvSpPr>
          <p:cNvPr id="6" name="Text 4"/>
          <p:cNvSpPr/>
          <p:nvPr/>
        </p:nvSpPr>
        <p:spPr>
          <a:xfrm>
            <a:off x="457200" y="1691640"/>
            <a:ext cx="3703320" cy="822960"/>
          </a:xfrm>
          <a:prstGeom prst="rect">
            <a:avLst/>
          </a:prstGeom>
          <a:noFill/>
          <a:ln/>
        </p:spPr>
        <p:txBody>
          <a:bodyPr wrap="square" lIns="0" tIns="0" rIns="0" bIns="0" rtlCol="0" anchor="ctr"/>
          <a:lstStyle/>
          <a:p>
            <a:pPr marL="0" indent="0" algn="ctr">
              <a:buNone/>
            </a:pPr>
            <a:r>
              <a:rPr lang="en-US" sz="4400" b="1" dirty="0">
                <a:solidFill>
                  <a:srgbClr val="C8463D"/>
                </a:solidFill>
                <a:latin typeface="Calibri" pitchFamily="34" charset="0"/>
                <a:ea typeface="Calibri" pitchFamily="34" charset="-122"/>
                <a:cs typeface="Calibri" pitchFamily="34" charset="-120"/>
              </a:rPr>
              <a:t>11%</a:t>
            </a:r>
            <a:endParaRPr lang="en-US" sz="4400" dirty="0"/>
          </a:p>
        </p:txBody>
      </p:sp>
      <p:sp>
        <p:nvSpPr>
          <p:cNvPr id="7" name="Text 5"/>
          <p:cNvSpPr/>
          <p:nvPr/>
        </p:nvSpPr>
        <p:spPr>
          <a:xfrm>
            <a:off x="640080" y="2606040"/>
            <a:ext cx="3337560" cy="365760"/>
          </a:xfrm>
          <a:prstGeom prst="rect">
            <a:avLst/>
          </a:prstGeom>
          <a:noFill/>
          <a:ln/>
        </p:spPr>
        <p:txBody>
          <a:bodyPr wrap="square" lIns="0" tIns="0" rIns="0" bIns="0" rtlCol="0" anchor="ctr"/>
          <a:lstStyle/>
          <a:p>
            <a:pPr marL="0" indent="0" algn="ctr">
              <a:buNone/>
            </a:pPr>
            <a:r>
              <a:rPr lang="en-US" sz="1400" b="1" dirty="0">
                <a:solidFill>
                  <a:srgbClr val="1A1F2E"/>
                </a:solidFill>
                <a:latin typeface="Calibri" pitchFamily="34" charset="0"/>
                <a:ea typeface="Calibri" pitchFamily="34" charset="-122"/>
                <a:cs typeface="Calibri" pitchFamily="34" charset="-120"/>
              </a:rPr>
              <a:t>of all GitHub Actions runs</a:t>
            </a:r>
            <a:endParaRPr lang="en-US" sz="1400" dirty="0"/>
          </a:p>
        </p:txBody>
      </p:sp>
      <p:sp>
        <p:nvSpPr>
          <p:cNvPr id="8" name="Text 6"/>
          <p:cNvSpPr/>
          <p:nvPr/>
        </p:nvSpPr>
        <p:spPr>
          <a:xfrm>
            <a:off x="640080" y="3017520"/>
            <a:ext cx="3337560" cy="548640"/>
          </a:xfrm>
          <a:prstGeom prst="rect">
            <a:avLst/>
          </a:prstGeom>
          <a:noFill/>
          <a:ln/>
        </p:spPr>
        <p:txBody>
          <a:bodyPr wrap="square" lIns="0" tIns="0" rIns="0" bIns="0" rtlCol="0" anchor="ctr"/>
          <a:lstStyle/>
          <a:p>
            <a:pPr marL="0" indent="0" algn="ctr">
              <a:buNone/>
            </a:pPr>
            <a:r>
              <a:rPr lang="en-US" sz="1100" i="1" dirty="0">
                <a:solidFill>
                  <a:srgbClr val="5A6470"/>
                </a:solidFill>
                <a:latin typeface="Calibri" pitchFamily="34" charset="0"/>
                <a:ea typeface="Calibri" pitchFamily="34" charset="-122"/>
                <a:cs typeface="Calibri" pitchFamily="34" charset="-120"/>
              </a:rPr>
              <a:t>end in failure (observed in our dataset)</a:t>
            </a:r>
            <a:endParaRPr lang="en-US" sz="1100" dirty="0"/>
          </a:p>
        </p:txBody>
      </p:sp>
      <p:sp>
        <p:nvSpPr>
          <p:cNvPr id="9" name="Shape 7"/>
          <p:cNvSpPr/>
          <p:nvPr/>
        </p:nvSpPr>
        <p:spPr>
          <a:xfrm>
            <a:off x="4389120" y="1463040"/>
            <a:ext cx="3703320" cy="2194560"/>
          </a:xfrm>
          <a:prstGeom prst="rect">
            <a:avLst/>
          </a:prstGeom>
          <a:solidFill>
            <a:srgbClr val="F7F9FB"/>
          </a:solidFill>
          <a:ln w="12700">
            <a:solidFill>
              <a:srgbClr val="D4922A"/>
            </a:solidFill>
            <a:prstDash val="solid"/>
          </a:ln>
          <a:effectLst>
            <a:outerShdw blurRad="101600" dist="25400" dir="5400000" algn="bl" rotWithShape="0">
              <a:srgbClr val="000000">
                <a:alpha val="8000"/>
              </a:srgbClr>
            </a:outerShdw>
          </a:effectLst>
        </p:spPr>
        <p:txBody>
          <a:bodyPr/>
          <a:lstStyle/>
          <a:p>
            <a:endParaRPr lang="en-US"/>
          </a:p>
        </p:txBody>
      </p:sp>
      <p:sp>
        <p:nvSpPr>
          <p:cNvPr id="10" name="Shape 8"/>
          <p:cNvSpPr/>
          <p:nvPr/>
        </p:nvSpPr>
        <p:spPr>
          <a:xfrm>
            <a:off x="4389120" y="1463040"/>
            <a:ext cx="3703320" cy="73152"/>
          </a:xfrm>
          <a:prstGeom prst="rect">
            <a:avLst/>
          </a:prstGeom>
          <a:solidFill>
            <a:srgbClr val="D4922A"/>
          </a:solidFill>
          <a:ln w="12700">
            <a:solidFill>
              <a:srgbClr val="D4922A"/>
            </a:solidFill>
            <a:prstDash val="solid"/>
          </a:ln>
        </p:spPr>
        <p:txBody>
          <a:bodyPr/>
          <a:lstStyle/>
          <a:p>
            <a:endParaRPr lang="en-US"/>
          </a:p>
        </p:txBody>
      </p:sp>
      <p:sp>
        <p:nvSpPr>
          <p:cNvPr id="11" name="Text 9"/>
          <p:cNvSpPr/>
          <p:nvPr/>
        </p:nvSpPr>
        <p:spPr>
          <a:xfrm>
            <a:off x="4389120" y="1691640"/>
            <a:ext cx="3703320" cy="822960"/>
          </a:xfrm>
          <a:prstGeom prst="rect">
            <a:avLst/>
          </a:prstGeom>
          <a:noFill/>
          <a:ln/>
        </p:spPr>
        <p:txBody>
          <a:bodyPr wrap="square" lIns="0" tIns="0" rIns="0" bIns="0" rtlCol="0" anchor="ctr"/>
          <a:lstStyle/>
          <a:p>
            <a:pPr marL="0" indent="0" algn="ctr">
              <a:buNone/>
            </a:pPr>
            <a:r>
              <a:rPr lang="en-US" sz="4400" b="1" dirty="0">
                <a:solidFill>
                  <a:srgbClr val="D4922A"/>
                </a:solidFill>
                <a:latin typeface="Calibri" pitchFamily="34" charset="0"/>
                <a:ea typeface="Calibri" pitchFamily="34" charset="-122"/>
                <a:cs typeface="Calibri" pitchFamily="34" charset="-120"/>
              </a:rPr>
              <a:t>$0.008</a:t>
            </a:r>
            <a:endParaRPr lang="en-US" sz="4400" dirty="0"/>
          </a:p>
        </p:txBody>
      </p:sp>
      <p:sp>
        <p:nvSpPr>
          <p:cNvPr id="12" name="Text 10"/>
          <p:cNvSpPr/>
          <p:nvPr/>
        </p:nvSpPr>
        <p:spPr>
          <a:xfrm>
            <a:off x="4572000" y="2606040"/>
            <a:ext cx="3337560" cy="365760"/>
          </a:xfrm>
          <a:prstGeom prst="rect">
            <a:avLst/>
          </a:prstGeom>
          <a:noFill/>
          <a:ln/>
        </p:spPr>
        <p:txBody>
          <a:bodyPr wrap="square" lIns="0" tIns="0" rIns="0" bIns="0" rtlCol="0" anchor="ctr"/>
          <a:lstStyle/>
          <a:p>
            <a:pPr marL="0" indent="0" algn="ctr">
              <a:buNone/>
            </a:pPr>
            <a:r>
              <a:rPr lang="en-US" sz="1400" b="1" dirty="0">
                <a:solidFill>
                  <a:srgbClr val="1A1F2E"/>
                </a:solidFill>
                <a:latin typeface="Calibri" pitchFamily="34" charset="0"/>
                <a:ea typeface="Calibri" pitchFamily="34" charset="-122"/>
                <a:cs typeface="Calibri" pitchFamily="34" charset="-120"/>
              </a:rPr>
              <a:t>per minute</a:t>
            </a:r>
            <a:endParaRPr lang="en-US" sz="1400" dirty="0"/>
          </a:p>
        </p:txBody>
      </p:sp>
      <p:sp>
        <p:nvSpPr>
          <p:cNvPr id="13" name="Text 11"/>
          <p:cNvSpPr/>
          <p:nvPr/>
        </p:nvSpPr>
        <p:spPr>
          <a:xfrm>
            <a:off x="4572000" y="3017520"/>
            <a:ext cx="3337560" cy="548640"/>
          </a:xfrm>
          <a:prstGeom prst="rect">
            <a:avLst/>
          </a:prstGeom>
          <a:noFill/>
          <a:ln/>
        </p:spPr>
        <p:txBody>
          <a:bodyPr wrap="square" lIns="0" tIns="0" rIns="0" bIns="0" rtlCol="0" anchor="ctr"/>
          <a:lstStyle/>
          <a:p>
            <a:pPr marL="0" indent="0" algn="ctr">
              <a:buNone/>
            </a:pPr>
            <a:r>
              <a:rPr lang="en-US" sz="1100" i="1" dirty="0">
                <a:solidFill>
                  <a:srgbClr val="5A6470"/>
                </a:solidFill>
                <a:latin typeface="Calibri" pitchFamily="34" charset="0"/>
                <a:ea typeface="Calibri" pitchFamily="34" charset="-122"/>
                <a:cs typeface="Calibri" pitchFamily="34" charset="-120"/>
              </a:rPr>
              <a:t>GitHub Actions compute cost (Linux runner)</a:t>
            </a:r>
            <a:endParaRPr lang="en-US" sz="1100" dirty="0"/>
          </a:p>
        </p:txBody>
      </p:sp>
      <p:sp>
        <p:nvSpPr>
          <p:cNvPr id="14" name="Shape 12"/>
          <p:cNvSpPr/>
          <p:nvPr/>
        </p:nvSpPr>
        <p:spPr>
          <a:xfrm>
            <a:off x="8321040" y="1463040"/>
            <a:ext cx="3703320" cy="2194560"/>
          </a:xfrm>
          <a:prstGeom prst="rect">
            <a:avLst/>
          </a:prstGeom>
          <a:solidFill>
            <a:srgbClr val="F7F9FB"/>
          </a:solidFill>
          <a:ln w="12700">
            <a:solidFill>
              <a:srgbClr val="1C7293"/>
            </a:solidFill>
            <a:prstDash val="solid"/>
          </a:ln>
          <a:effectLst>
            <a:outerShdw blurRad="101600" dist="25400" dir="5400000" algn="bl" rotWithShape="0">
              <a:srgbClr val="000000">
                <a:alpha val="8000"/>
              </a:srgbClr>
            </a:outerShdw>
          </a:effectLst>
        </p:spPr>
        <p:txBody>
          <a:bodyPr/>
          <a:lstStyle/>
          <a:p>
            <a:endParaRPr lang="en-US"/>
          </a:p>
        </p:txBody>
      </p:sp>
      <p:sp>
        <p:nvSpPr>
          <p:cNvPr id="15" name="Shape 13"/>
          <p:cNvSpPr/>
          <p:nvPr/>
        </p:nvSpPr>
        <p:spPr>
          <a:xfrm>
            <a:off x="8321040" y="1463040"/>
            <a:ext cx="3703320" cy="73152"/>
          </a:xfrm>
          <a:prstGeom prst="rect">
            <a:avLst/>
          </a:prstGeom>
          <a:solidFill>
            <a:srgbClr val="1C7293"/>
          </a:solidFill>
          <a:ln w="12700">
            <a:solidFill>
              <a:srgbClr val="1C7293"/>
            </a:solidFill>
            <a:prstDash val="solid"/>
          </a:ln>
        </p:spPr>
        <p:txBody>
          <a:bodyPr/>
          <a:lstStyle/>
          <a:p>
            <a:endParaRPr lang="en-US"/>
          </a:p>
        </p:txBody>
      </p:sp>
      <p:sp>
        <p:nvSpPr>
          <p:cNvPr id="16" name="Text 14"/>
          <p:cNvSpPr/>
          <p:nvPr/>
        </p:nvSpPr>
        <p:spPr>
          <a:xfrm>
            <a:off x="8321040" y="1691640"/>
            <a:ext cx="3703320" cy="822960"/>
          </a:xfrm>
          <a:prstGeom prst="rect">
            <a:avLst/>
          </a:prstGeom>
          <a:noFill/>
          <a:ln/>
        </p:spPr>
        <p:txBody>
          <a:bodyPr wrap="square" lIns="0" tIns="0" rIns="0" bIns="0" rtlCol="0" anchor="ctr"/>
          <a:lstStyle/>
          <a:p>
            <a:pPr marL="0" indent="0" algn="ctr">
              <a:buNone/>
            </a:pPr>
            <a:r>
              <a:rPr lang="en-US" sz="4400" b="1" dirty="0">
                <a:solidFill>
                  <a:srgbClr val="1C7293"/>
                </a:solidFill>
                <a:latin typeface="Calibri" pitchFamily="34" charset="0"/>
                <a:ea typeface="Calibri" pitchFamily="34" charset="-122"/>
                <a:cs typeface="Calibri" pitchFamily="34" charset="-120"/>
              </a:rPr>
              <a:t>10–20 min</a:t>
            </a:r>
            <a:endParaRPr lang="en-US" sz="4400" dirty="0"/>
          </a:p>
        </p:txBody>
      </p:sp>
      <p:sp>
        <p:nvSpPr>
          <p:cNvPr id="17" name="Text 15"/>
          <p:cNvSpPr/>
          <p:nvPr/>
        </p:nvSpPr>
        <p:spPr>
          <a:xfrm>
            <a:off x="8503920" y="2606040"/>
            <a:ext cx="3337560" cy="365760"/>
          </a:xfrm>
          <a:prstGeom prst="rect">
            <a:avLst/>
          </a:prstGeom>
          <a:noFill/>
          <a:ln/>
        </p:spPr>
        <p:txBody>
          <a:bodyPr wrap="square" lIns="0" tIns="0" rIns="0" bIns="0" rtlCol="0" anchor="ctr"/>
          <a:lstStyle/>
          <a:p>
            <a:pPr marL="0" indent="0" algn="ctr">
              <a:buNone/>
            </a:pPr>
            <a:r>
              <a:rPr lang="en-US" sz="1400" b="1" dirty="0">
                <a:solidFill>
                  <a:srgbClr val="1A1F2E"/>
                </a:solidFill>
                <a:latin typeface="Calibri" pitchFamily="34" charset="0"/>
                <a:ea typeface="Calibri" pitchFamily="34" charset="-122"/>
                <a:cs typeface="Calibri" pitchFamily="34" charset="-120"/>
              </a:rPr>
              <a:t>developer interruption</a:t>
            </a:r>
            <a:endParaRPr lang="en-US" sz="1400" dirty="0"/>
          </a:p>
        </p:txBody>
      </p:sp>
      <p:sp>
        <p:nvSpPr>
          <p:cNvPr id="18" name="Text 16"/>
          <p:cNvSpPr/>
          <p:nvPr/>
        </p:nvSpPr>
        <p:spPr>
          <a:xfrm>
            <a:off x="8503920" y="3017520"/>
            <a:ext cx="3337560" cy="548640"/>
          </a:xfrm>
          <a:prstGeom prst="rect">
            <a:avLst/>
          </a:prstGeom>
          <a:noFill/>
          <a:ln/>
        </p:spPr>
        <p:txBody>
          <a:bodyPr wrap="square" lIns="0" tIns="0" rIns="0" bIns="0" rtlCol="0" anchor="ctr"/>
          <a:lstStyle/>
          <a:p>
            <a:pPr marL="0" indent="0" algn="ctr">
              <a:buNone/>
            </a:pPr>
            <a:r>
              <a:rPr lang="en-US" sz="1100" i="1" dirty="0">
                <a:solidFill>
                  <a:srgbClr val="5A6470"/>
                </a:solidFill>
                <a:latin typeface="Calibri" pitchFamily="34" charset="0"/>
                <a:ea typeface="Calibri" pitchFamily="34" charset="-122"/>
                <a:cs typeface="Calibri" pitchFamily="34" charset="-120"/>
              </a:rPr>
              <a:t>context-switch penalty per failure</a:t>
            </a:r>
            <a:endParaRPr lang="en-US" sz="1100" dirty="0"/>
          </a:p>
        </p:txBody>
      </p:sp>
      <p:sp>
        <p:nvSpPr>
          <p:cNvPr id="19" name="Shape 17"/>
          <p:cNvSpPr/>
          <p:nvPr/>
        </p:nvSpPr>
        <p:spPr>
          <a:xfrm>
            <a:off x="457200" y="4023360"/>
            <a:ext cx="11338560" cy="1920240"/>
          </a:xfrm>
          <a:prstGeom prst="rect">
            <a:avLst/>
          </a:prstGeom>
          <a:solidFill>
            <a:srgbClr val="21295C"/>
          </a:solidFill>
          <a:ln w="12700">
            <a:solidFill>
              <a:srgbClr val="21295C"/>
            </a:solidFill>
            <a:prstDash val="solid"/>
          </a:ln>
        </p:spPr>
        <p:txBody>
          <a:bodyPr/>
          <a:lstStyle/>
          <a:p>
            <a:endParaRPr lang="en-US"/>
          </a:p>
        </p:txBody>
      </p:sp>
      <p:sp>
        <p:nvSpPr>
          <p:cNvPr id="20" name="Text 18"/>
          <p:cNvSpPr/>
          <p:nvPr/>
        </p:nvSpPr>
        <p:spPr>
          <a:xfrm>
            <a:off x="731520" y="4160520"/>
            <a:ext cx="10607040" cy="365760"/>
          </a:xfrm>
          <a:prstGeom prst="rect">
            <a:avLst/>
          </a:prstGeom>
          <a:noFill/>
          <a:ln/>
        </p:spPr>
        <p:txBody>
          <a:bodyPr wrap="square" lIns="0" tIns="0" rIns="0" bIns="0" rtlCol="0" anchor="ctr"/>
          <a:lstStyle/>
          <a:p>
            <a:pPr marL="0" indent="0">
              <a:buNone/>
            </a:pPr>
            <a:r>
              <a:rPr lang="en-US" sz="1600" b="1" dirty="0">
                <a:solidFill>
                  <a:srgbClr val="00C9B7"/>
                </a:solidFill>
                <a:latin typeface="Calibri" pitchFamily="34" charset="0"/>
                <a:ea typeface="Calibri" pitchFamily="34" charset="-122"/>
                <a:cs typeface="Calibri" pitchFamily="34" charset="-120"/>
              </a:rPr>
              <a:t>The Cumulative Cost</a:t>
            </a:r>
            <a:endParaRPr lang="en-US" sz="1600" dirty="0"/>
          </a:p>
        </p:txBody>
      </p:sp>
      <p:sp>
        <p:nvSpPr>
          <p:cNvPr id="21" name="Text 19"/>
          <p:cNvSpPr/>
          <p:nvPr/>
        </p:nvSpPr>
        <p:spPr>
          <a:xfrm>
            <a:off x="731520" y="4572000"/>
            <a:ext cx="10698480" cy="12801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For a mid-sized organization running </a:t>
            </a:r>
            <a:r>
              <a:rPr lang="en-US" sz="1500" b="1" dirty="0">
                <a:solidFill>
                  <a:srgbClr val="FFFFFF"/>
                </a:solidFill>
                <a:latin typeface="Calibri" pitchFamily="34" charset="0"/>
                <a:ea typeface="Calibri" pitchFamily="34" charset="-122"/>
                <a:cs typeface="Calibri" pitchFamily="34" charset="-120"/>
              </a:rPr>
              <a:t>1,000 pipeline executions per day</a:t>
            </a:r>
            <a:r>
              <a:rPr lang="en-US" sz="1500" dirty="0">
                <a:solidFill>
                  <a:srgbClr val="FFFFFF"/>
                </a:solidFill>
                <a:latin typeface="Calibri" pitchFamily="34" charset="0"/>
                <a:ea typeface="Calibri" pitchFamily="34" charset="-122"/>
                <a:cs typeface="Calibri" pitchFamily="34" charset="-120"/>
              </a:rPr>
              <a:t>, that is approximately </a:t>
            </a:r>
            <a:r>
              <a:rPr lang="en-US" sz="1500" b="1" dirty="0">
                <a:solidFill>
                  <a:srgbClr val="00C9B7"/>
                </a:solidFill>
                <a:latin typeface="Calibri" pitchFamily="34" charset="0"/>
                <a:ea typeface="Calibri" pitchFamily="34" charset="-122"/>
                <a:cs typeface="Calibri" pitchFamily="34" charset="-120"/>
              </a:rPr>
              <a:t>110 failed builds daily</a:t>
            </a:r>
            <a:r>
              <a:rPr lang="en-US" sz="1500" dirty="0">
                <a:solidFill>
                  <a:srgbClr val="FFFFFF"/>
                </a:solidFill>
                <a:latin typeface="Calibri" pitchFamily="34" charset="0"/>
                <a:ea typeface="Calibri" pitchFamily="34" charset="-122"/>
                <a:cs typeface="Calibri" pitchFamily="34" charset="-120"/>
              </a:rPr>
              <a:t>, consuming compute resources and developer time that </a:t>
            </a:r>
            <a:r>
              <a:rPr lang="en-US" sz="1500" b="1" dirty="0">
                <a:solidFill>
                  <a:srgbClr val="FFFFFF"/>
                </a:solidFill>
                <a:latin typeface="Calibri" pitchFamily="34" charset="0"/>
                <a:ea typeface="Calibri" pitchFamily="34" charset="-122"/>
                <a:cs typeface="Calibri" pitchFamily="34" charset="-120"/>
              </a:rPr>
              <a:t>cannot be recovered after the fact.</a:t>
            </a:r>
            <a:endParaRPr lang="en-US" sz="1500" dirty="0"/>
          </a:p>
        </p:txBody>
      </p:sp>
      <p:sp>
        <p:nvSpPr>
          <p:cNvPr id="22" name="Text 20"/>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3" name="Text 21"/>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6 / 29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Literature Gap</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What prior research did — and what it missed</a:t>
            </a:r>
            <a:endParaRPr lang="en-US" sz="1400" dirty="0"/>
          </a:p>
        </p:txBody>
      </p:sp>
      <p:sp>
        <p:nvSpPr>
          <p:cNvPr id="4" name="Shape 2"/>
          <p:cNvSpPr/>
          <p:nvPr/>
        </p:nvSpPr>
        <p:spPr>
          <a:xfrm>
            <a:off x="457200" y="1463040"/>
            <a:ext cx="5486400" cy="4846320"/>
          </a:xfrm>
          <a:prstGeom prst="rect">
            <a:avLst/>
          </a:prstGeom>
          <a:solidFill>
            <a:srgbClr val="F7F9FB"/>
          </a:solidFill>
          <a:ln w="12700">
            <a:solidFill>
              <a:srgbClr val="C8463D"/>
            </a:solidFill>
            <a:prstDash val="solid"/>
          </a:ln>
        </p:spPr>
        <p:txBody>
          <a:bodyPr/>
          <a:lstStyle/>
          <a:p>
            <a:endParaRPr lang="en-US"/>
          </a:p>
        </p:txBody>
      </p:sp>
      <p:sp>
        <p:nvSpPr>
          <p:cNvPr id="5" name="Shape 3"/>
          <p:cNvSpPr/>
          <p:nvPr/>
        </p:nvSpPr>
        <p:spPr>
          <a:xfrm>
            <a:off x="457200" y="1463040"/>
            <a:ext cx="5486400" cy="457200"/>
          </a:xfrm>
          <a:prstGeom prst="rect">
            <a:avLst/>
          </a:prstGeom>
          <a:solidFill>
            <a:srgbClr val="C8463D"/>
          </a:solidFill>
          <a:ln w="12700">
            <a:solidFill>
              <a:srgbClr val="C8463D"/>
            </a:solidFill>
            <a:prstDash val="solid"/>
          </a:ln>
        </p:spPr>
        <p:txBody>
          <a:bodyPr/>
          <a:lstStyle/>
          <a:p>
            <a:endParaRPr lang="en-US"/>
          </a:p>
        </p:txBody>
      </p:sp>
      <p:sp>
        <p:nvSpPr>
          <p:cNvPr id="6" name="Text 4"/>
          <p:cNvSpPr/>
          <p:nvPr/>
        </p:nvSpPr>
        <p:spPr>
          <a:xfrm>
            <a:off x="457200" y="1463040"/>
            <a:ext cx="5486400" cy="45720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libri" pitchFamily="34" charset="0"/>
                <a:ea typeface="Calibri" pitchFamily="34" charset="-122"/>
                <a:cs typeface="Calibri" pitchFamily="34" charset="-120"/>
              </a:rPr>
              <a:t>PRIOR WORK</a:t>
            </a:r>
            <a:endParaRPr lang="en-US" sz="1600" dirty="0"/>
          </a:p>
        </p:txBody>
      </p:sp>
      <p:sp>
        <p:nvSpPr>
          <p:cNvPr id="7" name="Text 5"/>
          <p:cNvSpPr/>
          <p:nvPr/>
        </p:nvSpPr>
        <p:spPr>
          <a:xfrm>
            <a:off x="640080" y="2057400"/>
            <a:ext cx="5120640" cy="365760"/>
          </a:xfrm>
          <a:prstGeom prst="rect">
            <a:avLst/>
          </a:prstGeom>
          <a:noFill/>
          <a:ln/>
        </p:spPr>
        <p:txBody>
          <a:bodyPr wrap="square" lIns="0" tIns="0" rIns="0" bIns="0" rtlCol="0" anchor="ctr"/>
          <a:lstStyle/>
          <a:p>
            <a:pPr marL="0" indent="0">
              <a:buNone/>
            </a:pPr>
            <a:r>
              <a:rPr lang="en-US" sz="1300" i="1" dirty="0">
                <a:solidFill>
                  <a:srgbClr val="5A6470"/>
                </a:solidFill>
                <a:latin typeface="Calibri" pitchFamily="34" charset="0"/>
                <a:ea typeface="Calibri" pitchFamily="34" charset="-122"/>
                <a:cs typeface="Calibri" pitchFamily="34" charset="-120"/>
              </a:rPr>
              <a:t>Patel (2019) and related studies</a:t>
            </a:r>
            <a:endParaRPr lang="en-US" sz="1300" dirty="0"/>
          </a:p>
        </p:txBody>
      </p:sp>
      <p:sp>
        <p:nvSpPr>
          <p:cNvPr id="8" name="Text 6"/>
          <p:cNvSpPr/>
          <p:nvPr/>
        </p:nvSpPr>
        <p:spPr>
          <a:xfrm>
            <a:off x="640080" y="2514600"/>
            <a:ext cx="5120640" cy="2286000"/>
          </a:xfrm>
          <a:prstGeom prst="rect">
            <a:avLst/>
          </a:prstGeom>
          <a:noFill/>
          <a:ln/>
        </p:spPr>
        <p:txBody>
          <a:bodyPr wrap="square" lIns="0" tIns="0" rIns="0" bIns="0" rtlCol="0" anchor="ctr"/>
          <a:lstStyle/>
          <a:p>
            <a:pPr marL="342900" indent="-342900">
              <a:buSzPct val="100000"/>
              <a:buChar char="•"/>
            </a:pPr>
            <a:r>
              <a:rPr lang="en-US" sz="1300" b="1" dirty="0">
                <a:solidFill>
                  <a:srgbClr val="1A1F2E"/>
                </a:solidFill>
                <a:latin typeface="Calibri" pitchFamily="34" charset="0"/>
                <a:ea typeface="Calibri" pitchFamily="34" charset="-122"/>
                <a:cs typeface="Calibri" pitchFamily="34" charset="-120"/>
              </a:rPr>
              <a:t>Uses post-execution telemetry:</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Run duration</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Resource utilization (CPU, memory)</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Step-level intermediate status</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Retry count and patterns</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342900" indent="-342900">
              <a:buSzPct val="100000"/>
              <a:buChar char="•"/>
            </a:pPr>
            <a:r>
              <a:rPr lang="en-US" sz="1300" dirty="0">
                <a:solidFill>
                  <a:srgbClr val="1A1F2E"/>
                </a:solidFill>
                <a:latin typeface="Calibri" pitchFamily="34" charset="0"/>
                <a:ea typeface="Calibri" pitchFamily="34" charset="-122"/>
                <a:cs typeface="Calibri" pitchFamily="34" charset="-120"/>
              </a:rPr>
              <a:t>Useful for retrospective anomaly detection</a:t>
            </a:r>
            <a:endParaRPr lang="en-US" sz="1300" dirty="0"/>
          </a:p>
        </p:txBody>
      </p:sp>
      <p:sp>
        <p:nvSpPr>
          <p:cNvPr id="9" name="Shape 7"/>
          <p:cNvSpPr/>
          <p:nvPr/>
        </p:nvSpPr>
        <p:spPr>
          <a:xfrm>
            <a:off x="640080" y="5120640"/>
            <a:ext cx="5120640" cy="1097280"/>
          </a:xfrm>
          <a:prstGeom prst="rect">
            <a:avLst/>
          </a:prstGeom>
          <a:solidFill>
            <a:srgbClr val="F8D7DA"/>
          </a:solidFill>
          <a:ln w="12700">
            <a:solidFill>
              <a:srgbClr val="C8463D"/>
            </a:solidFill>
            <a:prstDash val="solid"/>
          </a:ln>
        </p:spPr>
        <p:txBody>
          <a:bodyPr/>
          <a:lstStyle/>
          <a:p>
            <a:endParaRPr lang="en-US"/>
          </a:p>
        </p:txBody>
      </p:sp>
      <p:sp>
        <p:nvSpPr>
          <p:cNvPr id="10" name="Text 8"/>
          <p:cNvSpPr/>
          <p:nvPr/>
        </p:nvSpPr>
        <p:spPr>
          <a:xfrm>
            <a:off x="777240" y="5212080"/>
            <a:ext cx="4846320" cy="914400"/>
          </a:xfrm>
          <a:prstGeom prst="rect">
            <a:avLst/>
          </a:prstGeom>
          <a:noFill/>
          <a:ln/>
        </p:spPr>
        <p:txBody>
          <a:bodyPr wrap="square" lIns="0" tIns="0" rIns="0" bIns="0" rtlCol="0" anchor="ctr"/>
          <a:lstStyle/>
          <a:p>
            <a:pPr marL="0" indent="0">
              <a:buNone/>
            </a:pPr>
            <a:r>
              <a:rPr lang="en-US" sz="1100" b="1" dirty="0">
                <a:solidFill>
                  <a:srgbClr val="C8463D"/>
                </a:solidFill>
                <a:latin typeface="Calibri" pitchFamily="34" charset="0"/>
                <a:ea typeface="Calibri" pitchFamily="34" charset="-122"/>
                <a:cs typeface="Calibri" pitchFamily="34" charset="-120"/>
              </a:rPr>
              <a:t>⚠ CRITICAL LIMITATION</a:t>
            </a:r>
            <a:endParaRPr lang="en-US" sz="1100" dirty="0"/>
          </a:p>
          <a:p>
            <a:pPr marL="0" indent="0">
              <a:buNone/>
            </a:pPr>
            <a:r>
              <a:rPr lang="en-US" sz="1100" i="1" dirty="0">
                <a:solidFill>
                  <a:srgbClr val="1A1F2E"/>
                </a:solidFill>
                <a:latin typeface="Calibri" pitchFamily="34" charset="0"/>
                <a:ea typeface="Calibri" pitchFamily="34" charset="-122"/>
                <a:cs typeface="Calibri" pitchFamily="34" charset="-120"/>
              </a:rPr>
              <a:t>By the time the predictor has its input, the resources have already been spent.</a:t>
            </a:r>
            <a:endParaRPr lang="en-US" sz="1100" dirty="0"/>
          </a:p>
        </p:txBody>
      </p:sp>
      <p:sp>
        <p:nvSpPr>
          <p:cNvPr id="11" name="Shape 9"/>
          <p:cNvSpPr/>
          <p:nvPr/>
        </p:nvSpPr>
        <p:spPr>
          <a:xfrm>
            <a:off x="6217920" y="1463040"/>
            <a:ext cx="5486400" cy="4846320"/>
          </a:xfrm>
          <a:prstGeom prst="rect">
            <a:avLst/>
          </a:prstGeom>
          <a:solidFill>
            <a:srgbClr val="F7F9FB"/>
          </a:solidFill>
          <a:ln w="12700">
            <a:solidFill>
              <a:srgbClr val="2C8C5C"/>
            </a:solidFill>
            <a:prstDash val="solid"/>
          </a:ln>
        </p:spPr>
        <p:txBody>
          <a:bodyPr/>
          <a:lstStyle/>
          <a:p>
            <a:endParaRPr lang="en-US"/>
          </a:p>
        </p:txBody>
      </p:sp>
      <p:sp>
        <p:nvSpPr>
          <p:cNvPr id="12" name="Shape 10"/>
          <p:cNvSpPr/>
          <p:nvPr/>
        </p:nvSpPr>
        <p:spPr>
          <a:xfrm>
            <a:off x="6217920" y="1463040"/>
            <a:ext cx="5486400" cy="457200"/>
          </a:xfrm>
          <a:prstGeom prst="rect">
            <a:avLst/>
          </a:prstGeom>
          <a:solidFill>
            <a:srgbClr val="2C8C5C"/>
          </a:solidFill>
          <a:ln w="12700">
            <a:solidFill>
              <a:srgbClr val="2C8C5C"/>
            </a:solidFill>
            <a:prstDash val="solid"/>
          </a:ln>
        </p:spPr>
        <p:txBody>
          <a:bodyPr/>
          <a:lstStyle/>
          <a:p>
            <a:endParaRPr lang="en-US"/>
          </a:p>
        </p:txBody>
      </p:sp>
      <p:sp>
        <p:nvSpPr>
          <p:cNvPr id="13" name="Text 11"/>
          <p:cNvSpPr/>
          <p:nvPr/>
        </p:nvSpPr>
        <p:spPr>
          <a:xfrm>
            <a:off x="6217920" y="1463040"/>
            <a:ext cx="5486400" cy="45720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libri" pitchFamily="34" charset="0"/>
                <a:ea typeface="Calibri" pitchFamily="34" charset="-122"/>
                <a:cs typeface="Calibri" pitchFamily="34" charset="-120"/>
              </a:rPr>
              <a:t>THIS PROJECT</a:t>
            </a:r>
            <a:endParaRPr lang="en-US" sz="1600" dirty="0"/>
          </a:p>
        </p:txBody>
      </p:sp>
      <p:sp>
        <p:nvSpPr>
          <p:cNvPr id="14" name="Text 12"/>
          <p:cNvSpPr/>
          <p:nvPr/>
        </p:nvSpPr>
        <p:spPr>
          <a:xfrm>
            <a:off x="6400800" y="2057400"/>
            <a:ext cx="5120640" cy="365760"/>
          </a:xfrm>
          <a:prstGeom prst="rect">
            <a:avLst/>
          </a:prstGeom>
          <a:noFill/>
          <a:ln/>
        </p:spPr>
        <p:txBody>
          <a:bodyPr wrap="square" lIns="0" tIns="0" rIns="0" bIns="0" rtlCol="0" anchor="ctr"/>
          <a:lstStyle/>
          <a:p>
            <a:pPr marL="0" indent="0">
              <a:buNone/>
            </a:pPr>
            <a:r>
              <a:rPr lang="en-US" sz="1300" i="1" dirty="0">
                <a:solidFill>
                  <a:srgbClr val="5A6470"/>
                </a:solidFill>
                <a:latin typeface="Calibri" pitchFamily="34" charset="0"/>
                <a:ea typeface="Calibri" pitchFamily="34" charset="-122"/>
                <a:cs typeface="Calibri" pitchFamily="34" charset="-120"/>
              </a:rPr>
              <a:t>Pre-execution prediction</a:t>
            </a:r>
            <a:endParaRPr lang="en-US" sz="1300" dirty="0"/>
          </a:p>
        </p:txBody>
      </p:sp>
      <p:sp>
        <p:nvSpPr>
          <p:cNvPr id="15" name="Text 13"/>
          <p:cNvSpPr/>
          <p:nvPr/>
        </p:nvSpPr>
        <p:spPr>
          <a:xfrm>
            <a:off x="6400800" y="2514600"/>
            <a:ext cx="5120640" cy="2286000"/>
          </a:xfrm>
          <a:prstGeom prst="rect">
            <a:avLst/>
          </a:prstGeom>
          <a:noFill/>
          <a:ln/>
        </p:spPr>
        <p:txBody>
          <a:bodyPr wrap="square" lIns="0" tIns="0" rIns="0" bIns="0" rtlCol="0" anchor="ctr"/>
          <a:lstStyle/>
          <a:p>
            <a:pPr marL="342900" indent="-342900">
              <a:buSzPct val="100000"/>
              <a:buChar char="•"/>
            </a:pPr>
            <a:r>
              <a:rPr lang="en-US" sz="1300" b="1" dirty="0">
                <a:solidFill>
                  <a:srgbClr val="1A1F2E"/>
                </a:solidFill>
                <a:latin typeface="Calibri" pitchFamily="34" charset="0"/>
                <a:ea typeface="Calibri" pitchFamily="34" charset="-122"/>
                <a:cs typeface="Calibri" pitchFamily="34" charset="-120"/>
              </a:rPr>
              <a:t>Uses only pre-execution features:</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Commit-level metadata</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Lines added / deleted / files changed</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Commit message (NLP via TF-IDF)</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Repository, branch, event context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342900" indent="-342900">
              <a:buSzPct val="100000"/>
              <a:buChar char="•"/>
            </a:pPr>
            <a:r>
              <a:rPr lang="en-US" sz="1300" dirty="0">
                <a:solidFill>
                  <a:srgbClr val="1A1F2E"/>
                </a:solidFill>
                <a:latin typeface="Calibri" pitchFamily="34" charset="0"/>
                <a:ea typeface="Calibri" pitchFamily="34" charset="-122"/>
                <a:cs typeface="Calibri" pitchFamily="34" charset="-120"/>
              </a:rPr>
              <a:t>Enables proactive resource conservation</a:t>
            </a:r>
            <a:endParaRPr lang="en-US" sz="1300" dirty="0"/>
          </a:p>
        </p:txBody>
      </p:sp>
      <p:sp>
        <p:nvSpPr>
          <p:cNvPr id="16" name="Shape 14"/>
          <p:cNvSpPr/>
          <p:nvPr/>
        </p:nvSpPr>
        <p:spPr>
          <a:xfrm>
            <a:off x="6400800" y="5120640"/>
            <a:ext cx="5120640" cy="1097280"/>
          </a:xfrm>
          <a:prstGeom prst="rect">
            <a:avLst/>
          </a:prstGeom>
          <a:solidFill>
            <a:srgbClr val="D4EDDA"/>
          </a:solidFill>
          <a:ln w="12700">
            <a:solidFill>
              <a:srgbClr val="2C8C5C"/>
            </a:solidFill>
            <a:prstDash val="solid"/>
          </a:ln>
        </p:spPr>
        <p:txBody>
          <a:bodyPr/>
          <a:lstStyle/>
          <a:p>
            <a:endParaRPr lang="en-US"/>
          </a:p>
        </p:txBody>
      </p:sp>
      <p:sp>
        <p:nvSpPr>
          <p:cNvPr id="17" name="Text 15"/>
          <p:cNvSpPr/>
          <p:nvPr/>
        </p:nvSpPr>
        <p:spPr>
          <a:xfrm>
            <a:off x="6537960" y="5212080"/>
            <a:ext cx="4846320" cy="914400"/>
          </a:xfrm>
          <a:prstGeom prst="rect">
            <a:avLst/>
          </a:prstGeom>
          <a:noFill/>
          <a:ln/>
        </p:spPr>
        <p:txBody>
          <a:bodyPr wrap="square" lIns="0" tIns="0" rIns="0" bIns="0" rtlCol="0" anchor="ctr"/>
          <a:lstStyle/>
          <a:p>
            <a:pPr marL="0" indent="0">
              <a:buNone/>
            </a:pPr>
            <a:r>
              <a:rPr lang="en-US" sz="1100" b="1" dirty="0">
                <a:solidFill>
                  <a:srgbClr val="2C8C5C"/>
                </a:solidFill>
                <a:latin typeface="Calibri" pitchFamily="34" charset="0"/>
                <a:ea typeface="Calibri" pitchFamily="34" charset="-122"/>
                <a:cs typeface="Calibri" pitchFamily="34" charset="-120"/>
              </a:rPr>
              <a:t>✓ THE CONTRIBUTION</a:t>
            </a:r>
            <a:endParaRPr lang="en-US" sz="1100" dirty="0"/>
          </a:p>
          <a:p>
            <a:pPr marL="0" indent="0">
              <a:buNone/>
            </a:pPr>
            <a:r>
              <a:rPr lang="en-US" sz="1100" i="1" dirty="0">
                <a:solidFill>
                  <a:srgbClr val="1A1F2E"/>
                </a:solidFill>
                <a:latin typeface="Calibri" pitchFamily="34" charset="0"/>
                <a:ea typeface="Calibri" pitchFamily="34" charset="-122"/>
                <a:cs typeface="Calibri" pitchFamily="34" charset="-120"/>
              </a:rPr>
              <a:t>Predict at commit time, before the runner starts. Decisions can prevent the cost rather than diagnose it.</a:t>
            </a:r>
            <a:endParaRPr lang="en-US" sz="1100" dirty="0"/>
          </a:p>
        </p:txBody>
      </p:sp>
      <p:sp>
        <p:nvSpPr>
          <p:cNvPr id="18" name="Text 16"/>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19" name="Text 17"/>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7 / 29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Research Objectives</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Four specific, measurable goals</a:t>
            </a:r>
            <a:endParaRPr lang="en-US" sz="1400" dirty="0"/>
          </a:p>
        </p:txBody>
      </p:sp>
      <p:sp>
        <p:nvSpPr>
          <p:cNvPr id="4" name="Shape 2"/>
          <p:cNvSpPr/>
          <p:nvPr/>
        </p:nvSpPr>
        <p:spPr>
          <a:xfrm>
            <a:off x="457200" y="1554480"/>
            <a:ext cx="5486400" cy="2011680"/>
          </a:xfrm>
          <a:prstGeom prst="rect">
            <a:avLst/>
          </a:prstGeom>
          <a:solidFill>
            <a:srgbClr val="F7F9FB"/>
          </a:solidFill>
          <a:ln w="12700">
            <a:solidFill>
              <a:srgbClr val="065A82"/>
            </a:solidFill>
            <a:prstDash val="solid"/>
          </a:ln>
          <a:effectLst>
            <a:outerShdw blurRad="76200" dist="25400" dir="5400000" algn="bl" rotWithShape="0">
              <a:srgbClr val="000000">
                <a:alpha val="8000"/>
              </a:srgbClr>
            </a:outerShdw>
          </a:effectLst>
        </p:spPr>
        <p:txBody>
          <a:bodyPr/>
          <a:lstStyle/>
          <a:p>
            <a:endParaRPr lang="en-US"/>
          </a:p>
        </p:txBody>
      </p:sp>
      <p:sp>
        <p:nvSpPr>
          <p:cNvPr id="5" name="Shape 3"/>
          <p:cNvSpPr/>
          <p:nvPr/>
        </p:nvSpPr>
        <p:spPr>
          <a:xfrm>
            <a:off x="457200" y="1554480"/>
            <a:ext cx="914400" cy="2011680"/>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457200" y="1554480"/>
            <a:ext cx="914400" cy="201168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01</a:t>
            </a:r>
            <a:endParaRPr lang="en-US" sz="3600" dirty="0"/>
          </a:p>
        </p:txBody>
      </p:sp>
      <p:sp>
        <p:nvSpPr>
          <p:cNvPr id="7" name="Text 5"/>
          <p:cNvSpPr/>
          <p:nvPr/>
        </p:nvSpPr>
        <p:spPr>
          <a:xfrm>
            <a:off x="1554480" y="1737360"/>
            <a:ext cx="4206240" cy="457200"/>
          </a:xfrm>
          <a:prstGeom prst="rect">
            <a:avLst/>
          </a:prstGeom>
          <a:noFill/>
          <a:ln/>
        </p:spPr>
        <p:txBody>
          <a:bodyPr wrap="square" lIns="0" tIns="0" rIns="0" bIns="0" rtlCol="0" anchor="ctr"/>
          <a:lstStyle/>
          <a:p>
            <a:pPr marL="0" indent="0">
              <a:buNone/>
            </a:pPr>
            <a:r>
              <a:rPr lang="en-US" sz="1600" b="1" dirty="0">
                <a:solidFill>
                  <a:srgbClr val="1A1F2E"/>
                </a:solidFill>
                <a:latin typeface="Calibri" pitchFamily="34" charset="0"/>
                <a:ea typeface="Calibri" pitchFamily="34" charset="-122"/>
                <a:cs typeface="Calibri" pitchFamily="34" charset="-120"/>
              </a:rPr>
              <a:t>Build a Hybrid ML Pipeline</a:t>
            </a:r>
            <a:endParaRPr lang="en-US" sz="1600" dirty="0"/>
          </a:p>
        </p:txBody>
      </p:sp>
      <p:sp>
        <p:nvSpPr>
          <p:cNvPr id="8" name="Text 6"/>
          <p:cNvSpPr/>
          <p:nvPr/>
        </p:nvSpPr>
        <p:spPr>
          <a:xfrm>
            <a:off x="1554480" y="2240280"/>
            <a:ext cx="4297680" cy="1280160"/>
          </a:xfrm>
          <a:prstGeom prst="rect">
            <a:avLst/>
          </a:prstGeom>
          <a:noFill/>
          <a:ln/>
        </p:spPr>
        <p:txBody>
          <a:bodyPr wrap="square" lIns="0" tIns="0" rIns="0" bIns="0" rtlCol="0" anchor="ctr"/>
          <a:lstStyle/>
          <a:p>
            <a:pPr marL="0" indent="0">
              <a:buNone/>
            </a:pPr>
            <a:r>
              <a:rPr lang="en-US" sz="1150" dirty="0">
                <a:solidFill>
                  <a:srgbClr val="5A6470"/>
                </a:solidFill>
                <a:latin typeface="Calibri" pitchFamily="34" charset="0"/>
                <a:ea typeface="Calibri" pitchFamily="34" charset="-122"/>
                <a:cs typeface="Calibri" pitchFamily="34" charset="-120"/>
              </a:rPr>
              <a:t>Combine numerical, categorical, binary, and textual commit features into a single end-to-end classifier using scikit-learn's ColumnTransformer.</a:t>
            </a:r>
            <a:endParaRPr lang="en-US" sz="1150" dirty="0"/>
          </a:p>
        </p:txBody>
      </p:sp>
      <p:sp>
        <p:nvSpPr>
          <p:cNvPr id="9" name="Shape 7"/>
          <p:cNvSpPr/>
          <p:nvPr/>
        </p:nvSpPr>
        <p:spPr>
          <a:xfrm>
            <a:off x="6217920" y="1554480"/>
            <a:ext cx="5486400" cy="2011680"/>
          </a:xfrm>
          <a:prstGeom prst="rect">
            <a:avLst/>
          </a:prstGeom>
          <a:solidFill>
            <a:srgbClr val="F7F9FB"/>
          </a:solidFill>
          <a:ln w="12700">
            <a:solidFill>
              <a:srgbClr val="065A82"/>
            </a:solidFill>
            <a:prstDash val="solid"/>
          </a:ln>
          <a:effectLst>
            <a:outerShdw blurRad="76200" dist="25400" dir="5400000" algn="bl" rotWithShape="0">
              <a:srgbClr val="000000">
                <a:alpha val="8000"/>
              </a:srgbClr>
            </a:outerShdw>
          </a:effectLst>
        </p:spPr>
        <p:txBody>
          <a:bodyPr/>
          <a:lstStyle/>
          <a:p>
            <a:endParaRPr lang="en-US"/>
          </a:p>
        </p:txBody>
      </p:sp>
      <p:sp>
        <p:nvSpPr>
          <p:cNvPr id="10" name="Shape 8"/>
          <p:cNvSpPr/>
          <p:nvPr/>
        </p:nvSpPr>
        <p:spPr>
          <a:xfrm>
            <a:off x="6217920" y="1554480"/>
            <a:ext cx="914400" cy="2011680"/>
          </a:xfrm>
          <a:prstGeom prst="rect">
            <a:avLst/>
          </a:prstGeom>
          <a:solidFill>
            <a:srgbClr val="065A82"/>
          </a:solidFill>
          <a:ln w="12700">
            <a:solidFill>
              <a:srgbClr val="065A82"/>
            </a:solidFill>
            <a:prstDash val="solid"/>
          </a:ln>
        </p:spPr>
        <p:txBody>
          <a:bodyPr/>
          <a:lstStyle/>
          <a:p>
            <a:endParaRPr lang="en-US"/>
          </a:p>
        </p:txBody>
      </p:sp>
      <p:sp>
        <p:nvSpPr>
          <p:cNvPr id="11" name="Text 9"/>
          <p:cNvSpPr/>
          <p:nvPr/>
        </p:nvSpPr>
        <p:spPr>
          <a:xfrm>
            <a:off x="6217920" y="1554480"/>
            <a:ext cx="914400" cy="201168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7315200" y="1737360"/>
            <a:ext cx="4206240" cy="457200"/>
          </a:xfrm>
          <a:prstGeom prst="rect">
            <a:avLst/>
          </a:prstGeom>
          <a:noFill/>
          <a:ln/>
        </p:spPr>
        <p:txBody>
          <a:bodyPr wrap="square" lIns="0" tIns="0" rIns="0" bIns="0" rtlCol="0" anchor="ctr"/>
          <a:lstStyle/>
          <a:p>
            <a:pPr marL="0" indent="0">
              <a:buNone/>
            </a:pPr>
            <a:r>
              <a:rPr lang="en-US" sz="1600" b="1" dirty="0">
                <a:solidFill>
                  <a:srgbClr val="1A1F2E"/>
                </a:solidFill>
                <a:latin typeface="Calibri" pitchFamily="34" charset="0"/>
                <a:ea typeface="Calibri" pitchFamily="34" charset="-122"/>
                <a:cs typeface="Calibri" pitchFamily="34" charset="-120"/>
              </a:rPr>
              <a:t>Compare Three Classifiers</a:t>
            </a:r>
            <a:endParaRPr lang="en-US" sz="1600" dirty="0"/>
          </a:p>
        </p:txBody>
      </p:sp>
      <p:sp>
        <p:nvSpPr>
          <p:cNvPr id="13" name="Text 11"/>
          <p:cNvSpPr/>
          <p:nvPr/>
        </p:nvSpPr>
        <p:spPr>
          <a:xfrm>
            <a:off x="7315200" y="2240280"/>
            <a:ext cx="4297680" cy="1280160"/>
          </a:xfrm>
          <a:prstGeom prst="rect">
            <a:avLst/>
          </a:prstGeom>
          <a:noFill/>
          <a:ln/>
        </p:spPr>
        <p:txBody>
          <a:bodyPr wrap="square" lIns="0" tIns="0" rIns="0" bIns="0" rtlCol="0" anchor="ctr"/>
          <a:lstStyle/>
          <a:p>
            <a:pPr marL="0" indent="0">
              <a:buNone/>
            </a:pPr>
            <a:r>
              <a:rPr lang="en-US" sz="1150" dirty="0">
                <a:solidFill>
                  <a:srgbClr val="5A6470"/>
                </a:solidFill>
                <a:latin typeface="Calibri" pitchFamily="34" charset="0"/>
                <a:ea typeface="Calibri" pitchFamily="34" charset="-122"/>
                <a:cs typeface="Calibri" pitchFamily="34" charset="-120"/>
              </a:rPr>
              <a:t>Evaluate Logistic Regression (baseline), Random Forest (ensemble), and XGBoost (gradient boosting) under identical conditions.</a:t>
            </a:r>
            <a:endParaRPr lang="en-US" sz="1150" dirty="0"/>
          </a:p>
        </p:txBody>
      </p:sp>
      <p:sp>
        <p:nvSpPr>
          <p:cNvPr id="14" name="Shape 12"/>
          <p:cNvSpPr/>
          <p:nvPr/>
        </p:nvSpPr>
        <p:spPr>
          <a:xfrm>
            <a:off x="457200" y="3840480"/>
            <a:ext cx="5486400" cy="2011680"/>
          </a:xfrm>
          <a:prstGeom prst="rect">
            <a:avLst/>
          </a:prstGeom>
          <a:solidFill>
            <a:srgbClr val="F7F9FB"/>
          </a:solidFill>
          <a:ln w="12700">
            <a:solidFill>
              <a:srgbClr val="065A82"/>
            </a:solidFill>
            <a:prstDash val="solid"/>
          </a:ln>
          <a:effectLst>
            <a:outerShdw blurRad="76200" dist="25400" dir="5400000" algn="bl" rotWithShape="0">
              <a:srgbClr val="000000">
                <a:alpha val="8000"/>
              </a:srgbClr>
            </a:outerShdw>
          </a:effectLst>
        </p:spPr>
        <p:txBody>
          <a:bodyPr/>
          <a:lstStyle/>
          <a:p>
            <a:endParaRPr lang="en-US"/>
          </a:p>
        </p:txBody>
      </p:sp>
      <p:sp>
        <p:nvSpPr>
          <p:cNvPr id="15" name="Shape 13"/>
          <p:cNvSpPr/>
          <p:nvPr/>
        </p:nvSpPr>
        <p:spPr>
          <a:xfrm>
            <a:off x="457200" y="3840480"/>
            <a:ext cx="914400" cy="2011680"/>
          </a:xfrm>
          <a:prstGeom prst="rect">
            <a:avLst/>
          </a:prstGeom>
          <a:solidFill>
            <a:srgbClr val="065A82"/>
          </a:solidFill>
          <a:ln w="12700">
            <a:solidFill>
              <a:srgbClr val="065A82"/>
            </a:solidFill>
            <a:prstDash val="solid"/>
          </a:ln>
        </p:spPr>
        <p:txBody>
          <a:bodyPr/>
          <a:lstStyle/>
          <a:p>
            <a:endParaRPr lang="en-US"/>
          </a:p>
        </p:txBody>
      </p:sp>
      <p:sp>
        <p:nvSpPr>
          <p:cNvPr id="16" name="Text 14"/>
          <p:cNvSpPr/>
          <p:nvPr/>
        </p:nvSpPr>
        <p:spPr>
          <a:xfrm>
            <a:off x="457200" y="3840480"/>
            <a:ext cx="914400" cy="201168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03</a:t>
            </a:r>
            <a:endParaRPr lang="en-US" sz="3600" dirty="0"/>
          </a:p>
        </p:txBody>
      </p:sp>
      <p:sp>
        <p:nvSpPr>
          <p:cNvPr id="17" name="Text 15"/>
          <p:cNvSpPr/>
          <p:nvPr/>
        </p:nvSpPr>
        <p:spPr>
          <a:xfrm>
            <a:off x="1554480" y="4023360"/>
            <a:ext cx="4206240" cy="457200"/>
          </a:xfrm>
          <a:prstGeom prst="rect">
            <a:avLst/>
          </a:prstGeom>
          <a:noFill/>
          <a:ln/>
        </p:spPr>
        <p:txBody>
          <a:bodyPr wrap="square" lIns="0" tIns="0" rIns="0" bIns="0" rtlCol="0" anchor="ctr"/>
          <a:lstStyle/>
          <a:p>
            <a:pPr marL="0" indent="0">
              <a:buNone/>
            </a:pPr>
            <a:r>
              <a:rPr lang="en-US" sz="1600" b="1" dirty="0">
                <a:solidFill>
                  <a:srgbClr val="1A1F2E"/>
                </a:solidFill>
                <a:latin typeface="Calibri" pitchFamily="34" charset="0"/>
                <a:ea typeface="Calibri" pitchFamily="34" charset="-122"/>
                <a:cs typeface="Calibri" pitchFamily="34" charset="-120"/>
              </a:rPr>
              <a:t>Validate Under Realistic Conditions</a:t>
            </a:r>
            <a:endParaRPr lang="en-US" sz="1600" dirty="0"/>
          </a:p>
        </p:txBody>
      </p:sp>
      <p:sp>
        <p:nvSpPr>
          <p:cNvPr id="18" name="Text 16"/>
          <p:cNvSpPr/>
          <p:nvPr/>
        </p:nvSpPr>
        <p:spPr>
          <a:xfrm>
            <a:off x="1554480" y="4526280"/>
            <a:ext cx="4297680" cy="1280160"/>
          </a:xfrm>
          <a:prstGeom prst="rect">
            <a:avLst/>
          </a:prstGeom>
          <a:noFill/>
          <a:ln/>
        </p:spPr>
        <p:txBody>
          <a:bodyPr wrap="square" lIns="0" tIns="0" rIns="0" bIns="0" rtlCol="0" anchor="ctr"/>
          <a:lstStyle/>
          <a:p>
            <a:pPr marL="0" indent="0">
              <a:buNone/>
            </a:pPr>
            <a:r>
              <a:rPr lang="en-US" sz="1150" dirty="0">
                <a:solidFill>
                  <a:srgbClr val="5A6470"/>
                </a:solidFill>
                <a:latin typeface="Calibri" pitchFamily="34" charset="0"/>
                <a:ea typeface="Calibri" pitchFamily="34" charset="-122"/>
                <a:cs typeface="Calibri" pitchFamily="34" charset="-120"/>
              </a:rPr>
              <a:t>Test the model on both stratified random and chronological splits to verify robustness to temporal data drift.</a:t>
            </a:r>
            <a:endParaRPr lang="en-US" sz="1150" dirty="0"/>
          </a:p>
        </p:txBody>
      </p:sp>
      <p:sp>
        <p:nvSpPr>
          <p:cNvPr id="19" name="Shape 17"/>
          <p:cNvSpPr/>
          <p:nvPr/>
        </p:nvSpPr>
        <p:spPr>
          <a:xfrm>
            <a:off x="6217920" y="3840480"/>
            <a:ext cx="5486400" cy="2011680"/>
          </a:xfrm>
          <a:prstGeom prst="rect">
            <a:avLst/>
          </a:prstGeom>
          <a:solidFill>
            <a:srgbClr val="F7F9FB"/>
          </a:solidFill>
          <a:ln w="12700">
            <a:solidFill>
              <a:srgbClr val="065A82"/>
            </a:solidFill>
            <a:prstDash val="solid"/>
          </a:ln>
          <a:effectLst>
            <a:outerShdw blurRad="76200" dist="25400" dir="5400000" algn="bl" rotWithShape="0">
              <a:srgbClr val="000000">
                <a:alpha val="8000"/>
              </a:srgbClr>
            </a:outerShdw>
          </a:effectLst>
        </p:spPr>
        <p:txBody>
          <a:bodyPr/>
          <a:lstStyle/>
          <a:p>
            <a:endParaRPr lang="en-US"/>
          </a:p>
        </p:txBody>
      </p:sp>
      <p:sp>
        <p:nvSpPr>
          <p:cNvPr id="20" name="Shape 18"/>
          <p:cNvSpPr/>
          <p:nvPr/>
        </p:nvSpPr>
        <p:spPr>
          <a:xfrm>
            <a:off x="6217920" y="3840480"/>
            <a:ext cx="914400" cy="2011680"/>
          </a:xfrm>
          <a:prstGeom prst="rect">
            <a:avLst/>
          </a:prstGeom>
          <a:solidFill>
            <a:srgbClr val="065A82"/>
          </a:solidFill>
          <a:ln w="12700">
            <a:solidFill>
              <a:srgbClr val="065A82"/>
            </a:solidFill>
            <a:prstDash val="solid"/>
          </a:ln>
        </p:spPr>
        <p:txBody>
          <a:bodyPr/>
          <a:lstStyle/>
          <a:p>
            <a:endParaRPr lang="en-US"/>
          </a:p>
        </p:txBody>
      </p:sp>
      <p:sp>
        <p:nvSpPr>
          <p:cNvPr id="21" name="Text 19"/>
          <p:cNvSpPr/>
          <p:nvPr/>
        </p:nvSpPr>
        <p:spPr>
          <a:xfrm>
            <a:off x="6217920" y="3840480"/>
            <a:ext cx="914400" cy="201168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04</a:t>
            </a:r>
            <a:endParaRPr lang="en-US" sz="3600" dirty="0"/>
          </a:p>
        </p:txBody>
      </p:sp>
      <p:sp>
        <p:nvSpPr>
          <p:cNvPr id="22" name="Text 20"/>
          <p:cNvSpPr/>
          <p:nvPr/>
        </p:nvSpPr>
        <p:spPr>
          <a:xfrm>
            <a:off x="7315200" y="4023360"/>
            <a:ext cx="4206240" cy="457200"/>
          </a:xfrm>
          <a:prstGeom prst="rect">
            <a:avLst/>
          </a:prstGeom>
          <a:noFill/>
          <a:ln/>
        </p:spPr>
        <p:txBody>
          <a:bodyPr wrap="square" lIns="0" tIns="0" rIns="0" bIns="0" rtlCol="0" anchor="ctr"/>
          <a:lstStyle/>
          <a:p>
            <a:pPr marL="0" indent="0">
              <a:buNone/>
            </a:pPr>
            <a:r>
              <a:rPr lang="en-US" sz="1600" b="1" dirty="0">
                <a:solidFill>
                  <a:srgbClr val="1A1F2E"/>
                </a:solidFill>
                <a:latin typeface="Calibri" pitchFamily="34" charset="0"/>
                <a:ea typeface="Calibri" pitchFamily="34" charset="-122"/>
                <a:cs typeface="Calibri" pitchFamily="34" charset="-120"/>
              </a:rPr>
              <a:t>Quantify Business Impact</a:t>
            </a:r>
            <a:endParaRPr lang="en-US" sz="1600" dirty="0"/>
          </a:p>
        </p:txBody>
      </p:sp>
      <p:sp>
        <p:nvSpPr>
          <p:cNvPr id="23" name="Text 21"/>
          <p:cNvSpPr/>
          <p:nvPr/>
        </p:nvSpPr>
        <p:spPr>
          <a:xfrm>
            <a:off x="7315200" y="4526280"/>
            <a:ext cx="4297680" cy="1280160"/>
          </a:xfrm>
          <a:prstGeom prst="rect">
            <a:avLst/>
          </a:prstGeom>
          <a:noFill/>
          <a:ln/>
        </p:spPr>
        <p:txBody>
          <a:bodyPr wrap="square" lIns="0" tIns="0" rIns="0" bIns="0" rtlCol="0" anchor="ctr"/>
          <a:lstStyle/>
          <a:p>
            <a:pPr marL="0" indent="0">
              <a:buNone/>
            </a:pPr>
            <a:r>
              <a:rPr lang="en-US" sz="1150" dirty="0">
                <a:solidFill>
                  <a:srgbClr val="5A6470"/>
                </a:solidFill>
                <a:latin typeface="Calibri" pitchFamily="34" charset="0"/>
                <a:ea typeface="Calibri" pitchFamily="34" charset="-122"/>
                <a:cs typeface="Calibri" pitchFamily="34" charset="-120"/>
              </a:rPr>
              <a:t>Translate precision and recall metrics into estimated annual cost savings under a documented operational scenario.</a:t>
            </a:r>
            <a:endParaRPr lang="en-US" sz="1150" dirty="0"/>
          </a:p>
        </p:txBody>
      </p:sp>
      <p:sp>
        <p:nvSpPr>
          <p:cNvPr id="24" name="Text 22"/>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5" name="Text 23"/>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8 / 29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The Dataset</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Real GitHub Actions data — not synthetic</a:t>
            </a:r>
            <a:endParaRPr lang="en-US" sz="1400" dirty="0"/>
          </a:p>
        </p:txBody>
      </p:sp>
      <p:sp>
        <p:nvSpPr>
          <p:cNvPr id="4" name="Shape 2"/>
          <p:cNvSpPr/>
          <p:nvPr/>
        </p:nvSpPr>
        <p:spPr>
          <a:xfrm>
            <a:off x="457200" y="1463040"/>
            <a:ext cx="5029200" cy="4846320"/>
          </a:xfrm>
          <a:prstGeom prst="rect">
            <a:avLst/>
          </a:prstGeom>
          <a:solidFill>
            <a:srgbClr val="21295C"/>
          </a:solidFill>
          <a:ln w="12700">
            <a:solidFill>
              <a:srgbClr val="21295C"/>
            </a:solidFill>
            <a:prstDash val="solid"/>
          </a:ln>
        </p:spPr>
        <p:txBody>
          <a:bodyPr/>
          <a:lstStyle/>
          <a:p>
            <a:endParaRPr lang="en-US"/>
          </a:p>
        </p:txBody>
      </p:sp>
      <p:sp>
        <p:nvSpPr>
          <p:cNvPr id="5" name="Text 3"/>
          <p:cNvSpPr/>
          <p:nvPr/>
        </p:nvSpPr>
        <p:spPr>
          <a:xfrm>
            <a:off x="640080" y="1645920"/>
            <a:ext cx="4663440" cy="365760"/>
          </a:xfrm>
          <a:prstGeom prst="rect">
            <a:avLst/>
          </a:prstGeom>
          <a:noFill/>
          <a:ln/>
        </p:spPr>
        <p:txBody>
          <a:bodyPr wrap="square" lIns="0" tIns="0" rIns="0" bIns="0" rtlCol="0" anchor="ctr"/>
          <a:lstStyle/>
          <a:p>
            <a:pPr marL="0" indent="0">
              <a:buNone/>
            </a:pPr>
            <a:r>
              <a:rPr lang="en-US" sz="1200" b="1" kern="0" spc="400" dirty="0">
                <a:solidFill>
                  <a:srgbClr val="00C9B7"/>
                </a:solidFill>
                <a:latin typeface="Calibri" pitchFamily="34" charset="0"/>
                <a:ea typeface="Calibri" pitchFamily="34" charset="-122"/>
                <a:cs typeface="Calibri" pitchFamily="34" charset="-120"/>
              </a:rPr>
              <a:t>DATASET PROFILE</a:t>
            </a:r>
            <a:endParaRPr lang="en-US" sz="1200" dirty="0"/>
          </a:p>
        </p:txBody>
      </p:sp>
      <p:sp>
        <p:nvSpPr>
          <p:cNvPr id="6" name="Text 4"/>
          <p:cNvSpPr/>
          <p:nvPr/>
        </p:nvSpPr>
        <p:spPr>
          <a:xfrm>
            <a:off x="640080" y="2194560"/>
            <a:ext cx="4663440" cy="4114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9,772</a:t>
            </a:r>
            <a:endParaRPr lang="en-US" sz="2400" dirty="0"/>
          </a:p>
        </p:txBody>
      </p:sp>
      <p:sp>
        <p:nvSpPr>
          <p:cNvPr id="7" name="Text 5"/>
          <p:cNvSpPr/>
          <p:nvPr/>
        </p:nvSpPr>
        <p:spPr>
          <a:xfrm>
            <a:off x="640080" y="2606040"/>
            <a:ext cx="4663440" cy="228600"/>
          </a:xfrm>
          <a:prstGeom prst="rect">
            <a:avLst/>
          </a:prstGeom>
          <a:noFill/>
          <a:ln/>
        </p:spPr>
        <p:txBody>
          <a:bodyPr wrap="square" lIns="0" tIns="0" rIns="0" bIns="0" rtlCol="0" anchor="ctr"/>
          <a:lstStyle/>
          <a:p>
            <a:pPr marL="0" indent="0">
              <a:buNone/>
            </a:pPr>
            <a:r>
              <a:rPr lang="en-US" sz="1100" i="1" dirty="0">
                <a:solidFill>
                  <a:srgbClr val="B8C4D0"/>
                </a:solidFill>
                <a:latin typeface="Calibri" pitchFamily="34" charset="0"/>
                <a:ea typeface="Calibri" pitchFamily="34" charset="-122"/>
                <a:cs typeface="Calibri" pitchFamily="34" charset="-120"/>
              </a:rPr>
              <a:t>Real workflow runs collected</a:t>
            </a:r>
            <a:endParaRPr lang="en-US" sz="1100" dirty="0"/>
          </a:p>
        </p:txBody>
      </p:sp>
      <p:sp>
        <p:nvSpPr>
          <p:cNvPr id="8" name="Text 6"/>
          <p:cNvSpPr/>
          <p:nvPr/>
        </p:nvSpPr>
        <p:spPr>
          <a:xfrm>
            <a:off x="640080" y="2871216"/>
            <a:ext cx="4663440" cy="4114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18</a:t>
            </a:r>
            <a:endParaRPr lang="en-US" sz="2400" dirty="0"/>
          </a:p>
        </p:txBody>
      </p:sp>
      <p:sp>
        <p:nvSpPr>
          <p:cNvPr id="9" name="Text 7"/>
          <p:cNvSpPr/>
          <p:nvPr/>
        </p:nvSpPr>
        <p:spPr>
          <a:xfrm>
            <a:off x="640080" y="3282696"/>
            <a:ext cx="4663440" cy="228600"/>
          </a:xfrm>
          <a:prstGeom prst="rect">
            <a:avLst/>
          </a:prstGeom>
          <a:noFill/>
          <a:ln/>
        </p:spPr>
        <p:txBody>
          <a:bodyPr wrap="square" lIns="0" tIns="0" rIns="0" bIns="0" rtlCol="0" anchor="ctr"/>
          <a:lstStyle/>
          <a:p>
            <a:pPr marL="0" indent="0">
              <a:buNone/>
            </a:pPr>
            <a:r>
              <a:rPr lang="en-US" sz="1100" i="1" dirty="0">
                <a:solidFill>
                  <a:srgbClr val="B8C4D0"/>
                </a:solidFill>
                <a:latin typeface="Calibri" pitchFamily="34" charset="0"/>
                <a:ea typeface="Calibri" pitchFamily="34" charset="-122"/>
                <a:cs typeface="Calibri" pitchFamily="34" charset="-120"/>
              </a:rPr>
              <a:t>Popular open-source repositories</a:t>
            </a:r>
            <a:endParaRPr lang="en-US" sz="1100" dirty="0"/>
          </a:p>
        </p:txBody>
      </p:sp>
      <p:sp>
        <p:nvSpPr>
          <p:cNvPr id="10" name="Text 8"/>
          <p:cNvSpPr/>
          <p:nvPr/>
        </p:nvSpPr>
        <p:spPr>
          <a:xfrm>
            <a:off x="640080" y="3547872"/>
            <a:ext cx="4663440" cy="4114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89% / 11%</a:t>
            </a:r>
            <a:endParaRPr lang="en-US" sz="2400" dirty="0"/>
          </a:p>
        </p:txBody>
      </p:sp>
      <p:sp>
        <p:nvSpPr>
          <p:cNvPr id="11" name="Text 9"/>
          <p:cNvSpPr/>
          <p:nvPr/>
        </p:nvSpPr>
        <p:spPr>
          <a:xfrm>
            <a:off x="640080" y="3959352"/>
            <a:ext cx="4663440" cy="228600"/>
          </a:xfrm>
          <a:prstGeom prst="rect">
            <a:avLst/>
          </a:prstGeom>
          <a:noFill/>
          <a:ln/>
        </p:spPr>
        <p:txBody>
          <a:bodyPr wrap="square" lIns="0" tIns="0" rIns="0" bIns="0" rtlCol="0" anchor="ctr"/>
          <a:lstStyle/>
          <a:p>
            <a:pPr marL="0" indent="0">
              <a:buNone/>
            </a:pPr>
            <a:r>
              <a:rPr lang="en-US" sz="1100" i="1" dirty="0">
                <a:solidFill>
                  <a:srgbClr val="B8C4D0"/>
                </a:solidFill>
                <a:latin typeface="Calibri" pitchFamily="34" charset="0"/>
                <a:ea typeface="Calibri" pitchFamily="34" charset="-122"/>
                <a:cs typeface="Calibri" pitchFamily="34" charset="-120"/>
              </a:rPr>
              <a:t>Success / Failure class balance</a:t>
            </a:r>
            <a:endParaRPr lang="en-US" sz="1100" dirty="0"/>
          </a:p>
        </p:txBody>
      </p:sp>
      <p:sp>
        <p:nvSpPr>
          <p:cNvPr id="12" name="Text 10"/>
          <p:cNvSpPr/>
          <p:nvPr/>
        </p:nvSpPr>
        <p:spPr>
          <a:xfrm>
            <a:off x="640080" y="4224528"/>
            <a:ext cx="4663440" cy="4114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6</a:t>
            </a:r>
            <a:endParaRPr lang="en-US" sz="2400" dirty="0"/>
          </a:p>
        </p:txBody>
      </p:sp>
      <p:sp>
        <p:nvSpPr>
          <p:cNvPr id="13" name="Text 11"/>
          <p:cNvSpPr/>
          <p:nvPr/>
        </p:nvSpPr>
        <p:spPr>
          <a:xfrm>
            <a:off x="640080" y="4636008"/>
            <a:ext cx="4663440" cy="228600"/>
          </a:xfrm>
          <a:prstGeom prst="rect">
            <a:avLst/>
          </a:prstGeom>
          <a:noFill/>
          <a:ln/>
        </p:spPr>
        <p:txBody>
          <a:bodyPr wrap="square" lIns="0" tIns="0" rIns="0" bIns="0" rtlCol="0" anchor="ctr"/>
          <a:lstStyle/>
          <a:p>
            <a:pPr marL="0" indent="0">
              <a:buNone/>
            </a:pPr>
            <a:r>
              <a:rPr lang="en-US" sz="1100" i="1" dirty="0">
                <a:solidFill>
                  <a:srgbClr val="B8C4D0"/>
                </a:solidFill>
                <a:latin typeface="Calibri" pitchFamily="34" charset="0"/>
                <a:ea typeface="Calibri" pitchFamily="34" charset="-122"/>
                <a:cs typeface="Calibri" pitchFamily="34" charset="-120"/>
              </a:rPr>
              <a:t>Programming languages covered</a:t>
            </a:r>
            <a:endParaRPr lang="en-US" sz="1100" dirty="0"/>
          </a:p>
        </p:txBody>
      </p:sp>
      <p:sp>
        <p:nvSpPr>
          <p:cNvPr id="14" name="Text 12"/>
          <p:cNvSpPr/>
          <p:nvPr/>
        </p:nvSpPr>
        <p:spPr>
          <a:xfrm>
            <a:off x="640080" y="4901184"/>
            <a:ext cx="4663440" cy="4114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7,817 / 1,955</a:t>
            </a:r>
            <a:endParaRPr lang="en-US" sz="2400" dirty="0"/>
          </a:p>
        </p:txBody>
      </p:sp>
      <p:sp>
        <p:nvSpPr>
          <p:cNvPr id="15" name="Text 13"/>
          <p:cNvSpPr/>
          <p:nvPr/>
        </p:nvSpPr>
        <p:spPr>
          <a:xfrm>
            <a:off x="640080" y="5312664"/>
            <a:ext cx="4663440" cy="228600"/>
          </a:xfrm>
          <a:prstGeom prst="rect">
            <a:avLst/>
          </a:prstGeom>
          <a:noFill/>
          <a:ln/>
        </p:spPr>
        <p:txBody>
          <a:bodyPr wrap="square" lIns="0" tIns="0" rIns="0" bIns="0" rtlCol="0" anchor="ctr"/>
          <a:lstStyle/>
          <a:p>
            <a:pPr marL="0" indent="0">
              <a:buNone/>
            </a:pPr>
            <a:r>
              <a:rPr lang="en-US" sz="1100" i="1" dirty="0">
                <a:solidFill>
                  <a:srgbClr val="B8C4D0"/>
                </a:solidFill>
                <a:latin typeface="Calibri" pitchFamily="34" charset="0"/>
                <a:ea typeface="Calibri" pitchFamily="34" charset="-122"/>
                <a:cs typeface="Calibri" pitchFamily="34" charset="-120"/>
              </a:rPr>
              <a:t>Train / Test split (stratified)</a:t>
            </a:r>
            <a:endParaRPr lang="en-US" sz="1100" dirty="0"/>
          </a:p>
        </p:txBody>
      </p:sp>
      <p:sp>
        <p:nvSpPr>
          <p:cNvPr id="16" name="Text 14"/>
          <p:cNvSpPr/>
          <p:nvPr/>
        </p:nvSpPr>
        <p:spPr>
          <a:xfrm>
            <a:off x="640080" y="5577840"/>
            <a:ext cx="4663440" cy="4114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~2 hours</a:t>
            </a:r>
            <a:endParaRPr lang="en-US" sz="2400" dirty="0"/>
          </a:p>
        </p:txBody>
      </p:sp>
      <p:sp>
        <p:nvSpPr>
          <p:cNvPr id="17" name="Text 15"/>
          <p:cNvSpPr/>
          <p:nvPr/>
        </p:nvSpPr>
        <p:spPr>
          <a:xfrm>
            <a:off x="640080" y="5989320"/>
            <a:ext cx="4663440" cy="228600"/>
          </a:xfrm>
          <a:prstGeom prst="rect">
            <a:avLst/>
          </a:prstGeom>
          <a:noFill/>
          <a:ln/>
        </p:spPr>
        <p:txBody>
          <a:bodyPr wrap="square" lIns="0" tIns="0" rIns="0" bIns="0" rtlCol="0" anchor="ctr"/>
          <a:lstStyle/>
          <a:p>
            <a:pPr marL="0" indent="0">
              <a:buNone/>
            </a:pPr>
            <a:r>
              <a:rPr lang="en-US" sz="1100" i="1" dirty="0">
                <a:solidFill>
                  <a:srgbClr val="B8C4D0"/>
                </a:solidFill>
                <a:latin typeface="Calibri" pitchFamily="34" charset="0"/>
                <a:ea typeface="Calibri" pitchFamily="34" charset="-122"/>
                <a:cs typeface="Calibri" pitchFamily="34" charset="-120"/>
              </a:rPr>
              <a:t>Collection time (rate-limited)</a:t>
            </a:r>
            <a:endParaRPr lang="en-US" sz="1100" dirty="0"/>
          </a:p>
        </p:txBody>
      </p:sp>
      <p:sp>
        <p:nvSpPr>
          <p:cNvPr id="18" name="Text 16"/>
          <p:cNvSpPr/>
          <p:nvPr/>
        </p:nvSpPr>
        <p:spPr>
          <a:xfrm>
            <a:off x="5760720" y="1463040"/>
            <a:ext cx="5943600" cy="365760"/>
          </a:xfrm>
          <a:prstGeom prst="rect">
            <a:avLst/>
          </a:prstGeom>
          <a:noFill/>
          <a:ln/>
        </p:spPr>
        <p:txBody>
          <a:bodyPr wrap="square" lIns="0" tIns="0" rIns="0" bIns="0"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Sampled Repositories</a:t>
            </a:r>
            <a:endParaRPr lang="en-US" sz="1600" dirty="0"/>
          </a:p>
        </p:txBody>
      </p:sp>
      <p:sp>
        <p:nvSpPr>
          <p:cNvPr id="19" name="Text 17"/>
          <p:cNvSpPr/>
          <p:nvPr/>
        </p:nvSpPr>
        <p:spPr>
          <a:xfrm>
            <a:off x="5760720" y="1874520"/>
            <a:ext cx="5943600" cy="2194560"/>
          </a:xfrm>
          <a:prstGeom prst="rect">
            <a:avLst/>
          </a:prstGeom>
          <a:noFill/>
          <a:ln/>
        </p:spPr>
        <p:txBody>
          <a:bodyPr wrap="square" lIns="0" tIns="0" rIns="0" bIns="0" rtlCol="0" anchor="ctr"/>
          <a:lstStyle/>
          <a:p>
            <a:pPr marL="0" indent="0">
              <a:buNone/>
            </a:pPr>
            <a:r>
              <a:rPr lang="en-US" sz="1200" dirty="0">
                <a:solidFill>
                  <a:srgbClr val="1A1F2E"/>
                </a:solidFill>
                <a:latin typeface="Consolas" pitchFamily="34" charset="0"/>
                <a:ea typeface="Consolas" pitchFamily="34" charset="-122"/>
                <a:cs typeface="Consolas" pitchFamily="34" charset="-120"/>
              </a:rPr>
              <a:t>facebook/react</a:t>
            </a:r>
            <a:endParaRPr lang="en-US" sz="1200" dirty="0"/>
          </a:p>
          <a:p>
            <a:pPr marL="0" indent="0">
              <a:buNone/>
            </a:pPr>
            <a:r>
              <a:rPr lang="en-US" sz="1200" dirty="0">
                <a:solidFill>
                  <a:srgbClr val="1A1F2E"/>
                </a:solidFill>
                <a:latin typeface="Consolas" pitchFamily="34" charset="0"/>
                <a:ea typeface="Consolas" pitchFamily="34" charset="-122"/>
                <a:cs typeface="Consolas" pitchFamily="34" charset="-120"/>
              </a:rPr>
              <a:t>microsoft/vscode</a:t>
            </a:r>
            <a:endParaRPr lang="en-US" sz="1200" dirty="0"/>
          </a:p>
          <a:p>
            <a:pPr marL="0" indent="0">
              <a:buNone/>
            </a:pPr>
            <a:r>
              <a:rPr lang="en-US" sz="1200" dirty="0">
                <a:solidFill>
                  <a:srgbClr val="1A1F2E"/>
                </a:solidFill>
                <a:latin typeface="Consolas" pitchFamily="34" charset="0"/>
                <a:ea typeface="Consolas" pitchFamily="34" charset="-122"/>
                <a:cs typeface="Consolas" pitchFamily="34" charset="-120"/>
              </a:rPr>
              <a:t>tensorflow/tensorflow</a:t>
            </a:r>
            <a:endParaRPr lang="en-US" sz="1200" dirty="0"/>
          </a:p>
          <a:p>
            <a:pPr marL="0" indent="0">
              <a:buNone/>
            </a:pPr>
            <a:r>
              <a:rPr lang="en-US" sz="1200" dirty="0">
                <a:solidFill>
                  <a:srgbClr val="1A1F2E"/>
                </a:solidFill>
                <a:latin typeface="Consolas" pitchFamily="34" charset="0"/>
                <a:ea typeface="Consolas" pitchFamily="34" charset="-122"/>
                <a:cs typeface="Consolas" pitchFamily="34" charset="-120"/>
              </a:rPr>
              <a:t>pytorch/pytorch</a:t>
            </a:r>
            <a:endParaRPr lang="en-US" sz="1200" dirty="0"/>
          </a:p>
          <a:p>
            <a:pPr marL="0" indent="0">
              <a:buNone/>
            </a:pPr>
            <a:r>
              <a:rPr lang="en-US" sz="1200" dirty="0">
                <a:solidFill>
                  <a:srgbClr val="1A1F2E"/>
                </a:solidFill>
                <a:latin typeface="Consolas" pitchFamily="34" charset="0"/>
                <a:ea typeface="Consolas" pitchFamily="34" charset="-122"/>
                <a:cs typeface="Consolas" pitchFamily="34" charset="-120"/>
              </a:rPr>
              <a:t>rust-lang/rust</a:t>
            </a:r>
            <a:endParaRPr lang="en-US" sz="1200" dirty="0"/>
          </a:p>
          <a:p>
            <a:pPr marL="0" indent="0">
              <a:buNone/>
            </a:pPr>
            <a:r>
              <a:rPr lang="en-US" sz="1200" dirty="0">
                <a:solidFill>
                  <a:srgbClr val="1A1F2E"/>
                </a:solidFill>
                <a:latin typeface="Consolas" pitchFamily="34" charset="0"/>
                <a:ea typeface="Consolas" pitchFamily="34" charset="-122"/>
                <a:cs typeface="Consolas" pitchFamily="34" charset="-120"/>
              </a:rPr>
              <a:t>python/cpython</a:t>
            </a:r>
            <a:endParaRPr lang="en-US" sz="1200" dirty="0"/>
          </a:p>
          <a:p>
            <a:pPr marL="0" indent="0">
              <a:buNone/>
            </a:pPr>
            <a:r>
              <a:rPr lang="en-US" sz="1200" dirty="0">
                <a:solidFill>
                  <a:srgbClr val="1A1F2E"/>
                </a:solidFill>
                <a:latin typeface="Consolas" pitchFamily="34" charset="0"/>
                <a:ea typeface="Consolas" pitchFamily="34" charset="-122"/>
                <a:cs typeface="Consolas" pitchFamily="34" charset="-120"/>
              </a:rPr>
              <a:t>elastic/elasticsearch</a:t>
            </a:r>
            <a:endParaRPr lang="en-US" sz="1200" dirty="0"/>
          </a:p>
          <a:p>
            <a:pPr marL="0" indent="0">
              <a:buNone/>
            </a:pPr>
            <a:r>
              <a:rPr lang="en-US" sz="1200" dirty="0">
                <a:solidFill>
                  <a:srgbClr val="1A1F2E"/>
                </a:solidFill>
                <a:latin typeface="Consolas" pitchFamily="34" charset="0"/>
                <a:ea typeface="Consolas" pitchFamily="34" charset="-122"/>
                <a:cs typeface="Consolas" pitchFamily="34" charset="-120"/>
              </a:rPr>
              <a:t>prisma/prisma</a:t>
            </a:r>
            <a:endParaRPr lang="en-US" sz="1200" dirty="0"/>
          </a:p>
          <a:p>
            <a:pPr marL="0" indent="0">
              <a:buNone/>
            </a:pPr>
            <a:r>
              <a:rPr lang="en-US" sz="1200" i="1" dirty="0">
                <a:solidFill>
                  <a:srgbClr val="5A6470"/>
                </a:solidFill>
                <a:latin typeface="Consolas" pitchFamily="34" charset="0"/>
                <a:ea typeface="Consolas" pitchFamily="34" charset="-122"/>
                <a:cs typeface="Consolas" pitchFamily="34" charset="-120"/>
              </a:rPr>
              <a:t>...and 10 more</a:t>
            </a:r>
            <a:endParaRPr lang="en-US" sz="1200" dirty="0"/>
          </a:p>
        </p:txBody>
      </p:sp>
      <p:sp>
        <p:nvSpPr>
          <p:cNvPr id="20" name="Shape 18"/>
          <p:cNvSpPr/>
          <p:nvPr/>
        </p:nvSpPr>
        <p:spPr>
          <a:xfrm>
            <a:off x="5760720" y="4297680"/>
            <a:ext cx="5943600" cy="2011680"/>
          </a:xfrm>
          <a:prstGeom prst="rect">
            <a:avLst/>
          </a:prstGeom>
          <a:solidFill>
            <a:srgbClr val="F7F9FB"/>
          </a:solidFill>
          <a:ln w="12700">
            <a:solidFill>
              <a:srgbClr val="1C7293"/>
            </a:solidFill>
            <a:prstDash val="solid"/>
          </a:ln>
        </p:spPr>
        <p:txBody>
          <a:bodyPr/>
          <a:lstStyle/>
          <a:p>
            <a:endParaRPr lang="en-US"/>
          </a:p>
        </p:txBody>
      </p:sp>
      <p:sp>
        <p:nvSpPr>
          <p:cNvPr id="21" name="Text 19"/>
          <p:cNvSpPr/>
          <p:nvPr/>
        </p:nvSpPr>
        <p:spPr>
          <a:xfrm>
            <a:off x="5943600" y="4434840"/>
            <a:ext cx="5577840" cy="36576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Why real data, not synthetic?</a:t>
            </a:r>
            <a:endParaRPr lang="en-US" sz="1300" dirty="0"/>
          </a:p>
        </p:txBody>
      </p:sp>
      <p:sp>
        <p:nvSpPr>
          <p:cNvPr id="22" name="Text 20"/>
          <p:cNvSpPr/>
          <p:nvPr/>
        </p:nvSpPr>
        <p:spPr>
          <a:xfrm>
            <a:off x="5943600" y="4800600"/>
            <a:ext cx="5577840" cy="1463040"/>
          </a:xfrm>
          <a:prstGeom prst="rect">
            <a:avLst/>
          </a:prstGeom>
          <a:noFill/>
          <a:ln/>
        </p:spPr>
        <p:txBody>
          <a:bodyPr wrap="square" lIns="0" tIns="0" rIns="0" bIns="0" rtlCol="0" anchor="ctr"/>
          <a:lstStyle/>
          <a:p>
            <a:pPr marL="0" indent="0">
              <a:buNone/>
            </a:pPr>
            <a:r>
              <a:rPr lang="en-US" sz="1100" i="1" dirty="0">
                <a:solidFill>
                  <a:srgbClr val="1A1F2E"/>
                </a:solidFill>
                <a:latin typeface="Calibri" pitchFamily="34" charset="0"/>
                <a:ea typeface="Calibri" pitchFamily="34" charset="-122"/>
                <a:cs typeface="Calibri" pitchFamily="34" charset="-120"/>
              </a:rPr>
              <a:t>Initial experiments on a 45K-row synthetic Kaggle dataset revealed that columns were statistically independent — essentially random noise. Pivoting to real GitHub Actions data was the most important methodological decision in the project.</a:t>
            </a:r>
            <a:endParaRPr lang="en-US" sz="1100" dirty="0"/>
          </a:p>
        </p:txBody>
      </p:sp>
      <p:sp>
        <p:nvSpPr>
          <p:cNvPr id="23" name="Text 21"/>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4" name="Text 22"/>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9 / 29</a:t>
            </a:r>
            <a:endParaRPr lang="en-US" sz="10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30000" cy="594360"/>
          </a:xfrm>
          <a:prstGeom prst="rect">
            <a:avLst/>
          </a:prstGeom>
          <a:noFill/>
        </p:spPr>
        <p:txBody>
          <a:bodyPr wrap="square" lIns="0" rIns="0" tIns="0" bIns="0" anchor="t">
            <a:spAutoFit/>
          </a:bodyPr>
          <a:lstStyle/>
          <a:p>
            <a:pPr algn="l">
              <a:spcAft>
                <a:spcPts val="0"/>
              </a:spcAft>
            </a:pPr>
            <a:r>
              <a:rPr sz="2800" b="1">
                <a:solidFill>
                  <a:srgbClr val="065A82"/>
                </a:solidFill>
                <a:latin typeface="Calibri"/>
              </a:rPr>
              <a:t>Failure Is A Property Of The Project</a:t>
            </a:r>
          </a:p>
        </p:txBody>
      </p:sp>
      <p:sp>
        <p:nvSpPr>
          <p:cNvPr id="3" name="TextBox 2"/>
          <p:cNvSpPr txBox="1"/>
          <p:nvPr/>
        </p:nvSpPr>
        <p:spPr>
          <a:xfrm>
            <a:off x="365760" y="868680"/>
            <a:ext cx="11430000" cy="320040"/>
          </a:xfrm>
          <a:prstGeom prst="rect">
            <a:avLst/>
          </a:prstGeom>
          <a:noFill/>
        </p:spPr>
        <p:txBody>
          <a:bodyPr wrap="square" lIns="0" rIns="0" tIns="0" bIns="0" anchor="t">
            <a:spAutoFit/>
          </a:bodyPr>
          <a:lstStyle/>
          <a:p>
            <a:pPr algn="l">
              <a:spcAft>
                <a:spcPts val="0"/>
              </a:spcAft>
            </a:pPr>
            <a:r>
              <a:rPr sz="1400" b="0">
                <a:solidFill>
                  <a:srgbClr val="1C7293"/>
                </a:solidFill>
                <a:latin typeface="Calibri"/>
              </a:rPr>
              <a:t>The same dataset, broken down per repository — the single most important pattern in the data</a:t>
            </a:r>
          </a:p>
        </p:txBody>
      </p:sp>
      <p:sp>
        <p:nvSpPr>
          <p:cNvPr id="4" name="TextBox 3"/>
          <p:cNvSpPr txBox="1"/>
          <p:nvPr/>
        </p:nvSpPr>
        <p:spPr>
          <a:xfrm>
            <a:off x="365760" y="6492240"/>
            <a:ext cx="7315200" cy="274320"/>
          </a:xfrm>
          <a:prstGeom prst="rect">
            <a:avLst/>
          </a:prstGeom>
          <a:noFill/>
        </p:spPr>
        <p:txBody>
          <a:bodyPr wrap="square" lIns="0" rIns="0" tIns="0" bIns="0" anchor="t">
            <a:spAutoFit/>
          </a:bodyPr>
          <a:lstStyle/>
          <a:p>
            <a:pPr algn="l">
              <a:spcAft>
                <a:spcPts val="0"/>
              </a:spcAft>
            </a:pPr>
            <a:r>
              <a:rPr sz="900" b="0">
                <a:solidFill>
                  <a:srgbClr val="5A6470"/>
                </a:solidFill>
                <a:latin typeface="Calibri"/>
              </a:rPr>
              <a:t>Moamen M. Aly  ·  MSc Thesis Defense  ·  September 11, 2026</a:t>
            </a:r>
          </a:p>
        </p:txBody>
      </p:sp>
      <p:sp>
        <p:nvSpPr>
          <p:cNvPr id="5" name="TextBox 4"/>
          <p:cNvSpPr txBox="1"/>
          <p:nvPr/>
        </p:nvSpPr>
        <p:spPr>
          <a:xfrm>
            <a:off x="11430000" y="6492240"/>
            <a:ext cx="640080" cy="274320"/>
          </a:xfrm>
          <a:prstGeom prst="rect">
            <a:avLst/>
          </a:prstGeom>
          <a:noFill/>
        </p:spPr>
        <p:txBody>
          <a:bodyPr wrap="square" lIns="0" rIns="0" tIns="0" bIns="0" anchor="t">
            <a:spAutoFit/>
          </a:bodyPr>
          <a:lstStyle/>
          <a:p>
            <a:pPr algn="r">
              <a:spcAft>
                <a:spcPts val="0"/>
              </a:spcAft>
            </a:pPr>
            <a:r>
              <a:rPr sz="900" b="0">
                <a:solidFill>
                  <a:srgbClr val="5A6470"/>
                </a:solidFill>
                <a:latin typeface="Calibri"/>
              </a:rPr>
              <a:t>10 / 29</a:t>
            </a:r>
          </a:p>
        </p:txBody>
      </p:sp>
      <p:pic>
        <p:nvPicPr>
          <p:cNvPr id="6" name="Picture 5" descr="fig_06_conclusion_vs_repository_heatmap.png"/>
          <p:cNvPicPr>
            <a:picLocks noChangeAspect="1"/>
          </p:cNvPicPr>
          <p:nvPr/>
        </p:nvPicPr>
        <p:blipFill>
          <a:blip r:embed="rId2"/>
          <a:stretch>
            <a:fillRect/>
          </a:stretch>
        </p:blipFill>
        <p:spPr>
          <a:xfrm>
            <a:off x="457200" y="1463040"/>
            <a:ext cx="4831878" cy="4828032"/>
          </a:xfrm>
          <a:prstGeom prst="rect">
            <a:avLst/>
          </a:prstGeom>
        </p:spPr>
      </p:pic>
      <p:sp>
        <p:nvSpPr>
          <p:cNvPr id="7" name="Rectangle 6"/>
          <p:cNvSpPr/>
          <p:nvPr/>
        </p:nvSpPr>
        <p:spPr>
          <a:xfrm>
            <a:off x="5806440" y="1463040"/>
            <a:ext cx="5925312" cy="1481328"/>
          </a:xfrm>
          <a:prstGeom prst="rect">
            <a:avLst/>
          </a:prstGeom>
          <a:solidFill>
            <a:srgbClr val="F7F9FB"/>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07607" y="1627632"/>
            <a:ext cx="5522976" cy="1188720"/>
          </a:xfrm>
          <a:prstGeom prst="rect">
            <a:avLst/>
          </a:prstGeom>
          <a:noFill/>
        </p:spPr>
        <p:txBody>
          <a:bodyPr wrap="square" lIns="0" rIns="0" tIns="0" bIns="0" anchor="t">
            <a:spAutoFit/>
          </a:bodyPr>
          <a:lstStyle/>
          <a:p>
            <a:pPr algn="l">
              <a:lnSpc>
                <a:spcPct val="105000"/>
              </a:lnSpc>
              <a:spcAft>
                <a:spcPts val="0"/>
              </a:spcAft>
            </a:pPr>
            <a:r>
              <a:rPr sz="2600" b="1">
                <a:solidFill>
                  <a:srgbClr val="065A82"/>
                </a:solidFill>
                <a:latin typeface="Calibri"/>
              </a:rPr>
              <a:t>0% → 38.3%</a:t>
            </a:r>
          </a:p>
          <a:p>
            <a:pPr algn="l">
              <a:lnSpc>
                <a:spcPct val="105000"/>
              </a:lnSpc>
              <a:spcAft>
                <a:spcPts val="0"/>
              </a:spcAft>
            </a:pPr>
            <a:r>
              <a:rPr sz="1250" b="1">
                <a:solidFill>
                  <a:srgbClr val="1A1F2E"/>
                </a:solidFill>
                <a:latin typeface="Calibri"/>
              </a:rPr>
              <a:t>the full range of failure rate across the 18 projects</a:t>
            </a:r>
          </a:p>
          <a:p>
            <a:pPr algn="l">
              <a:lnSpc>
                <a:spcPct val="105000"/>
              </a:lnSpc>
              <a:spcAft>
                <a:spcPts val="0"/>
              </a:spcAft>
            </a:pPr>
            <a:r>
              <a:rPr sz="1150" b="0">
                <a:solidFill>
                  <a:srgbClr val="5A6470"/>
                </a:solidFill>
                <a:latin typeface="Calibri"/>
              </a:rPr>
              <a:t>elastic/elasticsearch: 600 runs, not one failure. prisma/prisma: 230 of 600. Elevenfold spread across the seventeen that fail at all.</a:t>
            </a:r>
          </a:p>
        </p:txBody>
      </p:sp>
      <p:sp>
        <p:nvSpPr>
          <p:cNvPr id="9" name="Rectangle 8"/>
          <p:cNvSpPr/>
          <p:nvPr/>
        </p:nvSpPr>
        <p:spPr>
          <a:xfrm>
            <a:off x="5806440" y="3072384"/>
            <a:ext cx="5925312" cy="1572768"/>
          </a:xfrm>
          <a:prstGeom prst="rect">
            <a:avLst/>
          </a:prstGeom>
          <a:solidFill>
            <a:srgbClr val="F7F9FB"/>
          </a:solidFill>
          <a:ln w="9525">
            <a:solidFill>
              <a:srgbClr val="C9D6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007607" y="3218688"/>
            <a:ext cx="5522976" cy="1298448"/>
          </a:xfrm>
          <a:prstGeom prst="rect">
            <a:avLst/>
          </a:prstGeom>
          <a:noFill/>
        </p:spPr>
        <p:txBody>
          <a:bodyPr wrap="square" lIns="0" rIns="0" tIns="0" bIns="0" anchor="t">
            <a:spAutoFit/>
          </a:bodyPr>
          <a:lstStyle/>
          <a:p>
            <a:pPr algn="l">
              <a:lnSpc>
                <a:spcPct val="110000"/>
              </a:lnSpc>
              <a:spcAft>
                <a:spcPts val="0"/>
              </a:spcAft>
            </a:pPr>
            <a:r>
              <a:rPr sz="1400" b="1">
                <a:solidFill>
                  <a:srgbClr val="065A82"/>
                </a:solidFill>
                <a:latin typeface="Calibri"/>
              </a:rPr>
              <a:t>What this explains</a:t>
            </a:r>
          </a:p>
          <a:p>
            <a:pPr algn="l">
              <a:lnSpc>
                <a:spcPct val="110000"/>
              </a:lnSpc>
              <a:spcAft>
                <a:spcPts val="0"/>
              </a:spcAft>
            </a:pPr>
            <a:r>
              <a:rPr sz="500" b="0">
                <a:solidFill>
                  <a:srgbClr val="1A1F2E"/>
                </a:solidFill>
                <a:latin typeface="Calibri"/>
              </a:rPr>
              <a:t/>
            </a:r>
          </a:p>
          <a:p>
            <a:pPr algn="l">
              <a:lnSpc>
                <a:spcPct val="110000"/>
              </a:lnSpc>
              <a:spcAft>
                <a:spcPts val="0"/>
              </a:spcAft>
            </a:pPr>
            <a:r>
              <a:rPr sz="1150" b="0">
                <a:solidFill>
                  <a:srgbClr val="1A1F2E"/>
                </a:solidFill>
                <a:latin typeface="Calibri"/>
              </a:rPr>
              <a:t>Knowing only which project a run belongs to already tells you a great deal about whether it will fail. That is why the categorical-only experiment beats the full model — and it is the reason I call this system a project-level risk estimator.</a:t>
            </a:r>
          </a:p>
        </p:txBody>
      </p:sp>
      <p:sp>
        <p:nvSpPr>
          <p:cNvPr id="11" name="Rectangle 10"/>
          <p:cNvSpPr/>
          <p:nvPr/>
        </p:nvSpPr>
        <p:spPr>
          <a:xfrm>
            <a:off x="5806440" y="4773168"/>
            <a:ext cx="5925312" cy="1490472"/>
          </a:xfrm>
          <a:prstGeom prst="rect">
            <a:avLst/>
          </a:prstGeom>
          <a:solidFill>
            <a:srgbClr val="FDF3E0"/>
          </a:solidFill>
          <a:ln w="12700">
            <a:solidFill>
              <a:srgbClr val="D492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007607" y="4919472"/>
            <a:ext cx="5522976" cy="1216152"/>
          </a:xfrm>
          <a:prstGeom prst="rect">
            <a:avLst/>
          </a:prstGeom>
          <a:noFill/>
        </p:spPr>
        <p:txBody>
          <a:bodyPr wrap="square" lIns="0" rIns="0" tIns="0" bIns="0" anchor="t">
            <a:spAutoFit/>
          </a:bodyPr>
          <a:lstStyle/>
          <a:p>
            <a:pPr algn="l">
              <a:lnSpc>
                <a:spcPct val="110000"/>
              </a:lnSpc>
              <a:spcAft>
                <a:spcPts val="0"/>
              </a:spcAft>
            </a:pPr>
            <a:r>
              <a:rPr sz="1100" b="1">
                <a:solidFill>
                  <a:srgbClr val="D4922A"/>
                </a:solidFill>
                <a:latin typeface="Calibri"/>
              </a:rPr>
              <a:t>⚠  W H A T   I T   A L S O   L I M I T S</a:t>
            </a:r>
          </a:p>
          <a:p>
            <a:pPr algn="l">
              <a:lnSpc>
                <a:spcPct val="110000"/>
              </a:lnSpc>
              <a:spcAft>
                <a:spcPts val="0"/>
              </a:spcAft>
            </a:pPr>
            <a:r>
              <a:rPr sz="1150" b="0">
                <a:solidFill>
                  <a:srgbClr val="1A1F2E"/>
                </a:solidFill>
                <a:latin typeface="Calibri"/>
              </a:rPr>
              <a:t>An unseen project has no history for the model to lean on, so these results should not be read as transferring to a repository outside the eighteen sampled here. Cross-project generalisation is stated as future work, not as a claim.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Hybrid Pipeline Architecture</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Four parallel branches fused via ColumnTransformer</a:t>
            </a:r>
            <a:endParaRPr lang="en-US" sz="1400" dirty="0"/>
          </a:p>
        </p:txBody>
      </p:sp>
      <p:pic>
        <p:nvPicPr>
          <p:cNvPr id="4" name="Image 0" descr="/home/claude/thesis/figures/fig_11_hybrid_architecture_diagram.png"/>
          <p:cNvPicPr>
            <a:picLocks noChangeAspect="1"/>
          </p:cNvPicPr>
          <p:nvPr/>
        </p:nvPicPr>
        <p:blipFill>
          <a:blip r:embed="rId3"/>
          <a:srcRect/>
          <a:stretch/>
        </p:blipFill>
        <p:spPr>
          <a:xfrm>
            <a:off x="457200" y="1371600"/>
            <a:ext cx="7772400" cy="4937760"/>
          </a:xfrm>
          <a:prstGeom prst="rect">
            <a:avLst/>
          </a:prstGeom>
        </p:spPr>
      </p:pic>
      <p:sp>
        <p:nvSpPr>
          <p:cNvPr id="5" name="Text 2"/>
          <p:cNvSpPr/>
          <p:nvPr/>
        </p:nvSpPr>
        <p:spPr>
          <a:xfrm>
            <a:off x="8503920" y="1463040"/>
            <a:ext cx="3291840" cy="36576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Key Design Choices</a:t>
            </a:r>
            <a:endParaRPr lang="en-US" sz="1400" dirty="0"/>
          </a:p>
        </p:txBody>
      </p:sp>
      <p:sp>
        <p:nvSpPr>
          <p:cNvPr id="6" name="Text 3"/>
          <p:cNvSpPr/>
          <p:nvPr/>
        </p:nvSpPr>
        <p:spPr>
          <a:xfrm>
            <a:off x="8503920" y="1828800"/>
            <a:ext cx="3291840" cy="4389120"/>
          </a:xfrm>
          <a:prstGeom prst="rect">
            <a:avLst/>
          </a:prstGeom>
          <a:noFill/>
          <a:ln/>
        </p:spPr>
        <p:txBody>
          <a:bodyPr wrap="square" lIns="0" tIns="0" rIns="0" bIns="0" rtlCol="0" anchor="ctr"/>
          <a:lstStyle/>
          <a:p>
            <a:pPr marL="0" indent="0">
              <a:buNone/>
            </a:pPr>
            <a:r>
              <a:rPr lang="en-US" sz="1200" b="1" dirty="0">
                <a:solidFill>
                  <a:srgbClr val="1A1F2E"/>
                </a:solidFill>
                <a:latin typeface="Calibri" pitchFamily="34" charset="0"/>
                <a:ea typeface="Calibri" pitchFamily="34" charset="-122"/>
                <a:cs typeface="Calibri" pitchFamily="34" charset="-120"/>
              </a:rPr>
              <a:t>Parallel branches</a:t>
            </a:r>
            <a:endParaRPr lang="en-US" sz="1200" dirty="0"/>
          </a:p>
          <a:p>
            <a:pPr marL="0" indent="0">
              <a:buNone/>
            </a:pPr>
            <a:r>
              <a:rPr lang="en-US" sz="1050" dirty="0">
                <a:solidFill>
                  <a:srgbClr val="5A6470"/>
                </a:solidFill>
                <a:latin typeface="Calibri" pitchFamily="34" charset="0"/>
                <a:ea typeface="Calibri" pitchFamily="34" charset="-122"/>
                <a:cs typeface="Calibri" pitchFamily="34" charset="-120"/>
              </a:rPr>
              <a:t>Numerical (scaled), categorical (one-hot), binary (passthrough), text (TF-IDF) — processed independently then fused.</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A1F2E"/>
                </a:solidFill>
                <a:latin typeface="Calibri" pitchFamily="34" charset="0"/>
                <a:ea typeface="Calibri" pitchFamily="34" charset="-122"/>
                <a:cs typeface="Calibri" pitchFamily="34" charset="-120"/>
              </a:rPr>
              <a:t>Sparse matrix</a:t>
            </a:r>
            <a:endParaRPr lang="en-US" sz="1200" dirty="0"/>
          </a:p>
          <a:p>
            <a:pPr marL="0" indent="0">
              <a:buNone/>
            </a:pPr>
            <a:r>
              <a:rPr lang="en-US" sz="1050" dirty="0">
                <a:solidFill>
                  <a:srgbClr val="5A6470"/>
                </a:solidFill>
                <a:latin typeface="Calibri" pitchFamily="34" charset="0"/>
                <a:ea typeface="Calibri" pitchFamily="34" charset="-122"/>
                <a:cs typeface="Calibri" pitchFamily="34" charset="-120"/>
              </a:rPr>
              <a:t>~3,090 columns total. Sparse-aware classifiers (LR, XGB) consume directly without densification.</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A1F2E"/>
                </a:solidFill>
                <a:latin typeface="Calibri" pitchFamily="34" charset="0"/>
                <a:ea typeface="Calibri" pitchFamily="34" charset="-122"/>
                <a:cs typeface="Calibri" pitchFamily="34" charset="-120"/>
              </a:rPr>
              <a:t>Single classifier head</a:t>
            </a:r>
            <a:endParaRPr lang="en-US" sz="1200" dirty="0"/>
          </a:p>
          <a:p>
            <a:pPr marL="0" indent="0">
              <a:buNone/>
            </a:pPr>
            <a:r>
              <a:rPr lang="en-US" sz="1050" dirty="0">
                <a:solidFill>
                  <a:srgbClr val="5A6470"/>
                </a:solidFill>
                <a:latin typeface="Calibri" pitchFamily="34" charset="0"/>
                <a:ea typeface="Calibri" pitchFamily="34" charset="-122"/>
                <a:cs typeface="Calibri" pitchFamily="34" charset="-120"/>
              </a:rPr>
              <a:t>Binary output (no MultiOutputClassifier wrapper) — operational decision: success or failure.</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A1F2E"/>
                </a:solidFill>
                <a:latin typeface="Calibri" pitchFamily="34" charset="0"/>
                <a:ea typeface="Calibri" pitchFamily="34" charset="-122"/>
                <a:cs typeface="Calibri" pitchFamily="34" charset="-120"/>
              </a:rPr>
              <a:t>Modular</a:t>
            </a:r>
            <a:endParaRPr lang="en-US" sz="1200" dirty="0"/>
          </a:p>
          <a:p>
            <a:pPr marL="0" indent="0">
              <a:buNone/>
            </a:pPr>
            <a:r>
              <a:rPr lang="en-US" sz="1050" dirty="0">
                <a:solidFill>
                  <a:srgbClr val="5A6470"/>
                </a:solidFill>
                <a:latin typeface="Calibri" pitchFamily="34" charset="0"/>
                <a:ea typeface="Calibri" pitchFamily="34" charset="-122"/>
                <a:cs typeface="Calibri" pitchFamily="34" charset="-120"/>
              </a:rPr>
              <a:t>Any branch can be swapped (e.g., TF-IDF → BERT) without touching the rest.</a:t>
            </a:r>
            <a:endParaRPr lang="en-US" sz="1200" dirty="0"/>
          </a:p>
        </p:txBody>
      </p:sp>
      <p:sp>
        <p:nvSpPr>
          <p:cNvPr id="7" name="Text 4"/>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8" name="Text 5"/>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11 / 29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Feature Engineering</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16 features across 4 modalities</a:t>
            </a:r>
            <a:endParaRPr lang="en-US" sz="1400" dirty="0"/>
          </a:p>
        </p:txBody>
      </p:sp>
      <p:sp>
        <p:nvSpPr>
          <p:cNvPr id="4" name="Shape 2"/>
          <p:cNvSpPr/>
          <p:nvPr/>
        </p:nvSpPr>
        <p:spPr>
          <a:xfrm>
            <a:off x="457200" y="1463040"/>
            <a:ext cx="2788920" cy="4572000"/>
          </a:xfrm>
          <a:prstGeom prst="rect">
            <a:avLst/>
          </a:prstGeom>
          <a:solidFill>
            <a:srgbClr val="F7F9FB"/>
          </a:solidFill>
          <a:ln w="12700">
            <a:solidFill>
              <a:srgbClr val="065A82"/>
            </a:solidFill>
            <a:prstDash val="solid"/>
          </a:ln>
          <a:effectLst>
            <a:outerShdw blurRad="76200" dist="25400" dir="5400000" algn="bl" rotWithShape="0">
              <a:srgbClr val="000000">
                <a:alpha val="8000"/>
              </a:srgbClr>
            </a:outerShdw>
          </a:effectLst>
        </p:spPr>
        <p:txBody>
          <a:bodyPr/>
          <a:lstStyle/>
          <a:p>
            <a:endParaRPr lang="en-US"/>
          </a:p>
        </p:txBody>
      </p:sp>
      <p:sp>
        <p:nvSpPr>
          <p:cNvPr id="5" name="Shape 3"/>
          <p:cNvSpPr/>
          <p:nvPr/>
        </p:nvSpPr>
        <p:spPr>
          <a:xfrm>
            <a:off x="457200" y="1463040"/>
            <a:ext cx="2788920" cy="548640"/>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457200" y="1463040"/>
            <a:ext cx="2788920" cy="320040"/>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NUMERICAL</a:t>
            </a:r>
            <a:endParaRPr lang="en-US" sz="1200" dirty="0"/>
          </a:p>
        </p:txBody>
      </p:sp>
      <p:sp>
        <p:nvSpPr>
          <p:cNvPr id="7" name="Text 5"/>
          <p:cNvSpPr/>
          <p:nvPr/>
        </p:nvSpPr>
        <p:spPr>
          <a:xfrm>
            <a:off x="457200" y="1755648"/>
            <a:ext cx="2788920" cy="22860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5 features</a:t>
            </a:r>
            <a:endParaRPr lang="en-US" sz="1100" dirty="0"/>
          </a:p>
        </p:txBody>
      </p:sp>
      <p:sp>
        <p:nvSpPr>
          <p:cNvPr id="8" name="Text 6"/>
          <p:cNvSpPr/>
          <p:nvPr/>
        </p:nvSpPr>
        <p:spPr>
          <a:xfrm>
            <a:off x="640080" y="2194560"/>
            <a:ext cx="2468880" cy="2377440"/>
          </a:xfrm>
          <a:prstGeom prst="rect">
            <a:avLst/>
          </a:prstGeom>
          <a:noFill/>
          <a:ln/>
        </p:spPr>
        <p:txBody>
          <a:bodyPr wrap="square" lIns="0" tIns="0" rIns="0" bIns="0" rtlCol="0" anchor="ctr"/>
          <a:lstStyle/>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log_lines_added</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log_lines_deleted</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log_files_changed</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commit_message_length</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avg_lines_per_file</a:t>
            </a:r>
            <a:endParaRPr lang="en-US" sz="1050" dirty="0"/>
          </a:p>
        </p:txBody>
      </p:sp>
      <p:sp>
        <p:nvSpPr>
          <p:cNvPr id="9" name="Shape 7"/>
          <p:cNvSpPr/>
          <p:nvPr/>
        </p:nvSpPr>
        <p:spPr>
          <a:xfrm>
            <a:off x="640080" y="5029200"/>
            <a:ext cx="2423160" cy="0"/>
          </a:xfrm>
          <a:prstGeom prst="line">
            <a:avLst/>
          </a:prstGeom>
          <a:noFill/>
          <a:ln w="12700">
            <a:solidFill>
              <a:srgbClr val="065A82"/>
            </a:solidFill>
            <a:prstDash val="solid"/>
          </a:ln>
        </p:spPr>
        <p:txBody>
          <a:bodyPr/>
          <a:lstStyle/>
          <a:p>
            <a:endParaRPr lang="en-US"/>
          </a:p>
        </p:txBody>
      </p:sp>
      <p:sp>
        <p:nvSpPr>
          <p:cNvPr id="10" name="Text 8"/>
          <p:cNvSpPr/>
          <p:nvPr/>
        </p:nvSpPr>
        <p:spPr>
          <a:xfrm>
            <a:off x="640080" y="5120640"/>
            <a:ext cx="2423160" cy="228600"/>
          </a:xfrm>
          <a:prstGeom prst="rect">
            <a:avLst/>
          </a:prstGeom>
          <a:noFill/>
          <a:ln/>
        </p:spPr>
        <p:txBody>
          <a:bodyPr wrap="square" lIns="0" tIns="0" rIns="0" bIns="0" rtlCol="0" anchor="ctr"/>
          <a:lstStyle/>
          <a:p>
            <a:pPr marL="0" indent="0">
              <a:buNone/>
            </a:pPr>
            <a:r>
              <a:rPr lang="en-US" sz="950" b="1" dirty="0">
                <a:solidFill>
                  <a:srgbClr val="065A82"/>
                </a:solidFill>
                <a:latin typeface="Calibri" pitchFamily="34" charset="0"/>
                <a:ea typeface="Calibri" pitchFamily="34" charset="-122"/>
                <a:cs typeface="Calibri" pitchFamily="34" charset="-120"/>
              </a:rPr>
              <a:t>Treatment:</a:t>
            </a:r>
            <a:endParaRPr lang="en-US" sz="950" dirty="0"/>
          </a:p>
        </p:txBody>
      </p:sp>
      <p:sp>
        <p:nvSpPr>
          <p:cNvPr id="11" name="Text 9"/>
          <p:cNvSpPr/>
          <p:nvPr/>
        </p:nvSpPr>
        <p:spPr>
          <a:xfrm>
            <a:off x="640080" y="5349240"/>
            <a:ext cx="2423160" cy="640080"/>
          </a:xfrm>
          <a:prstGeom prst="rect">
            <a:avLst/>
          </a:prstGeom>
          <a:noFill/>
          <a:ln/>
        </p:spPr>
        <p:txBody>
          <a:bodyPr wrap="square" lIns="0" tIns="0" rIns="0" bIns="0" rtlCol="0" anchor="ctr"/>
          <a:lstStyle/>
          <a:p>
            <a:pPr marL="0" indent="0">
              <a:buNone/>
            </a:pPr>
            <a:r>
              <a:rPr lang="en-US" sz="950" i="1" dirty="0">
                <a:solidFill>
                  <a:srgbClr val="5A6470"/>
                </a:solidFill>
                <a:latin typeface="Calibri" pitchFamily="34" charset="0"/>
                <a:ea typeface="Calibri" pitchFamily="34" charset="-122"/>
                <a:cs typeface="Calibri" pitchFamily="34" charset="-120"/>
              </a:rPr>
              <a:t>StandardScaler</a:t>
            </a:r>
            <a:endParaRPr lang="en-US" sz="950" dirty="0"/>
          </a:p>
        </p:txBody>
      </p:sp>
      <p:sp>
        <p:nvSpPr>
          <p:cNvPr id="12" name="Shape 10"/>
          <p:cNvSpPr/>
          <p:nvPr/>
        </p:nvSpPr>
        <p:spPr>
          <a:xfrm>
            <a:off x="3383280" y="1463040"/>
            <a:ext cx="2788920" cy="4572000"/>
          </a:xfrm>
          <a:prstGeom prst="rect">
            <a:avLst/>
          </a:prstGeom>
          <a:solidFill>
            <a:srgbClr val="F7F9FB"/>
          </a:solidFill>
          <a:ln w="12700">
            <a:solidFill>
              <a:srgbClr val="2C8C5C"/>
            </a:solidFill>
            <a:prstDash val="solid"/>
          </a:ln>
          <a:effectLst>
            <a:outerShdw blurRad="76200" dist="25400" dir="5400000" algn="bl" rotWithShape="0">
              <a:srgbClr val="000000">
                <a:alpha val="8000"/>
              </a:srgbClr>
            </a:outerShdw>
          </a:effectLst>
        </p:spPr>
        <p:txBody>
          <a:bodyPr/>
          <a:lstStyle/>
          <a:p>
            <a:endParaRPr lang="en-US"/>
          </a:p>
        </p:txBody>
      </p:sp>
      <p:sp>
        <p:nvSpPr>
          <p:cNvPr id="13" name="Shape 11"/>
          <p:cNvSpPr/>
          <p:nvPr/>
        </p:nvSpPr>
        <p:spPr>
          <a:xfrm>
            <a:off x="3383280" y="1463040"/>
            <a:ext cx="2788920" cy="548640"/>
          </a:xfrm>
          <a:prstGeom prst="rect">
            <a:avLst/>
          </a:prstGeom>
          <a:solidFill>
            <a:srgbClr val="2C8C5C"/>
          </a:solidFill>
          <a:ln w="12700">
            <a:solidFill>
              <a:srgbClr val="2C8C5C"/>
            </a:solidFill>
            <a:prstDash val="solid"/>
          </a:ln>
        </p:spPr>
        <p:txBody>
          <a:bodyPr/>
          <a:lstStyle/>
          <a:p>
            <a:endParaRPr lang="en-US"/>
          </a:p>
        </p:txBody>
      </p:sp>
      <p:sp>
        <p:nvSpPr>
          <p:cNvPr id="14" name="Text 12"/>
          <p:cNvSpPr/>
          <p:nvPr/>
        </p:nvSpPr>
        <p:spPr>
          <a:xfrm>
            <a:off x="3383280" y="1463040"/>
            <a:ext cx="2788920" cy="320040"/>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CATEGORICAL</a:t>
            </a:r>
            <a:endParaRPr lang="en-US" sz="1200" dirty="0"/>
          </a:p>
        </p:txBody>
      </p:sp>
      <p:sp>
        <p:nvSpPr>
          <p:cNvPr id="15" name="Text 13"/>
          <p:cNvSpPr/>
          <p:nvPr/>
        </p:nvSpPr>
        <p:spPr>
          <a:xfrm>
            <a:off x="3383280" y="1755648"/>
            <a:ext cx="2788920" cy="22860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4 features</a:t>
            </a:r>
            <a:endParaRPr lang="en-US" sz="1100" dirty="0"/>
          </a:p>
        </p:txBody>
      </p:sp>
      <p:sp>
        <p:nvSpPr>
          <p:cNvPr id="16" name="Text 14"/>
          <p:cNvSpPr/>
          <p:nvPr/>
        </p:nvSpPr>
        <p:spPr>
          <a:xfrm>
            <a:off x="3566160" y="2194560"/>
            <a:ext cx="2468880" cy="2377440"/>
          </a:xfrm>
          <a:prstGeom prst="rect">
            <a:avLst/>
          </a:prstGeom>
          <a:noFill/>
          <a:ln/>
        </p:spPr>
        <p:txBody>
          <a:bodyPr wrap="square" lIns="0" tIns="0" rIns="0" bIns="0" rtlCol="0" anchor="ctr"/>
          <a:lstStyle/>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repository</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workflow_name</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branch</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event</a:t>
            </a:r>
            <a:endParaRPr lang="en-US" sz="1050" dirty="0"/>
          </a:p>
        </p:txBody>
      </p:sp>
      <p:sp>
        <p:nvSpPr>
          <p:cNvPr id="17" name="Shape 15"/>
          <p:cNvSpPr/>
          <p:nvPr/>
        </p:nvSpPr>
        <p:spPr>
          <a:xfrm>
            <a:off x="3566160" y="5029200"/>
            <a:ext cx="2423160" cy="0"/>
          </a:xfrm>
          <a:prstGeom prst="line">
            <a:avLst/>
          </a:prstGeom>
          <a:noFill/>
          <a:ln w="12700">
            <a:solidFill>
              <a:srgbClr val="2C8C5C"/>
            </a:solidFill>
            <a:prstDash val="solid"/>
          </a:ln>
        </p:spPr>
        <p:txBody>
          <a:bodyPr/>
          <a:lstStyle/>
          <a:p>
            <a:endParaRPr lang="en-US"/>
          </a:p>
        </p:txBody>
      </p:sp>
      <p:sp>
        <p:nvSpPr>
          <p:cNvPr id="18" name="Text 16"/>
          <p:cNvSpPr/>
          <p:nvPr/>
        </p:nvSpPr>
        <p:spPr>
          <a:xfrm>
            <a:off x="3566160" y="5120640"/>
            <a:ext cx="2423160" cy="228600"/>
          </a:xfrm>
          <a:prstGeom prst="rect">
            <a:avLst/>
          </a:prstGeom>
          <a:noFill/>
          <a:ln/>
        </p:spPr>
        <p:txBody>
          <a:bodyPr wrap="square" lIns="0" tIns="0" rIns="0" bIns="0" rtlCol="0" anchor="ctr"/>
          <a:lstStyle/>
          <a:p>
            <a:pPr marL="0" indent="0">
              <a:buNone/>
            </a:pPr>
            <a:r>
              <a:rPr lang="en-US" sz="950" b="1" dirty="0">
                <a:solidFill>
                  <a:srgbClr val="2C8C5C"/>
                </a:solidFill>
                <a:latin typeface="Calibri" pitchFamily="34" charset="0"/>
                <a:ea typeface="Calibri" pitchFamily="34" charset="-122"/>
                <a:cs typeface="Calibri" pitchFamily="34" charset="-120"/>
              </a:rPr>
              <a:t>Treatment:</a:t>
            </a:r>
            <a:endParaRPr lang="en-US" sz="950" dirty="0"/>
          </a:p>
        </p:txBody>
      </p:sp>
      <p:sp>
        <p:nvSpPr>
          <p:cNvPr id="19" name="Text 17"/>
          <p:cNvSpPr/>
          <p:nvPr/>
        </p:nvSpPr>
        <p:spPr>
          <a:xfrm>
            <a:off x="3566160" y="5349240"/>
            <a:ext cx="2423160" cy="640080"/>
          </a:xfrm>
          <a:prstGeom prst="rect">
            <a:avLst/>
          </a:prstGeom>
          <a:noFill/>
          <a:ln/>
        </p:spPr>
        <p:txBody>
          <a:bodyPr wrap="square" lIns="0" tIns="0" rIns="0" bIns="0" rtlCol="0" anchor="ctr"/>
          <a:lstStyle/>
          <a:p>
            <a:pPr marL="0" indent="0">
              <a:buNone/>
            </a:pPr>
            <a:r>
              <a:rPr lang="en-US" sz="950" i="1" dirty="0">
                <a:solidFill>
                  <a:srgbClr val="5A6470"/>
                </a:solidFill>
                <a:latin typeface="Calibri" pitchFamily="34" charset="0"/>
                <a:ea typeface="Calibri" pitchFamily="34" charset="-122"/>
                <a:cs typeface="Calibri" pitchFamily="34" charset="-120"/>
              </a:rPr>
              <a:t>OneHotEncoder (with rare-category bucketing)</a:t>
            </a:r>
            <a:endParaRPr lang="en-US" sz="950" dirty="0"/>
          </a:p>
        </p:txBody>
      </p:sp>
      <p:sp>
        <p:nvSpPr>
          <p:cNvPr id="20" name="Shape 18"/>
          <p:cNvSpPr/>
          <p:nvPr/>
        </p:nvSpPr>
        <p:spPr>
          <a:xfrm>
            <a:off x="6309360" y="1463040"/>
            <a:ext cx="2788920" cy="4572000"/>
          </a:xfrm>
          <a:prstGeom prst="rect">
            <a:avLst/>
          </a:prstGeom>
          <a:solidFill>
            <a:srgbClr val="F7F9FB"/>
          </a:solidFill>
          <a:ln w="12700">
            <a:solidFill>
              <a:srgbClr val="D4922A"/>
            </a:solidFill>
            <a:prstDash val="solid"/>
          </a:ln>
          <a:effectLst>
            <a:outerShdw blurRad="76200" dist="25400" dir="5400000" algn="bl" rotWithShape="0">
              <a:srgbClr val="000000">
                <a:alpha val="8000"/>
              </a:srgbClr>
            </a:outerShdw>
          </a:effectLst>
        </p:spPr>
        <p:txBody>
          <a:bodyPr/>
          <a:lstStyle/>
          <a:p>
            <a:endParaRPr lang="en-US"/>
          </a:p>
        </p:txBody>
      </p:sp>
      <p:sp>
        <p:nvSpPr>
          <p:cNvPr id="21" name="Shape 19"/>
          <p:cNvSpPr/>
          <p:nvPr/>
        </p:nvSpPr>
        <p:spPr>
          <a:xfrm>
            <a:off x="6309360" y="1463040"/>
            <a:ext cx="2788920" cy="548640"/>
          </a:xfrm>
          <a:prstGeom prst="rect">
            <a:avLst/>
          </a:prstGeom>
          <a:solidFill>
            <a:srgbClr val="D4922A"/>
          </a:solidFill>
          <a:ln w="12700">
            <a:solidFill>
              <a:srgbClr val="D4922A"/>
            </a:solidFill>
            <a:prstDash val="solid"/>
          </a:ln>
        </p:spPr>
        <p:txBody>
          <a:bodyPr/>
          <a:lstStyle/>
          <a:p>
            <a:endParaRPr lang="en-US"/>
          </a:p>
        </p:txBody>
      </p:sp>
      <p:sp>
        <p:nvSpPr>
          <p:cNvPr id="22" name="Text 20"/>
          <p:cNvSpPr/>
          <p:nvPr/>
        </p:nvSpPr>
        <p:spPr>
          <a:xfrm>
            <a:off x="6309360" y="1463040"/>
            <a:ext cx="2788920" cy="320040"/>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BINARY</a:t>
            </a:r>
            <a:endParaRPr lang="en-US" sz="1200" dirty="0"/>
          </a:p>
        </p:txBody>
      </p:sp>
      <p:sp>
        <p:nvSpPr>
          <p:cNvPr id="23" name="Text 21"/>
          <p:cNvSpPr/>
          <p:nvPr/>
        </p:nvSpPr>
        <p:spPr>
          <a:xfrm>
            <a:off x="6309360" y="1755648"/>
            <a:ext cx="2788920" cy="22860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6 features</a:t>
            </a:r>
            <a:endParaRPr lang="en-US" sz="1100" dirty="0"/>
          </a:p>
        </p:txBody>
      </p:sp>
      <p:sp>
        <p:nvSpPr>
          <p:cNvPr id="24" name="Text 22"/>
          <p:cNvSpPr/>
          <p:nvPr/>
        </p:nvSpPr>
        <p:spPr>
          <a:xfrm>
            <a:off x="6492240" y="2194560"/>
            <a:ext cx="2468880" cy="2377440"/>
          </a:xfrm>
          <a:prstGeom prst="rect">
            <a:avLst/>
          </a:prstGeom>
          <a:noFill/>
          <a:ln/>
        </p:spPr>
        <p:txBody>
          <a:bodyPr wrap="square" lIns="0" tIns="0" rIns="0" bIns="0" rtlCol="0" anchor="ctr"/>
          <a:lstStyle/>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is_large_commit</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is_many_files</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is_weekend_commit</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is_off_hours_commit</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is_bot_author</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was_truncated</a:t>
            </a:r>
            <a:endParaRPr lang="en-US" sz="1050" dirty="0"/>
          </a:p>
        </p:txBody>
      </p:sp>
      <p:sp>
        <p:nvSpPr>
          <p:cNvPr id="25" name="Shape 23"/>
          <p:cNvSpPr/>
          <p:nvPr/>
        </p:nvSpPr>
        <p:spPr>
          <a:xfrm>
            <a:off x="6492240" y="5029200"/>
            <a:ext cx="2423160" cy="0"/>
          </a:xfrm>
          <a:prstGeom prst="line">
            <a:avLst/>
          </a:prstGeom>
          <a:noFill/>
          <a:ln w="12700">
            <a:solidFill>
              <a:srgbClr val="D4922A"/>
            </a:solidFill>
            <a:prstDash val="solid"/>
          </a:ln>
        </p:spPr>
        <p:txBody>
          <a:bodyPr/>
          <a:lstStyle/>
          <a:p>
            <a:endParaRPr lang="en-US"/>
          </a:p>
        </p:txBody>
      </p:sp>
      <p:sp>
        <p:nvSpPr>
          <p:cNvPr id="26" name="Text 24"/>
          <p:cNvSpPr/>
          <p:nvPr/>
        </p:nvSpPr>
        <p:spPr>
          <a:xfrm>
            <a:off x="6492240" y="5120640"/>
            <a:ext cx="2423160" cy="228600"/>
          </a:xfrm>
          <a:prstGeom prst="rect">
            <a:avLst/>
          </a:prstGeom>
          <a:noFill/>
          <a:ln/>
        </p:spPr>
        <p:txBody>
          <a:bodyPr wrap="square" lIns="0" tIns="0" rIns="0" bIns="0" rtlCol="0" anchor="ctr"/>
          <a:lstStyle/>
          <a:p>
            <a:pPr marL="0" indent="0">
              <a:buNone/>
            </a:pPr>
            <a:r>
              <a:rPr lang="en-US" sz="950" b="1" dirty="0">
                <a:solidFill>
                  <a:srgbClr val="D4922A"/>
                </a:solidFill>
                <a:latin typeface="Calibri" pitchFamily="34" charset="0"/>
                <a:ea typeface="Calibri" pitchFamily="34" charset="-122"/>
                <a:cs typeface="Calibri" pitchFamily="34" charset="-120"/>
              </a:rPr>
              <a:t>Treatment:</a:t>
            </a:r>
            <a:endParaRPr lang="en-US" sz="950" dirty="0"/>
          </a:p>
        </p:txBody>
      </p:sp>
      <p:sp>
        <p:nvSpPr>
          <p:cNvPr id="27" name="Text 25"/>
          <p:cNvSpPr/>
          <p:nvPr/>
        </p:nvSpPr>
        <p:spPr>
          <a:xfrm>
            <a:off x="6492240" y="5349240"/>
            <a:ext cx="2423160" cy="640080"/>
          </a:xfrm>
          <a:prstGeom prst="rect">
            <a:avLst/>
          </a:prstGeom>
          <a:noFill/>
          <a:ln/>
        </p:spPr>
        <p:txBody>
          <a:bodyPr wrap="square" lIns="0" tIns="0" rIns="0" bIns="0" rtlCol="0" anchor="ctr"/>
          <a:lstStyle/>
          <a:p>
            <a:pPr marL="0" indent="0">
              <a:buNone/>
            </a:pPr>
            <a:r>
              <a:rPr lang="en-US" sz="950" i="1" dirty="0">
                <a:solidFill>
                  <a:srgbClr val="5A6470"/>
                </a:solidFill>
                <a:latin typeface="Calibri" pitchFamily="34" charset="0"/>
                <a:ea typeface="Calibri" pitchFamily="34" charset="-122"/>
                <a:cs typeface="Calibri" pitchFamily="34" charset="-120"/>
              </a:rPr>
              <a:t>Passthrough (already 0/1)</a:t>
            </a:r>
            <a:endParaRPr lang="en-US" sz="950" dirty="0"/>
          </a:p>
        </p:txBody>
      </p:sp>
      <p:sp>
        <p:nvSpPr>
          <p:cNvPr id="28" name="Shape 26"/>
          <p:cNvSpPr/>
          <p:nvPr/>
        </p:nvSpPr>
        <p:spPr>
          <a:xfrm>
            <a:off x="9235440" y="1463040"/>
            <a:ext cx="2788920" cy="4572000"/>
          </a:xfrm>
          <a:prstGeom prst="rect">
            <a:avLst/>
          </a:prstGeom>
          <a:solidFill>
            <a:srgbClr val="F7F9FB"/>
          </a:solidFill>
          <a:ln w="12700">
            <a:solidFill>
              <a:srgbClr val="8B3FBF"/>
            </a:solidFill>
            <a:prstDash val="solid"/>
          </a:ln>
          <a:effectLst>
            <a:outerShdw blurRad="76200" dist="25400" dir="5400000" algn="bl" rotWithShape="0">
              <a:srgbClr val="000000">
                <a:alpha val="8000"/>
              </a:srgbClr>
            </a:outerShdw>
          </a:effectLst>
        </p:spPr>
        <p:txBody>
          <a:bodyPr/>
          <a:lstStyle/>
          <a:p>
            <a:endParaRPr lang="en-US"/>
          </a:p>
        </p:txBody>
      </p:sp>
      <p:sp>
        <p:nvSpPr>
          <p:cNvPr id="29" name="Shape 27"/>
          <p:cNvSpPr/>
          <p:nvPr/>
        </p:nvSpPr>
        <p:spPr>
          <a:xfrm>
            <a:off x="9235440" y="1463040"/>
            <a:ext cx="2788920" cy="548640"/>
          </a:xfrm>
          <a:prstGeom prst="rect">
            <a:avLst/>
          </a:prstGeom>
          <a:solidFill>
            <a:srgbClr val="8B3FBF"/>
          </a:solidFill>
          <a:ln w="12700">
            <a:solidFill>
              <a:srgbClr val="8B3FBF"/>
            </a:solidFill>
            <a:prstDash val="solid"/>
          </a:ln>
        </p:spPr>
        <p:txBody>
          <a:bodyPr/>
          <a:lstStyle/>
          <a:p>
            <a:endParaRPr lang="en-US"/>
          </a:p>
        </p:txBody>
      </p:sp>
      <p:sp>
        <p:nvSpPr>
          <p:cNvPr id="30" name="Text 28"/>
          <p:cNvSpPr/>
          <p:nvPr/>
        </p:nvSpPr>
        <p:spPr>
          <a:xfrm>
            <a:off x="9235440" y="1463040"/>
            <a:ext cx="2788920" cy="320040"/>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TEXTUAL</a:t>
            </a:r>
            <a:endParaRPr lang="en-US" sz="1200" dirty="0"/>
          </a:p>
        </p:txBody>
      </p:sp>
      <p:sp>
        <p:nvSpPr>
          <p:cNvPr id="31" name="Text 29"/>
          <p:cNvSpPr/>
          <p:nvPr/>
        </p:nvSpPr>
        <p:spPr>
          <a:xfrm>
            <a:off x="9235440" y="1755648"/>
            <a:ext cx="2788920" cy="22860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1 feature</a:t>
            </a:r>
            <a:endParaRPr lang="en-US" sz="1100" dirty="0"/>
          </a:p>
        </p:txBody>
      </p:sp>
      <p:sp>
        <p:nvSpPr>
          <p:cNvPr id="32" name="Text 30"/>
          <p:cNvSpPr/>
          <p:nvPr/>
        </p:nvSpPr>
        <p:spPr>
          <a:xfrm>
            <a:off x="9418320" y="2194560"/>
            <a:ext cx="2468880" cy="2377440"/>
          </a:xfrm>
          <a:prstGeom prst="rect">
            <a:avLst/>
          </a:prstGeom>
          <a:noFill/>
          <a:ln/>
        </p:spPr>
        <p:txBody>
          <a:bodyPr wrap="square" lIns="0" tIns="0" rIns="0" bIns="0" rtlCol="0" anchor="ctr"/>
          <a:lstStyle/>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commit_message_clean</a:t>
            </a:r>
            <a:endParaRPr lang="en-US" sz="1050" dirty="0"/>
          </a:p>
        </p:txBody>
      </p:sp>
      <p:sp>
        <p:nvSpPr>
          <p:cNvPr id="33" name="Shape 31"/>
          <p:cNvSpPr/>
          <p:nvPr/>
        </p:nvSpPr>
        <p:spPr>
          <a:xfrm>
            <a:off x="9418320" y="5029200"/>
            <a:ext cx="2423160" cy="0"/>
          </a:xfrm>
          <a:prstGeom prst="line">
            <a:avLst/>
          </a:prstGeom>
          <a:noFill/>
          <a:ln w="12700">
            <a:solidFill>
              <a:srgbClr val="8B3FBF"/>
            </a:solidFill>
            <a:prstDash val="solid"/>
          </a:ln>
        </p:spPr>
        <p:txBody>
          <a:bodyPr/>
          <a:lstStyle/>
          <a:p>
            <a:endParaRPr lang="en-US"/>
          </a:p>
        </p:txBody>
      </p:sp>
      <p:sp>
        <p:nvSpPr>
          <p:cNvPr id="34" name="Text 32"/>
          <p:cNvSpPr/>
          <p:nvPr/>
        </p:nvSpPr>
        <p:spPr>
          <a:xfrm>
            <a:off x="9418320" y="5120640"/>
            <a:ext cx="2423160" cy="228600"/>
          </a:xfrm>
          <a:prstGeom prst="rect">
            <a:avLst/>
          </a:prstGeom>
          <a:noFill/>
          <a:ln/>
        </p:spPr>
        <p:txBody>
          <a:bodyPr wrap="square" lIns="0" tIns="0" rIns="0" bIns="0" rtlCol="0" anchor="ctr"/>
          <a:lstStyle/>
          <a:p>
            <a:pPr marL="0" indent="0">
              <a:buNone/>
            </a:pPr>
            <a:r>
              <a:rPr lang="en-US" sz="950" b="1" dirty="0">
                <a:solidFill>
                  <a:srgbClr val="8B3FBF"/>
                </a:solidFill>
                <a:latin typeface="Calibri" pitchFamily="34" charset="0"/>
                <a:ea typeface="Calibri" pitchFamily="34" charset="-122"/>
                <a:cs typeface="Calibri" pitchFamily="34" charset="-120"/>
              </a:rPr>
              <a:t>Treatment:</a:t>
            </a:r>
            <a:endParaRPr lang="en-US" sz="950" dirty="0"/>
          </a:p>
        </p:txBody>
      </p:sp>
      <p:sp>
        <p:nvSpPr>
          <p:cNvPr id="35" name="Text 33"/>
          <p:cNvSpPr/>
          <p:nvPr/>
        </p:nvSpPr>
        <p:spPr>
          <a:xfrm>
            <a:off x="9418320" y="5349240"/>
            <a:ext cx="2423160" cy="640080"/>
          </a:xfrm>
          <a:prstGeom prst="rect">
            <a:avLst/>
          </a:prstGeom>
          <a:noFill/>
          <a:ln/>
        </p:spPr>
        <p:txBody>
          <a:bodyPr wrap="square" lIns="0" tIns="0" rIns="0" bIns="0" rtlCol="0" anchor="ctr"/>
          <a:lstStyle/>
          <a:p>
            <a:pPr marL="0" indent="0">
              <a:buNone/>
            </a:pPr>
            <a:r>
              <a:rPr lang="en-US" sz="950" i="1" dirty="0">
                <a:solidFill>
                  <a:srgbClr val="5A6470"/>
                </a:solidFill>
                <a:latin typeface="Calibri" pitchFamily="34" charset="0"/>
                <a:ea typeface="Calibri" pitchFamily="34" charset="-122"/>
                <a:cs typeface="Calibri" pitchFamily="34" charset="-120"/>
              </a:rPr>
              <a:t>TF-IDF (ngram 1-2, max_features=3000, sublinear_tf)</a:t>
            </a:r>
            <a:endParaRPr lang="en-US" sz="950" dirty="0"/>
          </a:p>
        </p:txBody>
      </p:sp>
      <p:sp>
        <p:nvSpPr>
          <p:cNvPr id="36" name="Shape 34"/>
          <p:cNvSpPr/>
          <p:nvPr/>
        </p:nvSpPr>
        <p:spPr>
          <a:xfrm>
            <a:off x="457200" y="6126480"/>
            <a:ext cx="11247120" cy="320040"/>
          </a:xfrm>
          <a:prstGeom prst="rect">
            <a:avLst/>
          </a:prstGeom>
          <a:solidFill>
            <a:srgbClr val="21295C"/>
          </a:solidFill>
          <a:ln w="12700">
            <a:solidFill>
              <a:srgbClr val="21295C"/>
            </a:solidFill>
            <a:prstDash val="solid"/>
          </a:ln>
        </p:spPr>
        <p:txBody>
          <a:bodyPr/>
          <a:lstStyle/>
          <a:p>
            <a:endParaRPr lang="en-US"/>
          </a:p>
        </p:txBody>
      </p:sp>
      <p:sp>
        <p:nvSpPr>
          <p:cNvPr id="37" name="Text 35"/>
          <p:cNvSpPr/>
          <p:nvPr/>
        </p:nvSpPr>
        <p:spPr>
          <a:xfrm>
            <a:off x="640080" y="6144768"/>
            <a:ext cx="11064240" cy="283464"/>
          </a:xfrm>
          <a:prstGeom prst="rect">
            <a:avLst/>
          </a:prstGeom>
          <a:noFill/>
          <a:ln/>
        </p:spPr>
        <p:txBody>
          <a:bodyPr wrap="square" lIns="0" tIns="0" rIns="0" bIns="0" rtlCol="0" anchor="ctr"/>
          <a:lstStyle/>
          <a:p>
            <a:pPr marL="0" indent="0">
              <a:buNone/>
            </a:pPr>
            <a:r>
              <a:rPr lang="en-US" sz="1000" b="1" dirty="0">
                <a:solidFill>
                  <a:srgbClr val="00C9B7"/>
                </a:solidFill>
                <a:latin typeface="Calibri" pitchFamily="34" charset="0"/>
                <a:ea typeface="Calibri" pitchFamily="34" charset="-122"/>
                <a:cs typeface="Calibri" pitchFamily="34" charset="-120"/>
              </a:rPr>
              <a:t>Identity-leakage defense:  </a:t>
            </a:r>
            <a:r>
              <a:rPr lang="en-US" sz="1000" dirty="0">
                <a:solidFill>
                  <a:srgbClr val="FFFFFF"/>
                </a:solidFill>
                <a:latin typeface="Calibri" pitchFamily="34" charset="0"/>
                <a:ea typeface="Calibri" pitchFamily="34" charset="-122"/>
                <a:cs typeface="Calibri" pitchFamily="34" charset="-120"/>
              </a:rPr>
              <a:t>693-token stoplist (author logins + repo names + bot signatures) prevents TF-IDF from learning identifiers.</a:t>
            </a:r>
            <a:endParaRPr lang="en-US" sz="1000" dirty="0"/>
          </a:p>
        </p:txBody>
      </p:sp>
      <p:sp>
        <p:nvSpPr>
          <p:cNvPr id="38" name="Text 36"/>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12 / 29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Evaluation Regime</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Commit-grouped cross-validation, threshold chosen off the test set</a:t>
            </a:r>
            <a:endParaRPr lang="en-US" sz="1400" dirty="0"/>
          </a:p>
        </p:txBody>
      </p:sp>
      <p:sp>
        <p:nvSpPr>
          <p:cNvPr id="4" name="Shape 2"/>
          <p:cNvSpPr/>
          <p:nvPr/>
        </p:nvSpPr>
        <p:spPr>
          <a:xfrm>
            <a:off x="457200" y="1463040"/>
            <a:ext cx="5486400" cy="4846320"/>
          </a:xfrm>
          <a:prstGeom prst="rect">
            <a:avLst/>
          </a:prstGeom>
          <a:solidFill>
            <a:srgbClr val="F7F9FB"/>
          </a:solidFill>
          <a:ln w="12700">
            <a:solidFill>
              <a:srgbClr val="065A82"/>
            </a:solidFill>
            <a:prstDash val="solid"/>
          </a:ln>
        </p:spPr>
        <p:txBody>
          <a:bodyPr/>
          <a:lstStyle/>
          <a:p>
            <a:endParaRPr lang="en-US"/>
          </a:p>
        </p:txBody>
      </p:sp>
      <p:sp>
        <p:nvSpPr>
          <p:cNvPr id="5" name="Shape 3"/>
          <p:cNvSpPr/>
          <p:nvPr/>
        </p:nvSpPr>
        <p:spPr>
          <a:xfrm>
            <a:off x="457200" y="1463040"/>
            <a:ext cx="5486400" cy="548640"/>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457200" y="1463040"/>
            <a:ext cx="5486400" cy="54864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libri" pitchFamily="34" charset="0"/>
                <a:ea typeface="Calibri" pitchFamily="34" charset="-122"/>
                <a:cs typeface="Calibri" pitchFamily="34" charset="-120"/>
              </a:rPr>
              <a:t>COMMIT-GROUPED 5-FOLD CV</a:t>
            </a:r>
            <a:endParaRPr lang="en-US" sz="1600" dirty="0"/>
          </a:p>
        </p:txBody>
      </p:sp>
      <p:sp>
        <p:nvSpPr>
          <p:cNvPr id="7" name="Text 5"/>
          <p:cNvSpPr/>
          <p:nvPr/>
        </p:nvSpPr>
        <p:spPr>
          <a:xfrm>
            <a:off x="640080" y="2148840"/>
            <a:ext cx="5120640" cy="36576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Primary: what the thesis reports</a:t>
            </a:r>
            <a:endParaRPr lang="en-US" sz="1300" dirty="0"/>
          </a:p>
        </p:txBody>
      </p:sp>
      <p:sp>
        <p:nvSpPr>
          <p:cNvPr id="8" name="Text 6"/>
          <p:cNvSpPr/>
          <p:nvPr/>
        </p:nvSpPr>
        <p:spPr>
          <a:xfrm>
            <a:off x="640080" y="2606040"/>
            <a:ext cx="5120640" cy="3200400"/>
          </a:xfrm>
          <a:prstGeom prst="rect">
            <a:avLst/>
          </a:prstGeom>
          <a:noFill/>
          <a:ln/>
        </p:spPr>
        <p:txBody>
          <a:bodyPr wrap="square" lIns="0" tIns="0" rIns="0" bIns="0" rtlCol="0" anchor="t"/>
          <a:lstStyle/>
          <a:p>
            <a:pPr marL="342900" indent="-342900">
              <a:buSzPct val="100000"/>
              <a:buChar char="•"/>
            </a:pPr>
            <a:r>
              <a:rPr lang="en-US" sz="1200" dirty="0">
                <a:solidFill>
                  <a:srgbClr val="1A1F2E"/>
                </a:solidFill>
                <a:latin typeface="Calibri" pitchFamily="34" charset="0"/>
                <a:ea typeface="Calibri" pitchFamily="34" charset="-122"/>
                <a:cs typeface="Calibri" pitchFamily="34" charset="-120"/>
              </a:rPr>
              <a:t>Every run of one commit stays on one side</a:t>
            </a:r>
            <a:endParaRPr lang="en-US" sz="1200" dirty="0"/>
          </a:p>
          <a:p>
            <a:pPr marL="342900" indent="-342900">
              <a:buSzPct val="100000"/>
              <a:buChar char="•"/>
            </a:pPr>
            <a:r>
              <a:rPr lang="en-US" sz="1200" dirty="0">
                <a:solidFill>
                  <a:srgbClr val="1A1F2E"/>
                </a:solidFill>
                <a:latin typeface="Calibri" pitchFamily="34" charset="0"/>
                <a:ea typeface="Calibri" pitchFamily="34" charset="-122"/>
                <a:cs typeface="Calibri" pitchFamily="34" charset="-120"/>
              </a:rPr>
              <a:t>Threshold chosen on a validation fold, never on test</a:t>
            </a:r>
            <a:endParaRPr lang="en-US" sz="1200" dirty="0"/>
          </a:p>
          <a:p>
            <a:pPr marL="342900" indent="-342900">
              <a:buSzPct val="100000"/>
              <a:buChar char="•"/>
            </a:pPr>
            <a:r>
              <a:rPr lang="en-US" sz="1200" dirty="0">
                <a:solidFill>
                  <a:srgbClr val="1A1F2E"/>
                </a:solidFill>
                <a:latin typeface="Calibri" pitchFamily="34" charset="0"/>
                <a:ea typeface="Calibri" pitchFamily="34" charset="-122"/>
                <a:cs typeface="Calibri" pitchFamily="34" charset="-120"/>
              </a:rPr>
              <a:t>Every row predicted once, by a model that never saw its commit</a:t>
            </a:r>
            <a:endParaRPr lang="en-US" sz="1200" dirty="0"/>
          </a:p>
          <a:p>
            <a:pPr marL="342900" indent="-342900">
              <a:buSzPct val="100000"/>
              <a:buChar char="•"/>
            </a:pPr>
            <a:r>
              <a:rPr lang="en-US" sz="1200" i="1" dirty="0">
                <a:solidFill>
                  <a:srgbClr val="1A1F2E"/>
                </a:solidFill>
                <a:latin typeface="Calibri" pitchFamily="34" charset="0"/>
                <a:ea typeface="Calibri" pitchFamily="34" charset="-122"/>
                <a:cs typeface="Calibri" pitchFamily="34" charset="-120"/>
              </a:rPr>
              <a:t>Answers: "How well does this generalise to unseen commits?"</a:t>
            </a:r>
            <a:endParaRPr lang="en-US" sz="1200" dirty="0"/>
          </a:p>
        </p:txBody>
      </p:sp>
      <p:sp>
        <p:nvSpPr>
          <p:cNvPr id="9" name="Shape 7"/>
          <p:cNvSpPr/>
          <p:nvPr/>
        </p:nvSpPr>
        <p:spPr>
          <a:xfrm>
            <a:off x="6217920" y="1463040"/>
            <a:ext cx="5486400" cy="4846320"/>
          </a:xfrm>
          <a:prstGeom prst="rect">
            <a:avLst/>
          </a:prstGeom>
          <a:solidFill>
            <a:srgbClr val="F7F9FB"/>
          </a:solidFill>
          <a:ln w="12700">
            <a:solidFill>
              <a:srgbClr val="1C7293"/>
            </a:solidFill>
            <a:prstDash val="solid"/>
          </a:ln>
        </p:spPr>
        <p:txBody>
          <a:bodyPr/>
          <a:lstStyle/>
          <a:p>
            <a:endParaRPr lang="en-US"/>
          </a:p>
        </p:txBody>
      </p:sp>
      <p:sp>
        <p:nvSpPr>
          <p:cNvPr id="10" name="Shape 8"/>
          <p:cNvSpPr/>
          <p:nvPr/>
        </p:nvSpPr>
        <p:spPr>
          <a:xfrm>
            <a:off x="6217920" y="1463040"/>
            <a:ext cx="5486400" cy="548640"/>
          </a:xfrm>
          <a:prstGeom prst="rect">
            <a:avLst/>
          </a:prstGeom>
          <a:solidFill>
            <a:srgbClr val="1C7293"/>
          </a:solidFill>
          <a:ln w="12700">
            <a:solidFill>
              <a:srgbClr val="1C7293"/>
            </a:solidFill>
            <a:prstDash val="solid"/>
          </a:ln>
        </p:spPr>
        <p:txBody>
          <a:bodyPr/>
          <a:lstStyle/>
          <a:p>
            <a:endParaRPr lang="en-US"/>
          </a:p>
        </p:txBody>
      </p:sp>
      <p:sp>
        <p:nvSpPr>
          <p:cNvPr id="11" name="Text 9"/>
          <p:cNvSpPr/>
          <p:nvPr/>
        </p:nvSpPr>
        <p:spPr>
          <a:xfrm>
            <a:off x="6217920" y="1463040"/>
            <a:ext cx="5486400" cy="54864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libri" pitchFamily="34" charset="0"/>
                <a:ea typeface="Calibri" pitchFamily="34" charset="-122"/>
                <a:cs typeface="Calibri" pitchFamily="34" charset="-120"/>
              </a:rPr>
              <a:t>PER-REPOSITORY CHRONOLOGICAL</a:t>
            </a:r>
            <a:endParaRPr lang="en-US" sz="1600" dirty="0"/>
          </a:p>
        </p:txBody>
      </p:sp>
      <p:sp>
        <p:nvSpPr>
          <p:cNvPr id="12" name="Text 10"/>
          <p:cNvSpPr/>
          <p:nvPr/>
        </p:nvSpPr>
        <p:spPr>
          <a:xfrm>
            <a:off x="6400800" y="2148840"/>
            <a:ext cx="5120640" cy="36576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Secondary: deployment realism</a:t>
            </a:r>
            <a:endParaRPr lang="en-US" sz="1300" dirty="0"/>
          </a:p>
        </p:txBody>
      </p:sp>
      <p:sp>
        <p:nvSpPr>
          <p:cNvPr id="13" name="Text 11"/>
          <p:cNvSpPr/>
          <p:nvPr/>
        </p:nvSpPr>
        <p:spPr>
          <a:xfrm>
            <a:off x="6400800" y="2606040"/>
            <a:ext cx="5120640" cy="3200400"/>
          </a:xfrm>
          <a:prstGeom prst="rect">
            <a:avLst/>
          </a:prstGeom>
          <a:noFill/>
          <a:ln/>
        </p:spPr>
        <p:txBody>
          <a:bodyPr wrap="square" lIns="0" tIns="0" rIns="0" bIns="0" rtlCol="0" anchor="t"/>
          <a:lstStyle/>
          <a:p>
            <a:pPr marL="342900" indent="-342900">
              <a:buSzPct val="100000"/>
              <a:buChar char="•"/>
            </a:pPr>
            <a:r>
              <a:rPr lang="en-US" sz="1200" dirty="0">
                <a:solidFill>
                  <a:srgbClr val="1A1F2E"/>
                </a:solidFill>
                <a:latin typeface="Calibri" pitchFamily="34" charset="0"/>
                <a:ea typeface="Calibri" pitchFamily="34" charset="-122"/>
                <a:cs typeface="Calibri" pitchFamily="34" charset="-120"/>
              </a:rPr>
              <a:t>Each project cut at its own point in time</a:t>
            </a:r>
            <a:endParaRPr lang="en-US" sz="1200" dirty="0"/>
          </a:p>
          <a:p>
            <a:pPr marL="342900" indent="-342900">
              <a:buSzPct val="100000"/>
              <a:buChar char="•"/>
            </a:pPr>
            <a:r>
              <a:rPr lang="en-US" sz="1200" dirty="0">
                <a:solidFill>
                  <a:srgbClr val="1A1F2E"/>
                </a:solidFill>
                <a:latin typeface="Calibri" pitchFamily="34" charset="0"/>
                <a:ea typeface="Calibri" pitchFamily="34" charset="-122"/>
                <a:cs typeface="Calibri" pitchFamily="34" charset="-120"/>
              </a:rPr>
              <a:t>Train on that project's past, test on its future</a:t>
            </a:r>
            <a:endParaRPr lang="en-US" sz="1200" dirty="0"/>
          </a:p>
          <a:p>
            <a:pPr marL="342900" indent="-342900">
              <a:buSzPct val="100000"/>
              <a:buChar char="•"/>
            </a:pPr>
            <a:r>
              <a:rPr lang="en-US" sz="1200" dirty="0">
                <a:solidFill>
                  <a:srgbClr val="1A1F2E"/>
                </a:solidFill>
                <a:latin typeface="Calibri" pitchFamily="34" charset="0"/>
                <a:ea typeface="Calibri" pitchFamily="34" charset="-122"/>
                <a:cs typeface="Calibri" pitchFamily="34" charset="-120"/>
              </a:rPr>
              <a:t>Holds for all 18 of 18 projects; 57-day span</a:t>
            </a:r>
            <a:endParaRPr lang="en-US" sz="1200" dirty="0"/>
          </a:p>
          <a:p>
            <a:pPr marL="342900" indent="-342900">
              <a:buSzPct val="100000"/>
              <a:buChar char="•"/>
            </a:pPr>
            <a:r>
              <a:rPr lang="en-US" sz="1200" i="1" dirty="0">
                <a:solidFill>
                  <a:srgbClr val="1A1F2E"/>
                </a:solidFill>
                <a:latin typeface="Calibri" pitchFamily="34" charset="0"/>
                <a:ea typeface="Calibri" pitchFamily="34" charset="-122"/>
                <a:cs typeface="Calibri" pitchFamily="34" charset="-120"/>
              </a:rPr>
              <a:t>Answers: "Does it still work on later commits?"</a:t>
            </a:r>
            <a:endParaRPr lang="en-US" sz="1200" dirty="0"/>
          </a:p>
        </p:txBody>
      </p:sp>
      <p:sp>
        <p:nvSpPr>
          <p:cNvPr id="14" name="Shape 12"/>
          <p:cNvSpPr/>
          <p:nvPr/>
        </p:nvSpPr>
        <p:spPr>
          <a:xfrm>
            <a:off x="457200" y="6126480"/>
            <a:ext cx="11247120" cy="320040"/>
          </a:xfrm>
          <a:prstGeom prst="rect">
            <a:avLst/>
          </a:prstGeom>
          <a:solidFill>
            <a:srgbClr val="21295C"/>
          </a:solidFill>
          <a:ln w="12700">
            <a:solidFill>
              <a:srgbClr val="21295C"/>
            </a:solidFill>
            <a:prstDash val="solid"/>
          </a:ln>
        </p:spPr>
        <p:txBody>
          <a:bodyPr/>
          <a:lstStyle/>
          <a:p>
            <a:endParaRPr lang="en-US"/>
          </a:p>
        </p:txBody>
      </p:sp>
      <p:sp>
        <p:nvSpPr>
          <p:cNvPr id="15" name="Text 13"/>
          <p:cNvSpPr/>
          <p:nvPr/>
        </p:nvSpPr>
        <p:spPr>
          <a:xfrm>
            <a:off x="640080" y="6144768"/>
            <a:ext cx="11064240" cy="283464"/>
          </a:xfrm>
          <a:prstGeom prst="rect">
            <a:avLst/>
          </a:prstGeom>
          <a:noFill/>
          <a:ln/>
        </p:spPr>
        <p:txBody>
          <a:bodyPr wrap="square" lIns="0" tIns="0" rIns="0" bIns="0" rtlCol="0" anchor="ctr"/>
          <a:lstStyle/>
          <a:p>
            <a:pPr marL="0" indent="0">
              <a:buNone/>
            </a:pPr>
            <a:r>
              <a:rPr lang="en-US" sz="1000" b="1" dirty="0">
                <a:solidFill>
                  <a:srgbClr val="00C9B7"/>
                </a:solidFill>
                <a:latin typeface="Calibri" pitchFamily="34" charset="0"/>
                <a:ea typeface="Calibri" pitchFamily="34" charset="-122"/>
                <a:cs typeface="Calibri" pitchFamily="34" charset="-120"/>
              </a:rPr>
              <a:t>Metrics:  </a:t>
            </a:r>
            <a:r>
              <a:rPr lang="en-US" sz="1000" dirty="0">
                <a:solidFill>
                  <a:srgbClr val="FFFFFF"/>
                </a:solidFill>
                <a:latin typeface="Calibri" pitchFamily="34" charset="0"/>
                <a:ea typeface="Calibri" pitchFamily="34" charset="-122"/>
                <a:cs typeface="Calibri" pitchFamily="34" charset="-120"/>
              </a:rPr>
              <a:t>Failure F1 (primary)  ·  Balanced Accuracy  ·  ROC-AUC  ·  PR-AUC  ·  Precision  ·  Recall</a:t>
            </a:r>
            <a:endParaRPr lang="en-US" sz="1000" dirty="0"/>
          </a:p>
        </p:txBody>
      </p:sp>
      <p:sp>
        <p:nvSpPr>
          <p:cNvPr id="16" name="Text 14"/>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13 / 29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Results — Default Threshold of 0.5</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Three classifiers, commit-grouped cross-validation, threshold = 0.5</a:t>
            </a:r>
            <a:endParaRPr lang="en-US" sz="1400" dirty="0"/>
          </a:p>
        </p:txBody>
      </p:sp>
      <p:sp>
        <p:nvSpPr>
          <p:cNvPr id="4" name="Shape 2"/>
          <p:cNvSpPr/>
          <p:nvPr/>
        </p:nvSpPr>
        <p:spPr>
          <a:xfrm>
            <a:off x="457200" y="1554480"/>
            <a:ext cx="2926080" cy="502920"/>
          </a:xfrm>
          <a:prstGeom prst="rect">
            <a:avLst/>
          </a:prstGeom>
          <a:solidFill>
            <a:srgbClr val="065A82"/>
          </a:solidFill>
          <a:ln w="12700">
            <a:solidFill>
              <a:srgbClr val="065A82"/>
            </a:solidFill>
            <a:prstDash val="solid"/>
          </a:ln>
        </p:spPr>
        <p:txBody>
          <a:bodyPr/>
          <a:lstStyle/>
          <a:p>
            <a:endParaRPr lang="en-US"/>
          </a:p>
        </p:txBody>
      </p:sp>
      <p:sp>
        <p:nvSpPr>
          <p:cNvPr id="5" name="Text 3"/>
          <p:cNvSpPr/>
          <p:nvPr/>
        </p:nvSpPr>
        <p:spPr>
          <a:xfrm>
            <a:off x="457200" y="1554480"/>
            <a:ext cx="29260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Model</a:t>
            </a:r>
            <a:endParaRPr lang="en-US" sz="1300" dirty="0"/>
          </a:p>
        </p:txBody>
      </p:sp>
      <p:sp>
        <p:nvSpPr>
          <p:cNvPr id="6" name="Shape 4"/>
          <p:cNvSpPr/>
          <p:nvPr/>
        </p:nvSpPr>
        <p:spPr>
          <a:xfrm>
            <a:off x="338328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7" name="Text 5"/>
          <p:cNvSpPr/>
          <p:nvPr/>
        </p:nvSpPr>
        <p:spPr>
          <a:xfrm>
            <a:off x="338328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Accuracy</a:t>
            </a:r>
            <a:endParaRPr lang="en-US" sz="1300" dirty="0"/>
          </a:p>
        </p:txBody>
      </p:sp>
      <p:sp>
        <p:nvSpPr>
          <p:cNvPr id="8" name="Shape 6"/>
          <p:cNvSpPr/>
          <p:nvPr/>
        </p:nvSpPr>
        <p:spPr>
          <a:xfrm>
            <a:off x="466344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9" name="Text 7"/>
          <p:cNvSpPr/>
          <p:nvPr/>
        </p:nvSpPr>
        <p:spPr>
          <a:xfrm>
            <a:off x="466344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Bal. Acc.</a:t>
            </a:r>
            <a:endParaRPr lang="en-US" sz="1300" dirty="0"/>
          </a:p>
        </p:txBody>
      </p:sp>
      <p:sp>
        <p:nvSpPr>
          <p:cNvPr id="10" name="Shape 8"/>
          <p:cNvSpPr/>
          <p:nvPr/>
        </p:nvSpPr>
        <p:spPr>
          <a:xfrm>
            <a:off x="594360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11" name="Text 9"/>
          <p:cNvSpPr/>
          <p:nvPr/>
        </p:nvSpPr>
        <p:spPr>
          <a:xfrm>
            <a:off x="594360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p>
        </p:txBody>
      </p:sp>
      <p:sp>
        <p:nvSpPr>
          <p:cNvPr id="12" name="Shape 10"/>
          <p:cNvSpPr/>
          <p:nvPr/>
        </p:nvSpPr>
        <p:spPr>
          <a:xfrm>
            <a:off x="722376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13" name="Text 11"/>
          <p:cNvSpPr/>
          <p:nvPr/>
        </p:nvSpPr>
        <p:spPr>
          <a:xfrm>
            <a:off x="722376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p>
        </p:txBody>
      </p:sp>
      <p:sp>
        <p:nvSpPr>
          <p:cNvPr id="14" name="Shape 12"/>
          <p:cNvSpPr/>
          <p:nvPr/>
        </p:nvSpPr>
        <p:spPr>
          <a:xfrm>
            <a:off x="850392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15" name="Text 13"/>
          <p:cNvSpPr/>
          <p:nvPr/>
        </p:nvSpPr>
        <p:spPr>
          <a:xfrm>
            <a:off x="850392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F1</a:t>
            </a:r>
            <a:endParaRPr lang="en-US" sz="1300" dirty="0"/>
          </a:p>
        </p:txBody>
      </p:sp>
      <p:sp>
        <p:nvSpPr>
          <p:cNvPr id="16" name="Shape 14"/>
          <p:cNvSpPr/>
          <p:nvPr/>
        </p:nvSpPr>
        <p:spPr>
          <a:xfrm>
            <a:off x="9784080" y="1554480"/>
            <a:ext cx="1371600" cy="502920"/>
          </a:xfrm>
          <a:prstGeom prst="rect">
            <a:avLst/>
          </a:prstGeom>
          <a:solidFill>
            <a:srgbClr val="065A82"/>
          </a:solidFill>
          <a:ln w="12700">
            <a:solidFill>
              <a:srgbClr val="065A82"/>
            </a:solidFill>
            <a:prstDash val="solid"/>
          </a:ln>
        </p:spPr>
        <p:txBody>
          <a:bodyPr/>
          <a:lstStyle/>
          <a:p>
            <a:endParaRPr lang="en-US"/>
          </a:p>
        </p:txBody>
      </p:sp>
      <p:sp>
        <p:nvSpPr>
          <p:cNvPr id="17" name="Text 15"/>
          <p:cNvSpPr/>
          <p:nvPr/>
        </p:nvSpPr>
        <p:spPr>
          <a:xfrm>
            <a:off x="9784080" y="1554480"/>
            <a:ext cx="13716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ROC-AUC</a:t>
            </a:r>
            <a:endParaRPr lang="en-US" sz="1300" dirty="0"/>
          </a:p>
        </p:txBody>
      </p:sp>
      <p:sp>
        <p:nvSpPr>
          <p:cNvPr id="18" name="Shape 16"/>
          <p:cNvSpPr/>
          <p:nvPr/>
        </p:nvSpPr>
        <p:spPr>
          <a:xfrm>
            <a:off x="457200" y="2057400"/>
            <a:ext cx="2926080" cy="502920"/>
          </a:xfrm>
          <a:prstGeom prst="rect">
            <a:avLst/>
          </a:prstGeom>
          <a:solidFill>
            <a:srgbClr val="FFFFFF"/>
          </a:solidFill>
          <a:ln w="6350">
            <a:solidFill>
              <a:srgbClr val="D0D5DD"/>
            </a:solidFill>
            <a:prstDash val="solid"/>
          </a:ln>
        </p:spPr>
        <p:txBody>
          <a:bodyPr/>
          <a:lstStyle/>
          <a:p>
            <a:endParaRPr lang="en-US"/>
          </a:p>
        </p:txBody>
      </p:sp>
      <p:sp>
        <p:nvSpPr>
          <p:cNvPr id="19" name="Text 17"/>
          <p:cNvSpPr/>
          <p:nvPr/>
        </p:nvSpPr>
        <p:spPr>
          <a:xfrm>
            <a:off x="457200" y="2057400"/>
            <a:ext cx="2926080" cy="502920"/>
          </a:xfrm>
          <a:prstGeom prst="rect">
            <a:avLst/>
          </a:prstGeom>
          <a:noFill/>
          <a:ln/>
        </p:spPr>
        <p:txBody>
          <a:bodyPr wrap="square" lIns="0" tIns="0" rIns="0" bIns="0"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Logistic Regression</a:t>
            </a:r>
            <a:endParaRPr lang="en-US" sz="1300" dirty="0"/>
          </a:p>
        </p:txBody>
      </p:sp>
      <p:sp>
        <p:nvSpPr>
          <p:cNvPr id="20" name="Shape 18"/>
          <p:cNvSpPr/>
          <p:nvPr/>
        </p:nvSpPr>
        <p:spPr>
          <a:xfrm>
            <a:off x="338328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1" name="Text 19"/>
          <p:cNvSpPr/>
          <p:nvPr/>
        </p:nvSpPr>
        <p:spPr>
          <a:xfrm>
            <a:off x="338328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76.3%</a:t>
            </a:r>
            <a:endParaRPr lang="en-US" sz="1300" dirty="0"/>
          </a:p>
        </p:txBody>
      </p:sp>
      <p:sp>
        <p:nvSpPr>
          <p:cNvPr id="22" name="Shape 20"/>
          <p:cNvSpPr/>
          <p:nvPr/>
        </p:nvSpPr>
        <p:spPr>
          <a:xfrm>
            <a:off x="466344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3" name="Text 21"/>
          <p:cNvSpPr/>
          <p:nvPr/>
        </p:nvSpPr>
        <p:spPr>
          <a:xfrm>
            <a:off x="466344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74.1%</a:t>
            </a:r>
            <a:endParaRPr lang="en-US" sz="1300" dirty="0"/>
          </a:p>
        </p:txBody>
      </p:sp>
      <p:sp>
        <p:nvSpPr>
          <p:cNvPr id="24" name="Shape 22"/>
          <p:cNvSpPr/>
          <p:nvPr/>
        </p:nvSpPr>
        <p:spPr>
          <a:xfrm>
            <a:off x="594360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5" name="Text 23"/>
          <p:cNvSpPr/>
          <p:nvPr/>
        </p:nvSpPr>
        <p:spPr>
          <a:xfrm>
            <a:off x="594360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27.6%</a:t>
            </a:r>
            <a:endParaRPr lang="en-US" sz="1300" dirty="0"/>
          </a:p>
        </p:txBody>
      </p:sp>
      <p:sp>
        <p:nvSpPr>
          <p:cNvPr id="26" name="Shape 24"/>
          <p:cNvSpPr/>
          <p:nvPr/>
        </p:nvSpPr>
        <p:spPr>
          <a:xfrm>
            <a:off x="722376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7" name="Text 25"/>
          <p:cNvSpPr/>
          <p:nvPr/>
        </p:nvSpPr>
        <p:spPr>
          <a:xfrm>
            <a:off x="722376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71.3%</a:t>
            </a:r>
            <a:endParaRPr lang="en-US" sz="1300" dirty="0"/>
          </a:p>
        </p:txBody>
      </p:sp>
      <p:sp>
        <p:nvSpPr>
          <p:cNvPr id="28" name="Shape 26"/>
          <p:cNvSpPr/>
          <p:nvPr/>
        </p:nvSpPr>
        <p:spPr>
          <a:xfrm>
            <a:off x="850392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9" name="Text 27"/>
          <p:cNvSpPr/>
          <p:nvPr/>
        </p:nvSpPr>
        <p:spPr>
          <a:xfrm>
            <a:off x="850392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0.397</a:t>
            </a:r>
            <a:endParaRPr lang="en-US" sz="1300" dirty="0"/>
          </a:p>
        </p:txBody>
      </p:sp>
      <p:sp>
        <p:nvSpPr>
          <p:cNvPr id="30" name="Shape 28"/>
          <p:cNvSpPr/>
          <p:nvPr/>
        </p:nvSpPr>
        <p:spPr>
          <a:xfrm>
            <a:off x="9784080" y="2057400"/>
            <a:ext cx="1371600" cy="502920"/>
          </a:xfrm>
          <a:prstGeom prst="rect">
            <a:avLst/>
          </a:prstGeom>
          <a:solidFill>
            <a:srgbClr val="FFFFFF"/>
          </a:solidFill>
          <a:ln w="6350">
            <a:solidFill>
              <a:srgbClr val="D0D5DD"/>
            </a:solidFill>
            <a:prstDash val="solid"/>
          </a:ln>
        </p:spPr>
        <p:txBody>
          <a:bodyPr/>
          <a:lstStyle/>
          <a:p>
            <a:endParaRPr lang="en-US"/>
          </a:p>
        </p:txBody>
      </p:sp>
      <p:sp>
        <p:nvSpPr>
          <p:cNvPr id="31" name="Text 29"/>
          <p:cNvSpPr/>
          <p:nvPr/>
        </p:nvSpPr>
        <p:spPr>
          <a:xfrm>
            <a:off x="9784080" y="2057400"/>
            <a:ext cx="137160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0.828</a:t>
            </a:r>
            <a:endParaRPr lang="en-US" sz="1300" dirty="0"/>
          </a:p>
        </p:txBody>
      </p:sp>
      <p:sp>
        <p:nvSpPr>
          <p:cNvPr id="32" name="Shape 30"/>
          <p:cNvSpPr/>
          <p:nvPr/>
        </p:nvSpPr>
        <p:spPr>
          <a:xfrm>
            <a:off x="457200" y="2560320"/>
            <a:ext cx="2926080" cy="502920"/>
          </a:xfrm>
          <a:prstGeom prst="rect">
            <a:avLst/>
          </a:prstGeom>
          <a:solidFill>
            <a:srgbClr val="F7F9FB"/>
          </a:solidFill>
          <a:ln w="6350">
            <a:solidFill>
              <a:srgbClr val="D0D5DD"/>
            </a:solidFill>
            <a:prstDash val="solid"/>
          </a:ln>
        </p:spPr>
        <p:txBody>
          <a:bodyPr/>
          <a:lstStyle/>
          <a:p>
            <a:endParaRPr lang="en-US"/>
          </a:p>
        </p:txBody>
      </p:sp>
      <p:sp>
        <p:nvSpPr>
          <p:cNvPr id="33" name="Text 31"/>
          <p:cNvSpPr/>
          <p:nvPr/>
        </p:nvSpPr>
        <p:spPr>
          <a:xfrm>
            <a:off x="457200" y="2560320"/>
            <a:ext cx="2926080" cy="502920"/>
          </a:xfrm>
          <a:prstGeom prst="rect">
            <a:avLst/>
          </a:prstGeom>
          <a:noFill/>
          <a:ln/>
        </p:spPr>
        <p:txBody>
          <a:bodyPr wrap="square" lIns="0" tIns="0" rIns="0" bIns="0"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Random Forest</a:t>
            </a:r>
            <a:endParaRPr lang="en-US" sz="1300" dirty="0"/>
          </a:p>
        </p:txBody>
      </p:sp>
      <p:sp>
        <p:nvSpPr>
          <p:cNvPr id="34" name="Shape 32"/>
          <p:cNvSpPr/>
          <p:nvPr/>
        </p:nvSpPr>
        <p:spPr>
          <a:xfrm>
            <a:off x="338328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35" name="Text 33"/>
          <p:cNvSpPr/>
          <p:nvPr/>
        </p:nvSpPr>
        <p:spPr>
          <a:xfrm>
            <a:off x="338328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83.0%</a:t>
            </a:r>
            <a:endParaRPr lang="en-US" sz="1300" dirty="0"/>
          </a:p>
        </p:txBody>
      </p:sp>
      <p:sp>
        <p:nvSpPr>
          <p:cNvPr id="36" name="Shape 34"/>
          <p:cNvSpPr/>
          <p:nvPr/>
        </p:nvSpPr>
        <p:spPr>
          <a:xfrm>
            <a:off x="466344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37" name="Text 35"/>
          <p:cNvSpPr/>
          <p:nvPr/>
        </p:nvSpPr>
        <p:spPr>
          <a:xfrm>
            <a:off x="466344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70.8%</a:t>
            </a:r>
            <a:endParaRPr lang="en-US" sz="1300" dirty="0"/>
          </a:p>
        </p:txBody>
      </p:sp>
      <p:sp>
        <p:nvSpPr>
          <p:cNvPr id="38" name="Shape 36"/>
          <p:cNvSpPr/>
          <p:nvPr/>
        </p:nvSpPr>
        <p:spPr>
          <a:xfrm>
            <a:off x="594360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39" name="Text 37"/>
          <p:cNvSpPr/>
          <p:nvPr/>
        </p:nvSpPr>
        <p:spPr>
          <a:xfrm>
            <a:off x="594360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33.4%</a:t>
            </a:r>
            <a:endParaRPr lang="en-US" sz="1300" dirty="0"/>
          </a:p>
        </p:txBody>
      </p:sp>
      <p:sp>
        <p:nvSpPr>
          <p:cNvPr id="40" name="Shape 38"/>
          <p:cNvSpPr/>
          <p:nvPr/>
        </p:nvSpPr>
        <p:spPr>
          <a:xfrm>
            <a:off x="722376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41" name="Text 39"/>
          <p:cNvSpPr/>
          <p:nvPr/>
        </p:nvSpPr>
        <p:spPr>
          <a:xfrm>
            <a:off x="722376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55.1%</a:t>
            </a:r>
            <a:endParaRPr lang="en-US" sz="1300" dirty="0"/>
          </a:p>
        </p:txBody>
      </p:sp>
      <p:sp>
        <p:nvSpPr>
          <p:cNvPr id="42" name="Shape 40"/>
          <p:cNvSpPr/>
          <p:nvPr/>
        </p:nvSpPr>
        <p:spPr>
          <a:xfrm>
            <a:off x="850392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43" name="Text 41"/>
          <p:cNvSpPr/>
          <p:nvPr/>
        </p:nvSpPr>
        <p:spPr>
          <a:xfrm>
            <a:off x="850392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0.416</a:t>
            </a:r>
            <a:endParaRPr lang="en-US" sz="1300" dirty="0"/>
          </a:p>
        </p:txBody>
      </p:sp>
      <p:sp>
        <p:nvSpPr>
          <p:cNvPr id="44" name="Shape 42"/>
          <p:cNvSpPr/>
          <p:nvPr/>
        </p:nvSpPr>
        <p:spPr>
          <a:xfrm>
            <a:off x="9784080" y="2560320"/>
            <a:ext cx="1371600" cy="502920"/>
          </a:xfrm>
          <a:prstGeom prst="rect">
            <a:avLst/>
          </a:prstGeom>
          <a:solidFill>
            <a:srgbClr val="F7F9FB"/>
          </a:solidFill>
          <a:ln w="6350">
            <a:solidFill>
              <a:srgbClr val="D0D5DD"/>
            </a:solidFill>
            <a:prstDash val="solid"/>
          </a:ln>
        </p:spPr>
        <p:txBody>
          <a:bodyPr/>
          <a:lstStyle/>
          <a:p>
            <a:endParaRPr lang="en-US"/>
          </a:p>
        </p:txBody>
      </p:sp>
      <p:sp>
        <p:nvSpPr>
          <p:cNvPr id="45" name="Text 43"/>
          <p:cNvSpPr/>
          <p:nvPr/>
        </p:nvSpPr>
        <p:spPr>
          <a:xfrm>
            <a:off x="9784080" y="2560320"/>
            <a:ext cx="137160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0.801</a:t>
            </a:r>
            <a:endParaRPr lang="en-US" sz="1300" dirty="0"/>
          </a:p>
        </p:txBody>
      </p:sp>
      <p:sp>
        <p:nvSpPr>
          <p:cNvPr id="46" name="Shape 44"/>
          <p:cNvSpPr/>
          <p:nvPr/>
        </p:nvSpPr>
        <p:spPr>
          <a:xfrm>
            <a:off x="457200" y="3063240"/>
            <a:ext cx="2926080" cy="502920"/>
          </a:xfrm>
          <a:prstGeom prst="rect">
            <a:avLst/>
          </a:prstGeom>
          <a:solidFill>
            <a:srgbClr val="FFFFFF"/>
          </a:solidFill>
          <a:ln w="6350">
            <a:solidFill>
              <a:srgbClr val="D0D5DD"/>
            </a:solidFill>
            <a:prstDash val="solid"/>
          </a:ln>
        </p:spPr>
        <p:txBody>
          <a:bodyPr/>
          <a:lstStyle/>
          <a:p>
            <a:endParaRPr lang="en-US"/>
          </a:p>
        </p:txBody>
      </p:sp>
      <p:sp>
        <p:nvSpPr>
          <p:cNvPr id="47" name="Text 45"/>
          <p:cNvSpPr/>
          <p:nvPr/>
        </p:nvSpPr>
        <p:spPr>
          <a:xfrm>
            <a:off x="457200" y="3063240"/>
            <a:ext cx="2926080" cy="502920"/>
          </a:xfrm>
          <a:prstGeom prst="rect">
            <a:avLst/>
          </a:prstGeom>
          <a:noFill/>
          <a:ln/>
        </p:spPr>
        <p:txBody>
          <a:bodyPr wrap="square" lIns="0" tIns="0" rIns="0" bIns="0"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XGBoost</a:t>
            </a:r>
            <a:endParaRPr lang="en-US" sz="1300" dirty="0"/>
          </a:p>
        </p:txBody>
      </p:sp>
      <p:sp>
        <p:nvSpPr>
          <p:cNvPr id="48" name="Shape 46"/>
          <p:cNvSpPr/>
          <p:nvPr/>
        </p:nvSpPr>
        <p:spPr>
          <a:xfrm>
            <a:off x="338328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49" name="Text 47"/>
          <p:cNvSpPr/>
          <p:nvPr/>
        </p:nvSpPr>
        <p:spPr>
          <a:xfrm>
            <a:off x="338328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90.4%</a:t>
            </a:r>
            <a:endParaRPr lang="en-US" sz="1300" dirty="0"/>
          </a:p>
        </p:txBody>
      </p:sp>
      <p:sp>
        <p:nvSpPr>
          <p:cNvPr id="50" name="Shape 48"/>
          <p:cNvSpPr/>
          <p:nvPr/>
        </p:nvSpPr>
        <p:spPr>
          <a:xfrm>
            <a:off x="466344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51" name="Text 49"/>
          <p:cNvSpPr/>
          <p:nvPr/>
        </p:nvSpPr>
        <p:spPr>
          <a:xfrm>
            <a:off x="466344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59.2%</a:t>
            </a:r>
            <a:endParaRPr lang="en-US" sz="1300" dirty="0"/>
          </a:p>
        </p:txBody>
      </p:sp>
      <p:sp>
        <p:nvSpPr>
          <p:cNvPr id="52" name="Shape 50"/>
          <p:cNvSpPr/>
          <p:nvPr/>
        </p:nvSpPr>
        <p:spPr>
          <a:xfrm>
            <a:off x="594360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53" name="Text 51"/>
          <p:cNvSpPr/>
          <p:nvPr/>
        </p:nvSpPr>
        <p:spPr>
          <a:xfrm>
            <a:off x="594360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73.1%</a:t>
            </a:r>
            <a:endParaRPr lang="en-US" sz="1300" dirty="0"/>
          </a:p>
        </p:txBody>
      </p:sp>
      <p:sp>
        <p:nvSpPr>
          <p:cNvPr id="54" name="Shape 52"/>
          <p:cNvSpPr/>
          <p:nvPr/>
        </p:nvSpPr>
        <p:spPr>
          <a:xfrm>
            <a:off x="722376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55" name="Text 53"/>
          <p:cNvSpPr/>
          <p:nvPr/>
        </p:nvSpPr>
        <p:spPr>
          <a:xfrm>
            <a:off x="722376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19.2%</a:t>
            </a:r>
            <a:endParaRPr lang="en-US" sz="1300" dirty="0"/>
          </a:p>
        </p:txBody>
      </p:sp>
      <p:sp>
        <p:nvSpPr>
          <p:cNvPr id="56" name="Shape 54"/>
          <p:cNvSpPr/>
          <p:nvPr/>
        </p:nvSpPr>
        <p:spPr>
          <a:xfrm>
            <a:off x="850392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57" name="Text 55"/>
          <p:cNvSpPr/>
          <p:nvPr/>
        </p:nvSpPr>
        <p:spPr>
          <a:xfrm>
            <a:off x="850392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0.304</a:t>
            </a:r>
            <a:endParaRPr lang="en-US" sz="1300" dirty="0"/>
          </a:p>
        </p:txBody>
      </p:sp>
      <p:sp>
        <p:nvSpPr>
          <p:cNvPr id="58" name="Shape 56"/>
          <p:cNvSpPr/>
          <p:nvPr/>
        </p:nvSpPr>
        <p:spPr>
          <a:xfrm>
            <a:off x="9784080" y="3063240"/>
            <a:ext cx="1371600" cy="502920"/>
          </a:xfrm>
          <a:prstGeom prst="rect">
            <a:avLst/>
          </a:prstGeom>
          <a:solidFill>
            <a:srgbClr val="FFFFFF"/>
          </a:solidFill>
          <a:ln w="6350">
            <a:solidFill>
              <a:srgbClr val="D0D5DD"/>
            </a:solidFill>
            <a:prstDash val="solid"/>
          </a:ln>
        </p:spPr>
        <p:txBody>
          <a:bodyPr/>
          <a:lstStyle/>
          <a:p>
            <a:endParaRPr lang="en-US"/>
          </a:p>
        </p:txBody>
      </p:sp>
      <p:sp>
        <p:nvSpPr>
          <p:cNvPr id="59" name="Text 57"/>
          <p:cNvSpPr/>
          <p:nvPr/>
        </p:nvSpPr>
        <p:spPr>
          <a:xfrm>
            <a:off x="9784080" y="3063240"/>
            <a:ext cx="137160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0.824</a:t>
            </a:r>
            <a:endParaRPr lang="en-US" sz="1300" dirty="0"/>
          </a:p>
        </p:txBody>
      </p:sp>
      <p:sp>
        <p:nvSpPr>
          <p:cNvPr id="60" name="Shape 58"/>
          <p:cNvSpPr/>
          <p:nvPr/>
        </p:nvSpPr>
        <p:spPr>
          <a:xfrm>
            <a:off x="457200" y="4114800"/>
            <a:ext cx="11247120" cy="2286000"/>
          </a:xfrm>
          <a:prstGeom prst="rect">
            <a:avLst/>
          </a:prstGeom>
          <a:solidFill>
            <a:srgbClr val="21295C"/>
          </a:solidFill>
          <a:ln w="12700">
            <a:solidFill>
              <a:srgbClr val="21295C"/>
            </a:solidFill>
            <a:prstDash val="solid"/>
          </a:ln>
        </p:spPr>
        <p:txBody>
          <a:bodyPr/>
          <a:lstStyle/>
          <a:p>
            <a:endParaRPr lang="en-US"/>
          </a:p>
        </p:txBody>
      </p:sp>
      <p:sp>
        <p:nvSpPr>
          <p:cNvPr id="61" name="Text 59"/>
          <p:cNvSpPr/>
          <p:nvPr/>
        </p:nvSpPr>
        <p:spPr>
          <a:xfrm>
            <a:off x="640080" y="4251960"/>
            <a:ext cx="10972800" cy="411480"/>
          </a:xfrm>
          <a:prstGeom prst="rect">
            <a:avLst/>
          </a:prstGeom>
          <a:noFill/>
          <a:ln/>
        </p:spPr>
        <p:txBody>
          <a:bodyPr wrap="square" lIns="0" tIns="0" rIns="0" bIns="0" rtlCol="0" anchor="ctr"/>
          <a:lstStyle/>
          <a:p>
            <a:pPr marL="0" indent="0">
              <a:buNone/>
            </a:pPr>
            <a:r>
              <a:rPr lang="en-US" sz="1800" b="1" dirty="0">
                <a:solidFill>
                  <a:srgbClr val="00C9B7"/>
                </a:solidFill>
                <a:latin typeface="Calibri" pitchFamily="34" charset="0"/>
                <a:ea typeface="Calibri" pitchFamily="34" charset="-122"/>
                <a:cs typeface="Calibri" pitchFamily="34" charset="-120"/>
              </a:rPr>
              <a:t>📊  Key Observation</a:t>
            </a:r>
            <a:endParaRPr lang="en-US" sz="1800" dirty="0"/>
          </a:p>
        </p:txBody>
      </p:sp>
      <p:sp>
        <p:nvSpPr>
          <p:cNvPr id="62" name="Text 60"/>
          <p:cNvSpPr/>
          <p:nvPr/>
        </p:nvSpPr>
        <p:spPr>
          <a:xfrm>
            <a:off x="640080" y="4709160"/>
            <a:ext cx="10972800" cy="1645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XGBoost achieves the highest PR-AUC (0.480) — meaning it ranks failures best — but the worst F1 (0.304).</a:t>
            </a:r>
            <a:endParaRPr lang="en-US" sz="14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00C9B7"/>
                </a:solidFill>
                <a:latin typeface="Calibri" pitchFamily="34" charset="0"/>
                <a:ea typeface="Calibri" pitchFamily="34" charset="-122"/>
                <a:cs typeface="Calibri" pitchFamily="34" charset="-120"/>
              </a:rPr>
              <a:t>Translation:  </a:t>
            </a:r>
            <a:r>
              <a:rPr lang="en-US" sz="1300" dirty="0">
                <a:solidFill>
                  <a:srgbClr val="FFFFFF"/>
                </a:solidFill>
                <a:latin typeface="Calibri" pitchFamily="34" charset="0"/>
                <a:ea typeface="Calibri" pitchFamily="34" charset="-122"/>
                <a:cs typeface="Calibri" pitchFamily="34" charset="-120"/>
              </a:rPr>
              <a:t>the model has good information but a miscalibrated decision rule. Only 19% of true failures are flagged, because the 0.5 threshold is implicitly designed for a balanced class prior.</a:t>
            </a:r>
            <a:endParaRPr lang="en-US" sz="14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200" i="1" dirty="0">
                <a:solidFill>
                  <a:srgbClr val="B8C4D0"/>
                </a:solidFill>
                <a:latin typeface="Calibri" pitchFamily="34" charset="0"/>
                <a:ea typeface="Calibri" pitchFamily="34" charset="-122"/>
                <a:cs typeface="Calibri" pitchFamily="34" charset="-120"/>
              </a:rPr>
              <a:t>This insight motivates the threshold optimization experiment ahead →</a:t>
            </a:r>
            <a:endParaRPr lang="en-US" sz="1400" dirty="0"/>
          </a:p>
        </p:txBody>
      </p:sp>
      <p:sp>
        <p:nvSpPr>
          <p:cNvPr id="63" name="Text 61"/>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64" name="Text 62"/>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14 / 29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Ablation Study</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Does the hybrid claim hold? Test each feature set in isolation</a:t>
            </a:r>
            <a:endParaRPr lang="en-US" sz="1400" dirty="0"/>
          </a:p>
        </p:txBody>
      </p:sp>
      <p:pic>
        <p:nvPicPr>
          <p:cNvPr id="4" name="Image 0" descr="/home/claude/thesis/figures/fig_15_ablation_study.png"/>
          <p:cNvPicPr>
            <a:picLocks noChangeAspect="1"/>
          </p:cNvPicPr>
          <p:nvPr/>
        </p:nvPicPr>
        <p:blipFill>
          <a:blip r:embed="rId3"/>
          <a:srcRect/>
          <a:stretch/>
        </p:blipFill>
        <p:spPr>
          <a:xfrm>
            <a:off x="365760" y="1371600"/>
            <a:ext cx="7772400" cy="4023360"/>
          </a:xfrm>
          <a:prstGeom prst="rect">
            <a:avLst/>
          </a:prstGeom>
        </p:spPr>
      </p:pic>
      <p:sp>
        <p:nvSpPr>
          <p:cNvPr id="5" name="Text 2"/>
          <p:cNvSpPr/>
          <p:nvPr/>
        </p:nvSpPr>
        <p:spPr>
          <a:xfrm>
            <a:off x="8412480" y="1463040"/>
            <a:ext cx="3474720" cy="36576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Four Configurations</a:t>
            </a:r>
            <a:endParaRPr lang="en-US" sz="1400" dirty="0"/>
          </a:p>
        </p:txBody>
      </p:sp>
      <p:sp>
        <p:nvSpPr>
          <p:cNvPr id="6" name="Text 3"/>
          <p:cNvSpPr/>
          <p:nvPr/>
        </p:nvSpPr>
        <p:spPr>
          <a:xfrm>
            <a:off x="8412480" y="1828800"/>
            <a:ext cx="3474720" cy="2377440"/>
          </a:xfrm>
          <a:prstGeom prst="rect">
            <a:avLst/>
          </a:prstGeom>
          <a:noFill/>
          <a:ln/>
        </p:spPr>
        <p:txBody>
          <a:bodyPr wrap="square" lIns="0" tIns="0" rIns="0" bIns="0" rtlCol="0" anchor="ctr"/>
          <a:lstStyle/>
          <a:p>
            <a:pPr marL="0" indent="0">
              <a:buNone/>
            </a:pPr>
            <a:r>
              <a:rPr lang="en-US" sz="1100" b="1" dirty="0">
                <a:solidFill>
                  <a:srgbClr val="1A1F2E"/>
                </a:solidFill>
                <a:latin typeface="Calibri" pitchFamily="34" charset="0"/>
                <a:ea typeface="Calibri" pitchFamily="34" charset="-122"/>
                <a:cs typeface="Calibri" pitchFamily="34" charset="-120"/>
              </a:rPr>
              <a:t>Text-only (TF-IDF)</a:t>
            </a:r>
            <a:endParaRPr lang="en-US" sz="1100" dirty="0"/>
          </a:p>
          <a:p>
            <a:pPr marL="0" indent="0">
              <a:buNone/>
            </a:pPr>
            <a:r>
              <a:rPr lang="en-US" sz="1050" i="1" dirty="0">
                <a:solidFill>
                  <a:srgbClr val="5A6470"/>
                </a:solidFill>
                <a:latin typeface="Calibri" pitchFamily="34" charset="0"/>
                <a:ea typeface="Calibri" pitchFamily="34" charset="-122"/>
                <a:cs typeface="Calibri" pitchFamily="34" charset="-120"/>
              </a:rPr>
              <a:t>F1 = 0.196 — cannot overcome the 89:11 prior</a:t>
            </a:r>
            <a:endParaRPr lang="en-US" sz="11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rgbClr val="1A1F2E"/>
                </a:solidFill>
                <a:latin typeface="Calibri" pitchFamily="34" charset="0"/>
                <a:ea typeface="Calibri" pitchFamily="34" charset="-122"/>
                <a:cs typeface="Calibri" pitchFamily="34" charset="-120"/>
              </a:rPr>
              <a:t>Structured-only</a:t>
            </a:r>
            <a:endParaRPr lang="en-US" sz="1100" dirty="0"/>
          </a:p>
          <a:p>
            <a:pPr marL="0" indent="0">
              <a:buNone/>
            </a:pPr>
            <a:r>
              <a:rPr lang="en-US" sz="1050" i="1" dirty="0">
                <a:solidFill>
                  <a:srgbClr val="5A6470"/>
                </a:solidFill>
                <a:latin typeface="Calibri" pitchFamily="34" charset="0"/>
                <a:ea typeface="Calibri" pitchFamily="34" charset="-122"/>
                <a:cs typeface="Calibri" pitchFamily="34" charset="-120"/>
              </a:rPr>
              <a:t>F1 = 0.422 — matches the full hybrid</a:t>
            </a:r>
            <a:endParaRPr lang="en-US" sz="11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rgbClr val="1A1F2E"/>
                </a:solidFill>
                <a:latin typeface="Calibri" pitchFamily="34" charset="0"/>
                <a:ea typeface="Calibri" pitchFamily="34" charset="-122"/>
                <a:cs typeface="Calibri" pitchFamily="34" charset="-120"/>
              </a:rPr>
              <a:t>Hybrid (full)</a:t>
            </a:r>
            <a:endParaRPr lang="en-US" sz="1100" dirty="0"/>
          </a:p>
          <a:p>
            <a:pPr marL="0" indent="0">
              <a:buNone/>
            </a:pPr>
            <a:r>
              <a:rPr lang="en-US" sz="1050" i="1" dirty="0">
                <a:solidFill>
                  <a:srgbClr val="C8463D"/>
                </a:solidFill>
                <a:latin typeface="Calibri" pitchFamily="34" charset="0"/>
                <a:ea typeface="Calibri" pitchFamily="34" charset="-122"/>
                <a:cs typeface="Calibri" pitchFamily="34" charset="-120"/>
              </a:rPr>
              <a:t>F1 = 0.422 — no lift from adding text</a:t>
            </a:r>
            <a:endParaRPr lang="en-US" sz="1100" dirty="0"/>
          </a:p>
        </p:txBody>
      </p:sp>
      <p:sp>
        <p:nvSpPr>
          <p:cNvPr id="7" name="Shape 4"/>
          <p:cNvSpPr/>
          <p:nvPr/>
        </p:nvSpPr>
        <p:spPr>
          <a:xfrm>
            <a:off x="8412480" y="4297680"/>
            <a:ext cx="3474720" cy="2011680"/>
          </a:xfrm>
          <a:prstGeom prst="rect">
            <a:avLst/>
          </a:prstGeom>
          <a:solidFill>
            <a:srgbClr val="FFF4E6"/>
          </a:solidFill>
          <a:ln w="12700">
            <a:solidFill>
              <a:srgbClr val="D4922A"/>
            </a:solidFill>
            <a:prstDash val="solid"/>
          </a:ln>
        </p:spPr>
        <p:txBody>
          <a:bodyPr/>
          <a:lstStyle/>
          <a:p>
            <a:endParaRPr lang="en-US"/>
          </a:p>
        </p:txBody>
      </p:sp>
      <p:sp>
        <p:nvSpPr>
          <p:cNvPr id="8" name="Text 5"/>
          <p:cNvSpPr/>
          <p:nvPr/>
        </p:nvSpPr>
        <p:spPr>
          <a:xfrm>
            <a:off x="8595360" y="4434840"/>
            <a:ext cx="3200400" cy="320040"/>
          </a:xfrm>
          <a:prstGeom prst="rect">
            <a:avLst/>
          </a:prstGeom>
          <a:noFill/>
          <a:ln/>
        </p:spPr>
        <p:txBody>
          <a:bodyPr wrap="square" lIns="0" tIns="0" rIns="0" bIns="0" rtlCol="0" anchor="ctr"/>
          <a:lstStyle/>
          <a:p>
            <a:pPr marL="0" indent="0">
              <a:buNone/>
            </a:pPr>
            <a:r>
              <a:rPr lang="en-US" sz="1200" b="1" dirty="0">
                <a:solidFill>
                  <a:srgbClr val="D4922A"/>
                </a:solidFill>
                <a:latin typeface="Calibri" pitchFamily="34" charset="0"/>
                <a:ea typeface="Calibri" pitchFamily="34" charset="-122"/>
                <a:cs typeface="Calibri" pitchFamily="34" charset="-120"/>
              </a:rPr>
              <a:t>⚠  Honest Finding</a:t>
            </a:r>
            <a:endParaRPr lang="en-US" sz="1200" dirty="0"/>
          </a:p>
        </p:txBody>
      </p:sp>
      <p:sp>
        <p:nvSpPr>
          <p:cNvPr id="9" name="Text 6"/>
          <p:cNvSpPr/>
          <p:nvPr/>
        </p:nvSpPr>
        <p:spPr>
          <a:xfrm>
            <a:off x="8595360" y="4800600"/>
            <a:ext cx="3200400" cy="1463040"/>
          </a:xfrm>
          <a:prstGeom prst="rect">
            <a:avLst/>
          </a:prstGeom>
          <a:noFill/>
          <a:ln/>
        </p:spPr>
        <p:txBody>
          <a:bodyPr wrap="square" lIns="0" tIns="0" rIns="0" bIns="0" rtlCol="0" anchor="ctr"/>
          <a:lstStyle/>
          <a:p>
            <a:pPr marL="0" indent="0">
              <a:buNone/>
            </a:pPr>
            <a:r>
              <a:rPr lang="en-US" sz="1050" i="1" dirty="0">
                <a:solidFill>
                  <a:srgbClr val="1A1F2E"/>
                </a:solidFill>
                <a:latin typeface="Calibri" pitchFamily="34" charset="0"/>
                <a:ea typeface="Calibri" pitchFamily="34" charset="-122"/>
                <a:cs typeface="Calibri" pitchFamily="34" charset="-120"/>
              </a:rPr>
              <a:t>The hybrid claim is refuted on real data. Adding TF-IDF text to the structured features produces no measurable lift.</a:t>
            </a:r>
            <a:endParaRPr lang="en-US" sz="1050" dirty="0"/>
          </a:p>
        </p:txBody>
      </p:sp>
      <p:sp>
        <p:nvSpPr>
          <p:cNvPr id="10" name="Shape 7"/>
          <p:cNvSpPr/>
          <p:nvPr/>
        </p:nvSpPr>
        <p:spPr>
          <a:xfrm>
            <a:off x="365760" y="5532120"/>
            <a:ext cx="7772400" cy="822960"/>
          </a:xfrm>
          <a:prstGeom prst="rect">
            <a:avLst/>
          </a:prstGeom>
          <a:solidFill>
            <a:srgbClr val="F7F9FB"/>
          </a:solidFill>
          <a:ln w="12700">
            <a:solidFill>
              <a:srgbClr val="1C7293"/>
            </a:solidFill>
            <a:prstDash val="solid"/>
          </a:ln>
        </p:spPr>
        <p:txBody>
          <a:bodyPr/>
          <a:lstStyle/>
          <a:p>
            <a:endParaRPr lang="en-US"/>
          </a:p>
        </p:txBody>
      </p:sp>
      <p:sp>
        <p:nvSpPr>
          <p:cNvPr id="11" name="Text 8"/>
          <p:cNvSpPr/>
          <p:nvPr/>
        </p:nvSpPr>
        <p:spPr>
          <a:xfrm>
            <a:off x="548640" y="5623560"/>
            <a:ext cx="7406640" cy="68580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And note:  </a:t>
            </a:r>
            <a:r>
              <a:rPr lang="en-US" sz="1200" dirty="0">
                <a:solidFill>
                  <a:srgbClr val="1A1F2E"/>
                </a:solidFill>
                <a:latin typeface="Calibri" pitchFamily="34" charset="0"/>
                <a:ea typeface="Calibri" pitchFamily="34" charset="-122"/>
                <a:cs typeface="Calibri" pitchFamily="34" charset="-120"/>
              </a:rPr>
              <a:t>the marginal ROC-AUC edge the hybrid held under the earlier protocol does not survive honest evaluation. Text does not improve </a:t>
            </a:r>
            <a:r>
              <a:rPr lang="en-US" sz="1200" b="1" i="1" dirty="0">
                <a:solidFill>
                  <a:srgbClr val="1A1F2E"/>
                </a:solidFill>
                <a:latin typeface="Calibri" pitchFamily="34" charset="0"/>
                <a:ea typeface="Calibri" pitchFamily="34" charset="-122"/>
                <a:cs typeface="Calibri" pitchFamily="34" charset="-120"/>
              </a:rPr>
              <a:t>ranking ability</a:t>
            </a:r>
            <a:r>
              <a:rPr lang="en-US" sz="1200" dirty="0">
                <a:solidFill>
                  <a:srgbClr val="1A1F2E"/>
                </a:solidFill>
                <a:latin typeface="Calibri" pitchFamily="34" charset="0"/>
                <a:ea typeface="Calibri" pitchFamily="34" charset="-122"/>
                <a:cs typeface="Calibri" pitchFamily="34" charset="-120"/>
              </a:rPr>
              <a:t> either. Means over five folds.</a:t>
            </a:r>
            <a:endParaRPr lang="en-US" sz="1200" dirty="0"/>
          </a:p>
        </p:txBody>
      </p:sp>
      <p:sp>
        <p:nvSpPr>
          <p:cNvPr id="12" name="Text 9"/>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13" name="Text 10"/>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15 / 29</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The Discriminating Experiment</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What if the model is told ONLY the project, workflow, branch and trigger?</a:t>
            </a:r>
            <a:endParaRPr lang="en-US" sz="1400" dirty="0"/>
          </a:p>
        </p:txBody>
      </p:sp>
      <p:sp>
        <p:nvSpPr>
          <p:cNvPr id="4" name="Shape 2"/>
          <p:cNvSpPr/>
          <p:nvPr/>
        </p:nvSpPr>
        <p:spPr>
          <a:xfrm>
            <a:off x="457200" y="1554480"/>
            <a:ext cx="2926080" cy="502920"/>
          </a:xfrm>
          <a:prstGeom prst="rect">
            <a:avLst/>
          </a:prstGeom>
          <a:solidFill>
            <a:srgbClr val="065A82"/>
          </a:solidFill>
          <a:ln w="12700">
            <a:solidFill>
              <a:srgbClr val="065A82"/>
            </a:solidFill>
            <a:prstDash val="solid"/>
          </a:ln>
        </p:spPr>
        <p:txBody>
          <a:bodyPr/>
          <a:lstStyle/>
          <a:p>
            <a:endParaRPr lang="en-US"/>
          </a:p>
        </p:txBody>
      </p:sp>
      <p:sp>
        <p:nvSpPr>
          <p:cNvPr id="5" name="Text 3"/>
          <p:cNvSpPr/>
          <p:nvPr/>
        </p:nvSpPr>
        <p:spPr>
          <a:xfrm>
            <a:off x="457200" y="1554480"/>
            <a:ext cx="29260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Configuration</a:t>
            </a:r>
            <a:endParaRPr lang="en-US" sz="1300" dirty="0"/>
          </a:p>
        </p:txBody>
      </p:sp>
      <p:sp>
        <p:nvSpPr>
          <p:cNvPr id="6" name="Shape 4"/>
          <p:cNvSpPr/>
          <p:nvPr/>
        </p:nvSpPr>
        <p:spPr>
          <a:xfrm>
            <a:off x="338328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7" name="Text 5"/>
          <p:cNvSpPr/>
          <p:nvPr/>
        </p:nvSpPr>
        <p:spPr>
          <a:xfrm>
            <a:off x="338328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Failure F1</a:t>
            </a:r>
            <a:endParaRPr lang="en-US" sz="1300" dirty="0"/>
          </a:p>
        </p:txBody>
      </p:sp>
      <p:sp>
        <p:nvSpPr>
          <p:cNvPr id="8" name="Shape 6"/>
          <p:cNvSpPr/>
          <p:nvPr/>
        </p:nvSpPr>
        <p:spPr>
          <a:xfrm>
            <a:off x="466344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9" name="Text 7"/>
          <p:cNvSpPr/>
          <p:nvPr/>
        </p:nvSpPr>
        <p:spPr>
          <a:xfrm>
            <a:off x="466344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s.d.</a:t>
            </a:r>
            <a:endParaRPr lang="en-US" sz="1300" dirty="0"/>
          </a:p>
        </p:txBody>
      </p:sp>
      <p:sp>
        <p:nvSpPr>
          <p:cNvPr id="10" name="Shape 8"/>
          <p:cNvSpPr/>
          <p:nvPr/>
        </p:nvSpPr>
        <p:spPr>
          <a:xfrm>
            <a:off x="594360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11" name="Text 9"/>
          <p:cNvSpPr/>
          <p:nvPr/>
        </p:nvSpPr>
        <p:spPr>
          <a:xfrm>
            <a:off x="594360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p>
        </p:txBody>
      </p:sp>
      <p:sp>
        <p:nvSpPr>
          <p:cNvPr id="12" name="Shape 10"/>
          <p:cNvSpPr/>
          <p:nvPr/>
        </p:nvSpPr>
        <p:spPr>
          <a:xfrm>
            <a:off x="722376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13" name="Text 11"/>
          <p:cNvSpPr/>
          <p:nvPr/>
        </p:nvSpPr>
        <p:spPr>
          <a:xfrm>
            <a:off x="722376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p>
        </p:txBody>
      </p:sp>
      <p:sp>
        <p:nvSpPr>
          <p:cNvPr id="14" name="Shape 12"/>
          <p:cNvSpPr/>
          <p:nvPr/>
        </p:nvSpPr>
        <p:spPr>
          <a:xfrm>
            <a:off x="850392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15" name="Text 13"/>
          <p:cNvSpPr/>
          <p:nvPr/>
        </p:nvSpPr>
        <p:spPr>
          <a:xfrm>
            <a:off x="850392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PR-AUC</a:t>
            </a:r>
            <a:endParaRPr lang="en-US" sz="1300" dirty="0"/>
          </a:p>
        </p:txBody>
      </p:sp>
      <p:sp>
        <p:nvSpPr>
          <p:cNvPr id="16" name="Shape 14"/>
          <p:cNvSpPr/>
          <p:nvPr/>
        </p:nvSpPr>
        <p:spPr>
          <a:xfrm>
            <a:off x="9784080" y="1554480"/>
            <a:ext cx="1371600" cy="502920"/>
          </a:xfrm>
          <a:prstGeom prst="rect">
            <a:avLst/>
          </a:prstGeom>
          <a:solidFill>
            <a:srgbClr val="065A82"/>
          </a:solidFill>
          <a:ln w="12700">
            <a:solidFill>
              <a:srgbClr val="065A82"/>
            </a:solidFill>
            <a:prstDash val="solid"/>
          </a:ln>
        </p:spPr>
        <p:txBody>
          <a:bodyPr/>
          <a:lstStyle/>
          <a:p>
            <a:endParaRPr lang="en-US"/>
          </a:p>
        </p:txBody>
      </p:sp>
      <p:sp>
        <p:nvSpPr>
          <p:cNvPr id="17" name="Text 15"/>
          <p:cNvSpPr/>
          <p:nvPr/>
        </p:nvSpPr>
        <p:spPr>
          <a:xfrm>
            <a:off x="9784080" y="1554480"/>
            <a:ext cx="13716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ROC-AUC</a:t>
            </a:r>
            <a:endParaRPr lang="en-US" sz="1300" dirty="0"/>
          </a:p>
        </p:txBody>
      </p:sp>
      <p:sp>
        <p:nvSpPr>
          <p:cNvPr id="18" name="Shape 16"/>
          <p:cNvSpPr/>
          <p:nvPr/>
        </p:nvSpPr>
        <p:spPr>
          <a:xfrm>
            <a:off x="457200" y="2057400"/>
            <a:ext cx="2926080" cy="502920"/>
          </a:xfrm>
          <a:prstGeom prst="rect">
            <a:avLst/>
          </a:prstGeom>
          <a:solidFill>
            <a:srgbClr val="FFFFFF"/>
          </a:solidFill>
          <a:ln w="6350">
            <a:solidFill>
              <a:srgbClr val="D0D5DD"/>
            </a:solidFill>
            <a:prstDash val="solid"/>
          </a:ln>
        </p:spPr>
        <p:txBody>
          <a:bodyPr/>
          <a:lstStyle/>
          <a:p>
            <a:endParaRPr lang="en-US"/>
          </a:p>
        </p:txBody>
      </p:sp>
      <p:sp>
        <p:nvSpPr>
          <p:cNvPr id="19" name="Text 17"/>
          <p:cNvSpPr/>
          <p:nvPr/>
        </p:nvSpPr>
        <p:spPr>
          <a:xfrm>
            <a:off x="457200" y="2057400"/>
            <a:ext cx="2926080" cy="502920"/>
          </a:xfrm>
          <a:prstGeom prst="rect">
            <a:avLst/>
          </a:prstGeom>
          <a:noFill/>
          <a:ln/>
        </p:spPr>
        <p:txBody>
          <a:bodyPr wrap="square" lIns="0" tIns="0" rIns="0" bIns="0"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Text only</a:t>
            </a:r>
            <a:endParaRPr lang="en-US" sz="1300" dirty="0"/>
          </a:p>
        </p:txBody>
      </p:sp>
      <p:sp>
        <p:nvSpPr>
          <p:cNvPr id="20" name="Shape 18"/>
          <p:cNvSpPr/>
          <p:nvPr/>
        </p:nvSpPr>
        <p:spPr>
          <a:xfrm>
            <a:off x="338328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1" name="Text 19"/>
          <p:cNvSpPr/>
          <p:nvPr/>
        </p:nvSpPr>
        <p:spPr>
          <a:xfrm>
            <a:off x="338328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0.196</a:t>
            </a:r>
            <a:endParaRPr lang="en-US" sz="1300" dirty="0"/>
          </a:p>
        </p:txBody>
      </p:sp>
      <p:sp>
        <p:nvSpPr>
          <p:cNvPr id="22" name="Shape 20"/>
          <p:cNvSpPr/>
          <p:nvPr/>
        </p:nvSpPr>
        <p:spPr>
          <a:xfrm>
            <a:off x="466344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3" name="Text 21"/>
          <p:cNvSpPr/>
          <p:nvPr/>
        </p:nvSpPr>
        <p:spPr>
          <a:xfrm>
            <a:off x="466344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0.066</a:t>
            </a:r>
            <a:endParaRPr lang="en-US" sz="1300" dirty="0"/>
          </a:p>
        </p:txBody>
      </p:sp>
      <p:sp>
        <p:nvSpPr>
          <p:cNvPr id="24" name="Shape 22"/>
          <p:cNvSpPr/>
          <p:nvPr/>
        </p:nvSpPr>
        <p:spPr>
          <a:xfrm>
            <a:off x="594360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5" name="Text 23"/>
          <p:cNvSpPr/>
          <p:nvPr/>
        </p:nvSpPr>
        <p:spPr>
          <a:xfrm>
            <a:off x="594360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0.313</a:t>
            </a:r>
            <a:endParaRPr lang="en-US" sz="1300" dirty="0"/>
          </a:p>
        </p:txBody>
      </p:sp>
      <p:sp>
        <p:nvSpPr>
          <p:cNvPr id="26" name="Shape 24"/>
          <p:cNvSpPr/>
          <p:nvPr/>
        </p:nvSpPr>
        <p:spPr>
          <a:xfrm>
            <a:off x="722376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7" name="Text 25"/>
          <p:cNvSpPr/>
          <p:nvPr/>
        </p:nvSpPr>
        <p:spPr>
          <a:xfrm>
            <a:off x="722376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0.156</a:t>
            </a:r>
            <a:endParaRPr lang="en-US" sz="1300" dirty="0"/>
          </a:p>
        </p:txBody>
      </p:sp>
      <p:sp>
        <p:nvSpPr>
          <p:cNvPr id="28" name="Shape 26"/>
          <p:cNvSpPr/>
          <p:nvPr/>
        </p:nvSpPr>
        <p:spPr>
          <a:xfrm>
            <a:off x="850392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9" name="Text 27"/>
          <p:cNvSpPr/>
          <p:nvPr/>
        </p:nvSpPr>
        <p:spPr>
          <a:xfrm>
            <a:off x="850392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0.208</a:t>
            </a:r>
            <a:endParaRPr lang="en-US" sz="1300" dirty="0"/>
          </a:p>
        </p:txBody>
      </p:sp>
      <p:sp>
        <p:nvSpPr>
          <p:cNvPr id="30" name="Shape 28"/>
          <p:cNvSpPr/>
          <p:nvPr/>
        </p:nvSpPr>
        <p:spPr>
          <a:xfrm>
            <a:off x="9784080" y="2057400"/>
            <a:ext cx="1371600" cy="502920"/>
          </a:xfrm>
          <a:prstGeom prst="rect">
            <a:avLst/>
          </a:prstGeom>
          <a:solidFill>
            <a:srgbClr val="FFFFFF"/>
          </a:solidFill>
          <a:ln w="6350">
            <a:solidFill>
              <a:srgbClr val="D0D5DD"/>
            </a:solidFill>
            <a:prstDash val="solid"/>
          </a:ln>
        </p:spPr>
        <p:txBody>
          <a:bodyPr/>
          <a:lstStyle/>
          <a:p>
            <a:endParaRPr lang="en-US"/>
          </a:p>
        </p:txBody>
      </p:sp>
      <p:sp>
        <p:nvSpPr>
          <p:cNvPr id="31" name="Text 29"/>
          <p:cNvSpPr/>
          <p:nvPr/>
        </p:nvSpPr>
        <p:spPr>
          <a:xfrm>
            <a:off x="9784080" y="2057400"/>
            <a:ext cx="137160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0.665</a:t>
            </a:r>
            <a:endParaRPr lang="en-US" sz="1300" dirty="0"/>
          </a:p>
        </p:txBody>
      </p:sp>
      <p:sp>
        <p:nvSpPr>
          <p:cNvPr id="32" name="Shape 30"/>
          <p:cNvSpPr/>
          <p:nvPr/>
        </p:nvSpPr>
        <p:spPr>
          <a:xfrm>
            <a:off x="457200" y="3063240"/>
            <a:ext cx="2926080" cy="502920"/>
          </a:xfrm>
          <a:prstGeom prst="rect">
            <a:avLst/>
          </a:prstGeom>
          <a:solidFill>
            <a:srgbClr val="FFFFFF"/>
          </a:solidFill>
          <a:ln w="6350">
            <a:solidFill>
              <a:srgbClr val="D0D5DD"/>
            </a:solidFill>
            <a:prstDash val="solid"/>
          </a:ln>
        </p:spPr>
        <p:txBody>
          <a:bodyPr/>
          <a:lstStyle/>
          <a:p>
            <a:endParaRPr lang="en-US"/>
          </a:p>
        </p:txBody>
      </p:sp>
      <p:sp>
        <p:nvSpPr>
          <p:cNvPr id="33" name="Text 31"/>
          <p:cNvSpPr/>
          <p:nvPr/>
        </p:nvSpPr>
        <p:spPr>
          <a:xfrm>
            <a:off x="457200" y="3063240"/>
            <a:ext cx="2926080" cy="502920"/>
          </a:xfrm>
          <a:prstGeom prst="rect">
            <a:avLst/>
          </a:prstGeom>
          <a:noFill/>
          <a:ln/>
        </p:spPr>
        <p:txBody>
          <a:bodyPr wrap="square" lIns="0" tIns="0" rIns="0" bIns="0"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Hybrid (full)</a:t>
            </a:r>
            <a:endParaRPr lang="en-US" sz="1300" dirty="0"/>
          </a:p>
        </p:txBody>
      </p:sp>
      <p:sp>
        <p:nvSpPr>
          <p:cNvPr id="34" name="Shape 32"/>
          <p:cNvSpPr/>
          <p:nvPr/>
        </p:nvSpPr>
        <p:spPr>
          <a:xfrm>
            <a:off x="338328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35" name="Text 33"/>
          <p:cNvSpPr/>
          <p:nvPr/>
        </p:nvSpPr>
        <p:spPr>
          <a:xfrm>
            <a:off x="338328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0.422</a:t>
            </a:r>
            <a:endParaRPr lang="en-US" sz="1300" dirty="0"/>
          </a:p>
        </p:txBody>
      </p:sp>
      <p:sp>
        <p:nvSpPr>
          <p:cNvPr id="36" name="Shape 34"/>
          <p:cNvSpPr/>
          <p:nvPr/>
        </p:nvSpPr>
        <p:spPr>
          <a:xfrm>
            <a:off x="466344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37" name="Text 35"/>
          <p:cNvSpPr/>
          <p:nvPr/>
        </p:nvSpPr>
        <p:spPr>
          <a:xfrm>
            <a:off x="466344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0.064</a:t>
            </a:r>
            <a:endParaRPr lang="en-US" sz="1300" dirty="0"/>
          </a:p>
        </p:txBody>
      </p:sp>
      <p:sp>
        <p:nvSpPr>
          <p:cNvPr id="38" name="Shape 36"/>
          <p:cNvSpPr/>
          <p:nvPr/>
        </p:nvSpPr>
        <p:spPr>
          <a:xfrm>
            <a:off x="594360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39" name="Text 37"/>
          <p:cNvSpPr/>
          <p:nvPr/>
        </p:nvSpPr>
        <p:spPr>
          <a:xfrm>
            <a:off x="594360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0.520</a:t>
            </a:r>
            <a:endParaRPr lang="en-US" sz="1300" dirty="0"/>
          </a:p>
        </p:txBody>
      </p:sp>
      <p:sp>
        <p:nvSpPr>
          <p:cNvPr id="40" name="Shape 38"/>
          <p:cNvSpPr/>
          <p:nvPr/>
        </p:nvSpPr>
        <p:spPr>
          <a:xfrm>
            <a:off x="722376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41" name="Text 39"/>
          <p:cNvSpPr/>
          <p:nvPr/>
        </p:nvSpPr>
        <p:spPr>
          <a:xfrm>
            <a:off x="722376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0.369</a:t>
            </a:r>
            <a:endParaRPr lang="en-US" sz="1300" dirty="0"/>
          </a:p>
        </p:txBody>
      </p:sp>
      <p:sp>
        <p:nvSpPr>
          <p:cNvPr id="42" name="Shape 40"/>
          <p:cNvSpPr/>
          <p:nvPr/>
        </p:nvSpPr>
        <p:spPr>
          <a:xfrm>
            <a:off x="850392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43" name="Text 41"/>
          <p:cNvSpPr/>
          <p:nvPr/>
        </p:nvSpPr>
        <p:spPr>
          <a:xfrm>
            <a:off x="850392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0.480</a:t>
            </a:r>
            <a:endParaRPr lang="en-US" sz="1300" dirty="0"/>
          </a:p>
        </p:txBody>
      </p:sp>
      <p:sp>
        <p:nvSpPr>
          <p:cNvPr id="44" name="Shape 42"/>
          <p:cNvSpPr/>
          <p:nvPr/>
        </p:nvSpPr>
        <p:spPr>
          <a:xfrm>
            <a:off x="9784080" y="3063240"/>
            <a:ext cx="1371600" cy="502920"/>
          </a:xfrm>
          <a:prstGeom prst="rect">
            <a:avLst/>
          </a:prstGeom>
          <a:solidFill>
            <a:srgbClr val="FFFFFF"/>
          </a:solidFill>
          <a:ln w="6350">
            <a:solidFill>
              <a:srgbClr val="D0D5DD"/>
            </a:solidFill>
            <a:prstDash val="solid"/>
          </a:ln>
        </p:spPr>
        <p:txBody>
          <a:bodyPr/>
          <a:lstStyle/>
          <a:p>
            <a:endParaRPr lang="en-US"/>
          </a:p>
        </p:txBody>
      </p:sp>
      <p:sp>
        <p:nvSpPr>
          <p:cNvPr id="45" name="Text 43"/>
          <p:cNvSpPr/>
          <p:nvPr/>
        </p:nvSpPr>
        <p:spPr>
          <a:xfrm>
            <a:off x="9784080" y="3063240"/>
            <a:ext cx="137160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0.824</a:t>
            </a:r>
            <a:endParaRPr lang="en-US" sz="1300" dirty="0"/>
          </a:p>
        </p:txBody>
      </p:sp>
      <p:sp>
        <p:nvSpPr>
          <p:cNvPr id="46" name="Shape 44"/>
          <p:cNvSpPr/>
          <p:nvPr/>
        </p:nvSpPr>
        <p:spPr>
          <a:xfrm>
            <a:off x="457200" y="3566160"/>
            <a:ext cx="2926080" cy="502920"/>
          </a:xfrm>
          <a:prstGeom prst="rect">
            <a:avLst/>
          </a:prstGeom>
          <a:solidFill>
            <a:srgbClr val="F7F9FB"/>
          </a:solidFill>
          <a:ln w="6350">
            <a:solidFill>
              <a:srgbClr val="D0D5DD"/>
            </a:solidFill>
            <a:prstDash val="solid"/>
          </a:ln>
        </p:spPr>
        <p:txBody>
          <a:bodyPr/>
          <a:lstStyle/>
          <a:p>
            <a:endParaRPr lang="en-US"/>
          </a:p>
        </p:txBody>
      </p:sp>
      <p:sp>
        <p:nvSpPr>
          <p:cNvPr id="47" name="Text 45"/>
          <p:cNvSpPr/>
          <p:nvPr/>
        </p:nvSpPr>
        <p:spPr>
          <a:xfrm>
            <a:off x="457200" y="3566160"/>
            <a:ext cx="2926080" cy="502920"/>
          </a:xfrm>
          <a:prstGeom prst="rect">
            <a:avLst/>
          </a:prstGeom>
          <a:noFill/>
          <a:ln/>
        </p:spPr>
        <p:txBody>
          <a:bodyPr wrap="square" lIns="0" tIns="0" rIns="0" bIns="0"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Categorical only</a:t>
            </a:r>
            <a:endParaRPr lang="en-US" sz="1300" dirty="0"/>
          </a:p>
        </p:txBody>
      </p:sp>
      <p:sp>
        <p:nvSpPr>
          <p:cNvPr id="48" name="Shape 46"/>
          <p:cNvSpPr/>
          <p:nvPr/>
        </p:nvSpPr>
        <p:spPr>
          <a:xfrm>
            <a:off x="3383280" y="3566160"/>
            <a:ext cx="1280160" cy="502920"/>
          </a:xfrm>
          <a:prstGeom prst="rect">
            <a:avLst/>
          </a:prstGeom>
          <a:solidFill>
            <a:srgbClr val="F7F9FB"/>
          </a:solidFill>
          <a:ln w="6350">
            <a:solidFill>
              <a:srgbClr val="D0D5DD"/>
            </a:solidFill>
            <a:prstDash val="solid"/>
          </a:ln>
        </p:spPr>
        <p:txBody>
          <a:bodyPr/>
          <a:lstStyle/>
          <a:p>
            <a:endParaRPr lang="en-US"/>
          </a:p>
        </p:txBody>
      </p:sp>
      <p:sp>
        <p:nvSpPr>
          <p:cNvPr id="49" name="Text 47"/>
          <p:cNvSpPr/>
          <p:nvPr/>
        </p:nvSpPr>
        <p:spPr>
          <a:xfrm>
            <a:off x="3383280" y="356616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0.481</a:t>
            </a:r>
            <a:endParaRPr lang="en-US" sz="1300" dirty="0"/>
          </a:p>
        </p:txBody>
      </p:sp>
      <p:sp>
        <p:nvSpPr>
          <p:cNvPr id="50" name="Shape 48"/>
          <p:cNvSpPr/>
          <p:nvPr/>
        </p:nvSpPr>
        <p:spPr>
          <a:xfrm>
            <a:off x="4663440" y="3566160"/>
            <a:ext cx="1280160" cy="502920"/>
          </a:xfrm>
          <a:prstGeom prst="rect">
            <a:avLst/>
          </a:prstGeom>
          <a:solidFill>
            <a:srgbClr val="F7F9FB"/>
          </a:solidFill>
          <a:ln w="6350">
            <a:solidFill>
              <a:srgbClr val="D0D5DD"/>
            </a:solidFill>
            <a:prstDash val="solid"/>
          </a:ln>
        </p:spPr>
        <p:txBody>
          <a:bodyPr/>
          <a:lstStyle/>
          <a:p>
            <a:endParaRPr lang="en-US"/>
          </a:p>
        </p:txBody>
      </p:sp>
      <p:sp>
        <p:nvSpPr>
          <p:cNvPr id="51" name="Text 49"/>
          <p:cNvSpPr/>
          <p:nvPr/>
        </p:nvSpPr>
        <p:spPr>
          <a:xfrm>
            <a:off x="4663440" y="356616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0.077</a:t>
            </a:r>
            <a:endParaRPr lang="en-US" sz="1300" dirty="0"/>
          </a:p>
        </p:txBody>
      </p:sp>
      <p:sp>
        <p:nvSpPr>
          <p:cNvPr id="52" name="Shape 50"/>
          <p:cNvSpPr/>
          <p:nvPr/>
        </p:nvSpPr>
        <p:spPr>
          <a:xfrm>
            <a:off x="5943600" y="3566160"/>
            <a:ext cx="1280160" cy="502920"/>
          </a:xfrm>
          <a:prstGeom prst="rect">
            <a:avLst/>
          </a:prstGeom>
          <a:solidFill>
            <a:srgbClr val="F7F9FB"/>
          </a:solidFill>
          <a:ln w="6350">
            <a:solidFill>
              <a:srgbClr val="D0D5DD"/>
            </a:solidFill>
            <a:prstDash val="solid"/>
          </a:ln>
        </p:spPr>
        <p:txBody>
          <a:bodyPr/>
          <a:lstStyle/>
          <a:p>
            <a:endParaRPr lang="en-US"/>
          </a:p>
        </p:txBody>
      </p:sp>
      <p:sp>
        <p:nvSpPr>
          <p:cNvPr id="53" name="Text 51"/>
          <p:cNvSpPr/>
          <p:nvPr/>
        </p:nvSpPr>
        <p:spPr>
          <a:xfrm>
            <a:off x="5943600" y="356616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0.591</a:t>
            </a:r>
            <a:endParaRPr lang="en-US" sz="1300" dirty="0"/>
          </a:p>
        </p:txBody>
      </p:sp>
      <p:sp>
        <p:nvSpPr>
          <p:cNvPr id="54" name="Shape 52"/>
          <p:cNvSpPr/>
          <p:nvPr/>
        </p:nvSpPr>
        <p:spPr>
          <a:xfrm>
            <a:off x="7223760" y="3566160"/>
            <a:ext cx="1280160" cy="502920"/>
          </a:xfrm>
          <a:prstGeom prst="rect">
            <a:avLst/>
          </a:prstGeom>
          <a:solidFill>
            <a:srgbClr val="F7F9FB"/>
          </a:solidFill>
          <a:ln w="6350">
            <a:solidFill>
              <a:srgbClr val="D0D5DD"/>
            </a:solidFill>
            <a:prstDash val="solid"/>
          </a:ln>
        </p:spPr>
        <p:txBody>
          <a:bodyPr/>
          <a:lstStyle/>
          <a:p>
            <a:endParaRPr lang="en-US"/>
          </a:p>
        </p:txBody>
      </p:sp>
      <p:sp>
        <p:nvSpPr>
          <p:cNvPr id="55" name="Text 53"/>
          <p:cNvSpPr/>
          <p:nvPr/>
        </p:nvSpPr>
        <p:spPr>
          <a:xfrm>
            <a:off x="7223760" y="356616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0.432</a:t>
            </a:r>
            <a:endParaRPr lang="en-US" sz="1300" dirty="0"/>
          </a:p>
        </p:txBody>
      </p:sp>
      <p:sp>
        <p:nvSpPr>
          <p:cNvPr id="56" name="Shape 54"/>
          <p:cNvSpPr/>
          <p:nvPr/>
        </p:nvSpPr>
        <p:spPr>
          <a:xfrm>
            <a:off x="8503920" y="3566160"/>
            <a:ext cx="1280160" cy="502920"/>
          </a:xfrm>
          <a:prstGeom prst="rect">
            <a:avLst/>
          </a:prstGeom>
          <a:solidFill>
            <a:srgbClr val="F7F9FB"/>
          </a:solidFill>
          <a:ln w="6350">
            <a:solidFill>
              <a:srgbClr val="D0D5DD"/>
            </a:solidFill>
            <a:prstDash val="solid"/>
          </a:ln>
        </p:spPr>
        <p:txBody>
          <a:bodyPr/>
          <a:lstStyle/>
          <a:p>
            <a:endParaRPr lang="en-US"/>
          </a:p>
        </p:txBody>
      </p:sp>
      <p:sp>
        <p:nvSpPr>
          <p:cNvPr id="57" name="Text 55"/>
          <p:cNvSpPr/>
          <p:nvPr/>
        </p:nvSpPr>
        <p:spPr>
          <a:xfrm>
            <a:off x="8503920" y="356616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0.547</a:t>
            </a:r>
            <a:endParaRPr lang="en-US" sz="1300" dirty="0"/>
          </a:p>
        </p:txBody>
      </p:sp>
      <p:sp>
        <p:nvSpPr>
          <p:cNvPr id="58" name="Shape 56"/>
          <p:cNvSpPr/>
          <p:nvPr/>
        </p:nvSpPr>
        <p:spPr>
          <a:xfrm>
            <a:off x="9784080" y="3566160"/>
            <a:ext cx="1371600" cy="502920"/>
          </a:xfrm>
          <a:prstGeom prst="rect">
            <a:avLst/>
          </a:prstGeom>
          <a:solidFill>
            <a:srgbClr val="F7F9FB"/>
          </a:solidFill>
          <a:ln w="6350">
            <a:solidFill>
              <a:srgbClr val="D0D5DD"/>
            </a:solidFill>
            <a:prstDash val="solid"/>
          </a:ln>
        </p:spPr>
        <p:txBody>
          <a:bodyPr/>
          <a:lstStyle/>
          <a:p>
            <a:endParaRPr lang="en-US"/>
          </a:p>
        </p:txBody>
      </p:sp>
      <p:sp>
        <p:nvSpPr>
          <p:cNvPr id="59" name="Text 57"/>
          <p:cNvSpPr/>
          <p:nvPr/>
        </p:nvSpPr>
        <p:spPr>
          <a:xfrm>
            <a:off x="9784080" y="3566160"/>
            <a:ext cx="137160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0.865</a:t>
            </a:r>
            <a:endParaRPr lang="en-US" sz="1300" dirty="0"/>
          </a:p>
        </p:txBody>
      </p:sp>
      <p:sp>
        <p:nvSpPr>
          <p:cNvPr id="60" name="Shape 58"/>
          <p:cNvSpPr/>
          <p:nvPr/>
        </p:nvSpPr>
        <p:spPr>
          <a:xfrm>
            <a:off x="457200" y="4224528"/>
            <a:ext cx="11247120" cy="2176272"/>
          </a:xfrm>
          <a:prstGeom prst="rect">
            <a:avLst/>
          </a:prstGeom>
          <a:solidFill>
            <a:srgbClr val="21295C"/>
          </a:solidFill>
          <a:ln w="12700">
            <a:solidFill>
              <a:srgbClr val="21295C"/>
            </a:solidFill>
            <a:prstDash val="solid"/>
          </a:ln>
        </p:spPr>
        <p:txBody>
          <a:bodyPr/>
          <a:lstStyle/>
          <a:p>
            <a:endParaRPr lang="en-US"/>
          </a:p>
        </p:txBody>
      </p:sp>
      <p:sp>
        <p:nvSpPr>
          <p:cNvPr id="61" name="Text 59"/>
          <p:cNvSpPr/>
          <p:nvPr/>
        </p:nvSpPr>
        <p:spPr>
          <a:xfrm>
            <a:off x="640080" y="4361688"/>
            <a:ext cx="10972800" cy="411480"/>
          </a:xfrm>
          <a:prstGeom prst="rect">
            <a:avLst/>
          </a:prstGeom>
          <a:noFill/>
          <a:ln/>
        </p:spPr>
        <p:txBody>
          <a:bodyPr wrap="square" lIns="0" tIns="0" rIns="0" bIns="0" rtlCol="0" anchor="ctr"/>
          <a:lstStyle/>
          <a:p>
            <a:pPr marL="0" indent="0">
              <a:buNone/>
            </a:pPr>
            <a:r>
              <a:rPr lang="en-US" sz="1800" b="1" dirty="0">
                <a:solidFill>
                  <a:srgbClr val="00C9B7"/>
                </a:solidFill>
                <a:latin typeface="Calibri" pitchFamily="34" charset="0"/>
                <a:ea typeface="Calibri" pitchFamily="34" charset="-122"/>
                <a:cs typeface="Calibri" pitchFamily="34" charset="-120"/>
              </a:rPr>
              <a:t>🔑  The Central Finding</a:t>
            </a:r>
            <a:endParaRPr lang="en-US" sz="1800" dirty="0"/>
          </a:p>
        </p:txBody>
      </p:sp>
      <p:sp>
        <p:nvSpPr>
          <p:cNvPr id="62" name="Text 60"/>
          <p:cNvSpPr/>
          <p:nvPr/>
        </p:nvSpPr>
        <p:spPr>
          <a:xfrm>
            <a:off x="640080" y="4818888"/>
            <a:ext cx="10972800" cy="153619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 model given no commit content at all — no size, no message — beats the full hybrid on every metric.</a:t>
            </a:r>
            <a:endParaRPr lang="en-US" sz="14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00C9B7"/>
                </a:solidFill>
                <a:latin typeface="Calibri" pitchFamily="34" charset="0"/>
                <a:ea typeface="Calibri" pitchFamily="34" charset="-122"/>
                <a:cs typeface="Calibri" pitchFamily="34" charset="-120"/>
              </a:rPr>
              <a:t>Honest reading:  </a:t>
            </a:r>
            <a:r>
              <a:rPr lang="en-US" sz="1300" dirty="0">
                <a:solidFill>
                  <a:srgbClr val="FFFFFF"/>
                </a:solidFill>
                <a:latin typeface="Calibri" pitchFamily="34" charset="0"/>
                <a:ea typeface="Calibri" pitchFamily="34" charset="-122"/>
                <a:cs typeface="Calibri" pitchFamily="34" charset="-120"/>
              </a:rPr>
              <a:t>this system is largely a project-level risk estimator, not a commit-level one. Failure rates run from 0.0% to 38.3% across the eighteen projects — elevenfold across the seventeen that fail at all — and Elasticsearch contributes 600 runs with zero failures.</a:t>
            </a:r>
            <a:endParaRPr lang="en-US" sz="14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200" i="1" dirty="0">
                <a:solidFill>
                  <a:srgbClr val="B8C4D0"/>
                </a:solidFill>
                <a:latin typeface="Calibri" pitchFamily="34" charset="0"/>
                <a:ea typeface="Calibri" pitchFamily="34" charset="-122"/>
                <a:cs typeface="Calibri" pitchFamily="34" charset="-120"/>
              </a:rPr>
              <a:t>I ran this experiment because it is the sharpest question an examiner can ask. →</a:t>
            </a:r>
            <a:endParaRPr lang="en-US" sz="1400" dirty="0"/>
          </a:p>
        </p:txBody>
      </p:sp>
      <p:sp>
        <p:nvSpPr>
          <p:cNvPr id="63" name="Text 61"/>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64" name="Text 62"/>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16 / 29</a:t>
            </a:r>
            <a:endParaRPr lang="en-US" sz="1000" dirty="0"/>
          </a:p>
        </p:txBody>
      </p:sp>
      <p:sp>
        <p:nvSpPr>
          <p:cNvPr id="18" name="Shape 16"/>
          <p:cNvSpPr/>
          <p:nvPr/>
        </p:nvSpPr>
        <p:spPr>
          <a:xfrm>
            <a:off x="457200" y="2560320"/>
            <a:ext cx="2926080" cy="502920"/>
          </a:xfrm>
          <a:prstGeom prst="rect">
            <a:avLst/>
          </a:prstGeom>
          <a:solidFill>
            <a:srgbClr val="F7F9FB"/>
          </a:solidFill>
          <a:ln w="6350">
            <a:solidFill>
              <a:srgbClr val="D0D5DD"/>
            </a:solidFill>
            <a:prstDash val="solid"/>
          </a:ln>
        </p:spPr>
        <p:txBody>
          <a:bodyPr/>
          <a:lstStyle/>
          <a:p>
            <a:endParaRPr lang="en-US"/>
          </a:p>
        </p:txBody>
      </p:sp>
      <p:sp>
        <p:nvSpPr>
          <p:cNvPr id="19" name="Text 17"/>
          <p:cNvSpPr/>
          <p:nvPr/>
        </p:nvSpPr>
        <p:spPr>
          <a:xfrm>
            <a:off x="457200" y="2560320"/>
            <a:ext cx="2926080" cy="502920"/>
          </a:xfrm>
          <a:prstGeom prst="rect">
            <a:avLst/>
          </a:prstGeom>
          <a:noFill/>
          <a:ln/>
        </p:spPr>
        <p:txBody>
          <a:bodyPr wrap="square" lIns="0" tIns="0" rIns="0" bIns="0"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Structured only</a:t>
            </a:r>
            <a:endParaRPr lang="en-US" sz="1300" dirty="0"/>
          </a:p>
        </p:txBody>
      </p:sp>
      <p:sp>
        <p:nvSpPr>
          <p:cNvPr id="20" name="Shape 18"/>
          <p:cNvSpPr/>
          <p:nvPr/>
        </p:nvSpPr>
        <p:spPr>
          <a:xfrm>
            <a:off x="338328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21" name="Text 19"/>
          <p:cNvSpPr/>
          <p:nvPr/>
        </p:nvSpPr>
        <p:spPr>
          <a:xfrm>
            <a:off x="338328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0.423</a:t>
            </a:r>
            <a:endParaRPr lang="en-US" sz="1300" dirty="0"/>
          </a:p>
        </p:txBody>
      </p:sp>
      <p:sp>
        <p:nvSpPr>
          <p:cNvPr id="22" name="Shape 20"/>
          <p:cNvSpPr/>
          <p:nvPr/>
        </p:nvSpPr>
        <p:spPr>
          <a:xfrm>
            <a:off x="466344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23" name="Text 21"/>
          <p:cNvSpPr/>
          <p:nvPr/>
        </p:nvSpPr>
        <p:spPr>
          <a:xfrm>
            <a:off x="466344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0.066</a:t>
            </a:r>
            <a:endParaRPr lang="en-US" sz="1300" dirty="0"/>
          </a:p>
        </p:txBody>
      </p:sp>
      <p:sp>
        <p:nvSpPr>
          <p:cNvPr id="24" name="Shape 22"/>
          <p:cNvSpPr/>
          <p:nvPr/>
        </p:nvSpPr>
        <p:spPr>
          <a:xfrm>
            <a:off x="594360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25" name="Text 23"/>
          <p:cNvSpPr/>
          <p:nvPr/>
        </p:nvSpPr>
        <p:spPr>
          <a:xfrm>
            <a:off x="594360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0.538</a:t>
            </a:r>
            <a:endParaRPr lang="en-US" sz="1300" dirty="0"/>
          </a:p>
        </p:txBody>
      </p:sp>
      <p:sp>
        <p:nvSpPr>
          <p:cNvPr id="26" name="Shape 24"/>
          <p:cNvSpPr/>
          <p:nvPr/>
        </p:nvSpPr>
        <p:spPr>
          <a:xfrm>
            <a:off x="722376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27" name="Text 25"/>
          <p:cNvSpPr/>
          <p:nvPr/>
        </p:nvSpPr>
        <p:spPr>
          <a:xfrm>
            <a:off x="722376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0.361</a:t>
            </a:r>
            <a:endParaRPr lang="en-US" sz="1300" dirty="0"/>
          </a:p>
        </p:txBody>
      </p:sp>
      <p:sp>
        <p:nvSpPr>
          <p:cNvPr id="28" name="Shape 26"/>
          <p:cNvSpPr/>
          <p:nvPr/>
        </p:nvSpPr>
        <p:spPr>
          <a:xfrm>
            <a:off x="850392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29" name="Text 27"/>
          <p:cNvSpPr/>
          <p:nvPr/>
        </p:nvSpPr>
        <p:spPr>
          <a:xfrm>
            <a:off x="850392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0.483</a:t>
            </a:r>
            <a:endParaRPr lang="en-US" sz="1300" dirty="0"/>
          </a:p>
        </p:txBody>
      </p:sp>
      <p:sp>
        <p:nvSpPr>
          <p:cNvPr id="30" name="Shape 28"/>
          <p:cNvSpPr/>
          <p:nvPr/>
        </p:nvSpPr>
        <p:spPr>
          <a:xfrm>
            <a:off x="9784080" y="2560320"/>
            <a:ext cx="1371600" cy="502920"/>
          </a:xfrm>
          <a:prstGeom prst="rect">
            <a:avLst/>
          </a:prstGeom>
          <a:solidFill>
            <a:srgbClr val="F7F9FB"/>
          </a:solidFill>
          <a:ln w="6350">
            <a:solidFill>
              <a:srgbClr val="D0D5DD"/>
            </a:solidFill>
            <a:prstDash val="solid"/>
          </a:ln>
        </p:spPr>
        <p:txBody>
          <a:bodyPr/>
          <a:lstStyle/>
          <a:p>
            <a:endParaRPr lang="en-US"/>
          </a:p>
        </p:txBody>
      </p:sp>
      <p:sp>
        <p:nvSpPr>
          <p:cNvPr id="31" name="Text 29"/>
          <p:cNvSpPr/>
          <p:nvPr/>
        </p:nvSpPr>
        <p:spPr>
          <a:xfrm>
            <a:off x="9784080" y="2560320"/>
            <a:ext cx="137160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0.820</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Feature Importance</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What does the model actually rely on?</a:t>
            </a:r>
            <a:endParaRPr lang="en-US" sz="1400" dirty="0"/>
          </a:p>
        </p:txBody>
      </p:sp>
      <p:pic>
        <p:nvPicPr>
          <p:cNvPr id="4" name="Image 0" descr="/home/claude/thesis/figures/fig_17_feature_importance_global.png"/>
          <p:cNvPicPr>
            <a:picLocks noChangeAspect="1"/>
          </p:cNvPicPr>
          <p:nvPr/>
        </p:nvPicPr>
        <p:blipFill>
          <a:blip r:embed="rId3"/>
          <a:srcRect/>
          <a:stretch/>
        </p:blipFill>
        <p:spPr>
          <a:xfrm>
            <a:off x="365760" y="1371600"/>
            <a:ext cx="7315200" cy="4937760"/>
          </a:xfrm>
          <a:prstGeom prst="rect">
            <a:avLst/>
          </a:prstGeom>
        </p:spPr>
      </p:pic>
      <p:sp>
        <p:nvSpPr>
          <p:cNvPr id="5" name="Text 2"/>
          <p:cNvSpPr/>
          <p:nvPr/>
        </p:nvSpPr>
        <p:spPr>
          <a:xfrm>
            <a:off x="7955280" y="1463040"/>
            <a:ext cx="3931920" cy="36576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Top Features</a:t>
            </a:r>
            <a:endParaRPr lang="en-US" sz="1400" dirty="0"/>
          </a:p>
        </p:txBody>
      </p:sp>
      <p:sp>
        <p:nvSpPr>
          <p:cNvPr id="6" name="Text 3"/>
          <p:cNvSpPr/>
          <p:nvPr/>
        </p:nvSpPr>
        <p:spPr>
          <a:xfrm>
            <a:off x="7955280" y="1828800"/>
            <a:ext cx="3931920" cy="2286000"/>
          </a:xfrm>
          <a:prstGeom prst="rect">
            <a:avLst/>
          </a:prstGeom>
          <a:noFill/>
          <a:ln/>
        </p:spPr>
        <p:txBody>
          <a:bodyPr wrap="square" lIns="0" tIns="0" rIns="0" bIns="0" rtlCol="0" anchor="ctr"/>
          <a:lstStyle/>
          <a:p>
            <a:pPr marL="0" indent="0">
              <a:buNone/>
            </a:pPr>
            <a:r>
              <a:rPr lang="en-US" sz="1200" b="1" dirty="0">
                <a:solidFill>
                  <a:srgbClr val="8B3FBF"/>
                </a:solidFill>
                <a:latin typeface="Calibri" pitchFamily="34" charset="0"/>
                <a:ea typeface="Calibri" pitchFamily="34" charset="-122"/>
                <a:cs typeface="Calibri" pitchFamily="34" charset="-120"/>
              </a:rPr>
              <a:t>Repository identity ranks first</a:t>
            </a:r>
            <a:endParaRPr lang="en-US" sz="1200" dirty="0"/>
          </a:p>
          <a:p>
            <a:pPr marL="0" indent="0">
              <a:buNone/>
            </a:pPr>
            <a:r>
              <a:rPr lang="en-US" sz="1050" i="1" dirty="0">
                <a:solidFill>
                  <a:srgbClr val="5A6470"/>
                </a:solidFill>
                <a:latin typeface="Calibri" pitchFamily="34" charset="0"/>
                <a:ea typeface="Calibri" pitchFamily="34" charset="-122"/>
                <a:cs typeface="Calibri" pitchFamily="34" charset="-120"/>
              </a:rPr>
              <a:t>The single most important feature under the corrected split, up from rank 3 before.</a:t>
            </a:r>
            <a:endParaRPr lang="en-US" sz="1200" dirty="0"/>
          </a:p>
          <a:p>
            <a:pPr marL="0" indent="0">
              <a:buNone/>
            </a:pPr>
            <a:r>
              <a:rPr lang="en-US" sz="500" dirty="0">
                <a:solidFill>
                  <a:srgbClr val="000000"/>
                </a:solidFill>
                <a:latin typeface="Calibri" pitchFamily="34" charset="0"/>
                <a:ea typeface="Calibri" pitchFamily="34" charset="-122"/>
                <a:cs typeface="Calibri" pitchFamily="34" charset="-120"/>
              </a:rPr>
              <a:t>TF-IDF tokens fill ranks 2–10</a:t>
            </a:r>
            <a:endParaRPr lang="en-US" sz="1200" dirty="0"/>
          </a:p>
          <a:p>
            <a:pPr marL="0" indent="0">
              <a:buNone/>
            </a:pPr>
            <a:r>
              <a:rPr lang="en-US" sz="1200" b="1" dirty="0">
                <a:solidFill>
                  <a:srgbClr val="2C8C5C"/>
                </a:solidFill>
                <a:latin typeface="Calibri" pitchFamily="34" charset="0"/>
                <a:ea typeface="Calibri" pitchFamily="34" charset="-122"/>
                <a:cs typeface="Calibri" pitchFamily="34" charset="-120"/>
              </a:rPr>
              <a:t>package, ui, dotenv — which part of the code was touched.</a:t>
            </a:r>
            <a:endParaRPr lang="en-US" sz="1200" dirty="0"/>
          </a:p>
          <a:p>
            <a:pPr marL="0" indent="0">
              <a:buNone/>
            </a:pPr>
            <a:r>
              <a:rPr lang="en-US" sz="1050" i="1" dirty="0">
                <a:solidFill>
                  <a:srgbClr val="5A6470"/>
                </a:solidFill>
                <a:latin typeface="Calibri" pitchFamily="34" charset="0"/>
                <a:ea typeface="Calibri" pitchFamily="34" charset="-122"/>
                <a:cs typeface="Calibri" pitchFamily="34" charset="-120"/>
              </a:rPr>
              <a:t>💡  Consistent With The Ablation</a:t>
            </a:r>
            <a:endParaRPr lang="en-US" sz="1200" dirty="0"/>
          </a:p>
        </p:txBody>
      </p:sp>
      <p:sp>
        <p:nvSpPr>
          <p:cNvPr id="7" name="Shape 4"/>
          <p:cNvSpPr/>
          <p:nvPr/>
        </p:nvSpPr>
        <p:spPr>
          <a:xfrm>
            <a:off x="7955280" y="4114800"/>
            <a:ext cx="3931920" cy="2194560"/>
          </a:xfrm>
          <a:prstGeom prst="rect">
            <a:avLst/>
          </a:prstGeom>
          <a:solidFill>
            <a:srgbClr val="EAF7F0"/>
          </a:solidFill>
          <a:ln w="12700">
            <a:solidFill>
              <a:srgbClr val="2C8C5C"/>
            </a:solidFill>
            <a:prstDash val="solid"/>
          </a:ln>
        </p:spPr>
        <p:txBody>
          <a:bodyPr/>
          <a:lstStyle/>
          <a:p>
            <a:endParaRPr lang="en-US"/>
          </a:p>
        </p:txBody>
      </p:sp>
      <p:sp>
        <p:nvSpPr>
          <p:cNvPr id="8" name="Text 5"/>
          <p:cNvSpPr/>
          <p:nvPr/>
        </p:nvSpPr>
        <p:spPr>
          <a:xfrm>
            <a:off x="8138160" y="4251960"/>
            <a:ext cx="3657600" cy="320040"/>
          </a:xfrm>
          <a:prstGeom prst="rect">
            <a:avLst/>
          </a:prstGeom>
          <a:noFill/>
          <a:ln/>
        </p:spPr>
        <p:txBody>
          <a:bodyPr wrap="square" lIns="0" tIns="0" rIns="0" bIns="0" rtlCol="0" anchor="ctr"/>
          <a:lstStyle/>
          <a:p>
            <a:pPr marL="0" indent="0">
              <a:buNone/>
            </a:pPr>
            <a:r>
              <a:rPr lang="en-US" sz="1200" b="1" dirty="0">
                <a:solidFill>
                  <a:srgbClr val="2C8C5C"/>
                </a:solidFill>
                <a:latin typeface="Calibri" pitchFamily="34" charset="0"/>
                <a:ea typeface="Calibri" pitchFamily="34" charset="-122"/>
                <a:cs typeface="Calibri" pitchFamily="34" charset="-120"/>
              </a:rPr>
              <a:t> </a:t>
            </a:r>
            <a:endParaRPr lang="en-US" sz="1200" dirty="0"/>
          </a:p>
        </p:txBody>
      </p:sp>
      <p:sp>
        <p:nvSpPr>
          <p:cNvPr id="9" name="Text 6"/>
          <p:cNvSpPr/>
          <p:nvPr/>
        </p:nvSpPr>
        <p:spPr>
          <a:xfrm>
            <a:off x="8138160" y="4572000"/>
            <a:ext cx="3657600" cy="731520"/>
          </a:xfrm>
          <a:prstGeom prst="rect">
            <a:avLst/>
          </a:prstGeom>
          <a:noFill/>
          <a:ln/>
        </p:spPr>
        <p:txBody>
          <a:bodyPr wrap="square" lIns="0" tIns="0" rIns="0" bIns="0" rtlCol="0" anchor="ctr"/>
          <a:lstStyle/>
          <a:p>
            <a:pPr marL="0" indent="0">
              <a:buNone/>
            </a:pPr>
            <a:r>
              <a:rPr lang="en-US" sz="1050" b="1" dirty="0">
                <a:solidFill>
                  <a:srgbClr val="1A1F2E"/>
                </a:solidFill>
                <a:latin typeface="Calibri" pitchFamily="34" charset="0"/>
                <a:ea typeface="Calibri" pitchFamily="34" charset="-122"/>
                <a:cs typeface="Calibri" pitchFamily="34" charset="-120"/>
              </a:rPr>
              <a:t>Failure-discriminative vocabulary is not "fix", "bug" or "revert" — but timezone, utc, thresholds, borrow.</a:t>
            </a:r>
            <a:endParaRPr lang="en-US" sz="1050" dirty="0"/>
          </a:p>
        </p:txBody>
      </p:sp>
      <p:sp>
        <p:nvSpPr>
          <p:cNvPr id="10" name="Text 7"/>
          <p:cNvSpPr/>
          <p:nvPr/>
        </p:nvSpPr>
        <p:spPr>
          <a:xfrm>
            <a:off x="8138160" y="5349240"/>
            <a:ext cx="3657600" cy="868680"/>
          </a:xfrm>
          <a:prstGeom prst="rect">
            <a:avLst/>
          </a:prstGeom>
          <a:noFill/>
          <a:ln/>
        </p:spPr>
        <p:txBody>
          <a:bodyPr wrap="square" lIns="0" tIns="0" rIns="0" bIns="0" rtlCol="0" anchor="ctr"/>
          <a:lstStyle/>
          <a:p>
            <a:pPr marL="0" indent="0">
              <a:buNone/>
            </a:pPr>
            <a:r>
              <a:rPr lang="en-US" sz="1000" i="1" dirty="0">
                <a:solidFill>
                  <a:srgbClr val="5A6470"/>
                </a:solidFill>
                <a:latin typeface="Calibri" pitchFamily="34" charset="0"/>
                <a:ea typeface="Calibri" pitchFamily="34" charset="-122"/>
                <a:cs typeface="Calibri" pitchFamily="34" charset="-120"/>
              </a:rPr>
              <a:t>Developers do not know at commit time that their build will fail. Yet the ablation shows text adds nothing once project identity is known.</a:t>
            </a:r>
            <a:endParaRPr lang="en-US" sz="1000" dirty="0"/>
          </a:p>
        </p:txBody>
      </p:sp>
      <p:sp>
        <p:nvSpPr>
          <p:cNvPr id="11" name="Text 8"/>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12" name="Text 9"/>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17 / 29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Threshold Optimization</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A real lever — but far smaller than first reported</a:t>
            </a:r>
            <a:endParaRPr lang="en-US" sz="1400" dirty="0"/>
          </a:p>
        </p:txBody>
      </p:sp>
      <p:pic>
        <p:nvPicPr>
          <p:cNvPr id="4" name="Image 0" descr="/home/claude/thesis/figures/fig_20_threshold_optimization.png"/>
          <p:cNvPicPr>
            <a:picLocks noChangeAspect="1"/>
          </p:cNvPicPr>
          <p:nvPr/>
        </p:nvPicPr>
        <p:blipFill>
          <a:blip r:embed="rId3"/>
          <a:srcRect/>
          <a:stretch/>
        </p:blipFill>
        <p:spPr>
          <a:xfrm>
            <a:off x="457200" y="1371600"/>
            <a:ext cx="7772400" cy="4023360"/>
          </a:xfrm>
          <a:prstGeom prst="rect">
            <a:avLst/>
          </a:prstGeom>
        </p:spPr>
      </p:pic>
      <p:sp>
        <p:nvSpPr>
          <p:cNvPr id="5" name="Text 2"/>
          <p:cNvSpPr/>
          <p:nvPr/>
        </p:nvSpPr>
        <p:spPr>
          <a:xfrm>
            <a:off x="8412480" y="1463040"/>
            <a:ext cx="3474720" cy="36576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Why this matters</a:t>
            </a:r>
            <a:endParaRPr lang="en-US" sz="1400" dirty="0"/>
          </a:p>
        </p:txBody>
      </p:sp>
      <p:sp>
        <p:nvSpPr>
          <p:cNvPr id="6" name="Text 3"/>
          <p:cNvSpPr/>
          <p:nvPr/>
        </p:nvSpPr>
        <p:spPr>
          <a:xfrm>
            <a:off x="8412480" y="1828800"/>
            <a:ext cx="3474720" cy="2926080"/>
          </a:xfrm>
          <a:prstGeom prst="rect">
            <a:avLst/>
          </a:prstGeom>
          <a:noFill/>
          <a:ln/>
        </p:spPr>
        <p:txBody>
          <a:bodyPr wrap="square" lIns="0" tIns="0" rIns="0" bIns="0" rtlCol="0" anchor="ctr"/>
          <a:lstStyle/>
          <a:p>
            <a:pPr marL="0" indent="0">
              <a:buNone/>
            </a:pPr>
            <a:r>
              <a:rPr lang="en-US" sz="1200" b="1" dirty="0">
                <a:solidFill>
                  <a:srgbClr val="C8463D"/>
                </a:solidFill>
                <a:latin typeface="Calibri" pitchFamily="34" charset="0"/>
                <a:ea typeface="Calibri" pitchFamily="34" charset="-122"/>
                <a:cs typeface="Calibri" pitchFamily="34" charset="-120"/>
              </a:rPr>
              <a:t>XGBoost threshold selected at 0.076</a:t>
            </a:r>
            <a:endParaRPr lang="en-US" sz="1200" dirty="0"/>
          </a:p>
          <a:p>
            <a:pPr marL="0" indent="0">
              <a:buNone/>
            </a:pPr>
            <a:r>
              <a:rPr lang="en-US" sz="1050" i="1" dirty="0">
                <a:solidFill>
                  <a:srgbClr val="5A6470"/>
                </a:solidFill>
                <a:latin typeface="Calibri" pitchFamily="34" charset="0"/>
                <a:ea typeface="Calibri" pitchFamily="34" charset="-122"/>
                <a:cs typeface="Calibri" pitchFamily="34" charset="-120"/>
              </a:rPr>
              <a:t>An order of magnitude below the default 0.5.</a:t>
            </a:r>
            <a:endParaRPr lang="en-US" sz="12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065A82"/>
                </a:solidFill>
                <a:latin typeface="Calibri" pitchFamily="34" charset="0"/>
                <a:ea typeface="Calibri" pitchFamily="34" charset="-122"/>
                <a:cs typeface="Calibri" pitchFamily="34" charset="-120"/>
              </a:rPr>
              <a:t>Logistic Regression selected at 0.646</a:t>
            </a:r>
            <a:endParaRPr lang="en-US" sz="1200" dirty="0"/>
          </a:p>
          <a:p>
            <a:pPr marL="0" indent="0">
              <a:buNone/>
            </a:pPr>
            <a:r>
              <a:rPr lang="en-US" sz="1050" i="1" dirty="0">
                <a:solidFill>
                  <a:srgbClr val="5A6470"/>
                </a:solidFill>
                <a:latin typeface="Calibri" pitchFamily="34" charset="0"/>
                <a:ea typeface="Calibri" pitchFamily="34" charset="-122"/>
                <a:cs typeface="Calibri" pitchFamily="34" charset="-120"/>
              </a:rPr>
              <a:t>Above the default — opposite-direction miscalibration.</a:t>
            </a:r>
            <a:endParaRPr lang="en-US" sz="12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D4922A"/>
                </a:solidFill>
                <a:latin typeface="Calibri" pitchFamily="34" charset="0"/>
                <a:ea typeface="Calibri" pitchFamily="34" charset="-122"/>
                <a:cs typeface="Calibri" pitchFamily="34" charset="-120"/>
              </a:rPr>
              <a:t>Random Forest selected at 0.538</a:t>
            </a:r>
            <a:endParaRPr lang="en-US" sz="1200" dirty="0"/>
          </a:p>
          <a:p>
            <a:pPr marL="0" indent="0">
              <a:buNone/>
            </a:pPr>
            <a:r>
              <a:rPr lang="en-US" sz="1050" i="1" dirty="0">
                <a:solidFill>
                  <a:srgbClr val="5A6470"/>
                </a:solidFill>
                <a:latin typeface="Calibri" pitchFamily="34" charset="0"/>
                <a:ea typeface="Calibri" pitchFamily="34" charset="-122"/>
                <a:cs typeface="Calibri" pitchFamily="34" charset="-120"/>
              </a:rPr>
              <a:t>Marginally above default.</a:t>
            </a:r>
            <a:endParaRPr lang="en-US" sz="1200" dirty="0"/>
          </a:p>
        </p:txBody>
      </p:sp>
      <p:sp>
        <p:nvSpPr>
          <p:cNvPr id="7" name="Shape 4"/>
          <p:cNvSpPr/>
          <p:nvPr/>
        </p:nvSpPr>
        <p:spPr>
          <a:xfrm>
            <a:off x="457200" y="5532120"/>
            <a:ext cx="11338560" cy="868680"/>
          </a:xfrm>
          <a:prstGeom prst="rect">
            <a:avLst/>
          </a:prstGeom>
          <a:solidFill>
            <a:srgbClr val="21295C"/>
          </a:solidFill>
          <a:ln w="12700">
            <a:solidFill>
              <a:srgbClr val="21295C"/>
            </a:solidFill>
            <a:prstDash val="solid"/>
          </a:ln>
        </p:spPr>
        <p:txBody>
          <a:bodyPr/>
          <a:lstStyle/>
          <a:p>
            <a:endParaRPr lang="en-US"/>
          </a:p>
        </p:txBody>
      </p:sp>
      <p:sp>
        <p:nvSpPr>
          <p:cNvPr id="8" name="Text 5"/>
          <p:cNvSpPr/>
          <p:nvPr/>
        </p:nvSpPr>
        <p:spPr>
          <a:xfrm>
            <a:off x="640080" y="5577840"/>
            <a:ext cx="1371600" cy="777240"/>
          </a:xfrm>
          <a:prstGeom prst="rect">
            <a:avLst/>
          </a:prstGeom>
          <a:noFill/>
          <a:ln/>
        </p:spPr>
        <p:txBody>
          <a:bodyPr wrap="square" lIns="0" tIns="0" rIns="0" bIns="0" rtlCol="0" anchor="ctr"/>
          <a:lstStyle/>
          <a:p>
            <a:pPr marL="0" indent="0">
              <a:buNone/>
            </a:pPr>
            <a:r>
              <a:rPr lang="en-US" sz="3600" b="1" dirty="0">
                <a:solidFill>
                  <a:srgbClr val="00C9B7"/>
                </a:solidFill>
                <a:latin typeface="Calibri" pitchFamily="34" charset="0"/>
                <a:ea typeface="Calibri" pitchFamily="34" charset="-122"/>
                <a:cs typeface="Calibri" pitchFamily="34" charset="-120"/>
              </a:rPr>
              <a:t>+9.3</a:t>
            </a:r>
            <a:endParaRPr lang="en-US" sz="4400" dirty="0"/>
          </a:p>
        </p:txBody>
      </p:sp>
      <p:sp>
        <p:nvSpPr>
          <p:cNvPr id="9" name="Text 6"/>
          <p:cNvSpPr/>
          <p:nvPr/>
        </p:nvSpPr>
        <p:spPr>
          <a:xfrm>
            <a:off x="2103120" y="5623560"/>
            <a:ext cx="2011680" cy="777240"/>
          </a:xfrm>
          <a:prstGeom prst="rect">
            <a:avLst/>
          </a:prstGeom>
          <a:noFill/>
          <a:ln/>
        </p:spPr>
        <p:txBody>
          <a:bodyPr wrap="square" lIns="0" tIns="0" rIns="0" bIns="0" rtlCol="0" anchor="ctr"/>
          <a:lstStyle/>
          <a:p>
            <a:pPr marL="0" indent="0">
              <a:buNone/>
            </a:pPr>
            <a:r>
              <a:rPr lang="en-US" sz="1200" b="1" dirty="0">
                <a:solidFill>
                  <a:srgbClr val="00C9B7"/>
                </a:solidFill>
                <a:latin typeface="Calibri" pitchFamily="34" charset="0"/>
                <a:ea typeface="Calibri" pitchFamily="34" charset="-122"/>
                <a:cs typeface="Calibri" pitchFamily="34" charset="-120"/>
              </a:rPr>
              <a:t>percentage points</a:t>
            </a:r>
            <a:endParaRPr lang="en-US" sz="1200" dirty="0"/>
          </a:p>
          <a:p>
            <a:pPr marL="0" indent="0">
              <a:buNone/>
            </a:pPr>
            <a:r>
              <a:rPr lang="en-US" sz="1100" dirty="0">
                <a:solidFill>
                  <a:srgbClr val="FFFFFF"/>
                </a:solidFill>
                <a:latin typeface="Calibri" pitchFamily="34" charset="0"/>
                <a:ea typeface="Calibri" pitchFamily="34" charset="-122"/>
                <a:cs typeface="Calibri" pitchFamily="34" charset="-120"/>
              </a:rPr>
              <a:t>honest improvement in failure F1</a:t>
            </a:r>
            <a:endParaRPr lang="en-US" sz="1200" dirty="0"/>
          </a:p>
        </p:txBody>
      </p:sp>
      <p:sp>
        <p:nvSpPr>
          <p:cNvPr id="10" name="Text 7"/>
          <p:cNvSpPr/>
          <p:nvPr/>
        </p:nvSpPr>
        <p:spPr>
          <a:xfrm>
            <a:off x="4297680" y="5623560"/>
            <a:ext cx="7406640" cy="7772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XGBoost F1 lifts from </a:t>
            </a:r>
            <a:r>
              <a:rPr lang="en-US" sz="1600" b="1" dirty="0">
                <a:solidFill>
                  <a:srgbClr val="00C9B7"/>
                </a:solidFill>
                <a:latin typeface="Calibri" pitchFamily="34" charset="0"/>
                <a:ea typeface="Calibri" pitchFamily="34" charset="-122"/>
                <a:cs typeface="Calibri" pitchFamily="34" charset="-120"/>
              </a:rPr>
              <a:t>0.304 → 0.397</a:t>
            </a:r>
            <a:r>
              <a:rPr lang="en-US" sz="1300" dirty="0">
                <a:solidFill>
                  <a:srgbClr val="FFFFFF"/>
                </a:solidFill>
                <a:latin typeface="Calibri" pitchFamily="34" charset="0"/>
                <a:ea typeface="Calibri" pitchFamily="34" charset="-122"/>
                <a:cs typeface="Calibri" pitchFamily="34" charset="-120"/>
              </a:rPr>
              <a:t>  ·  chosen on validation, </a:t>
            </a:r>
            <a:r>
              <a:rPr lang="en-US" sz="1600" b="1" dirty="0">
                <a:solidFill>
                  <a:srgbClr val="00C9B7"/>
                </a:solidFill>
                <a:latin typeface="Calibri" pitchFamily="34" charset="0"/>
                <a:ea typeface="Calibri" pitchFamily="34" charset="-122"/>
                <a:cs typeface="Calibri" pitchFamily="34" charset="-120"/>
              </a:rPr>
              <a:t>never on the test set</a:t>
            </a:r>
            <a:r>
              <a:rPr lang="en-US" sz="1300" i="1" dirty="0">
                <a:solidFill>
                  <a:srgbClr val="FFFFFF"/>
                </a:solidFill>
                <a:latin typeface="Calibri" pitchFamily="34" charset="0"/>
                <a:ea typeface="Calibri" pitchFamily="34" charset="-122"/>
                <a:cs typeface="Calibri" pitchFamily="34" charset="-120"/>
              </a:rPr>
              <a:t>.  The +27pp figure came from picking it on the test set.</a:t>
            </a:r>
            <a:endParaRPr lang="en-US" sz="1300" dirty="0"/>
          </a:p>
        </p:txBody>
      </p:sp>
      <p:sp>
        <p:nvSpPr>
          <p:cNvPr id="11" name="Text 8"/>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12" name="Text 9"/>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18 / 29</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Before vs. After Threshold Optimization</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Per-model transformation</a:t>
            </a:r>
            <a:endParaRPr lang="en-US" sz="1400" dirty="0"/>
          </a:p>
        </p:txBody>
      </p:sp>
      <p:pic>
        <p:nvPicPr>
          <p:cNvPr id="4" name="Image 0" descr="/home/claude/thesis/figures/fig_21_metrics_before_after_threshold.png"/>
          <p:cNvPicPr>
            <a:picLocks noChangeAspect="1"/>
          </p:cNvPicPr>
          <p:nvPr/>
        </p:nvPicPr>
        <p:blipFill>
          <a:blip r:embed="rId3"/>
          <a:srcRect/>
          <a:stretch/>
        </p:blipFill>
        <p:spPr>
          <a:xfrm>
            <a:off x="365760" y="1371600"/>
            <a:ext cx="11430000" cy="4114800"/>
          </a:xfrm>
          <a:prstGeom prst="rect">
            <a:avLst/>
          </a:prstGeom>
        </p:spPr>
      </p:pic>
      <p:sp>
        <p:nvSpPr>
          <p:cNvPr id="5" name="Shape 2"/>
          <p:cNvSpPr/>
          <p:nvPr/>
        </p:nvSpPr>
        <p:spPr>
          <a:xfrm>
            <a:off x="457200" y="5623560"/>
            <a:ext cx="11247120" cy="868680"/>
          </a:xfrm>
          <a:prstGeom prst="rect">
            <a:avLst/>
          </a:prstGeom>
          <a:solidFill>
            <a:srgbClr val="F7F9FB"/>
          </a:solidFill>
          <a:ln w="12700">
            <a:solidFill>
              <a:srgbClr val="2C8C5C"/>
            </a:solidFill>
            <a:prstDash val="solid"/>
          </a:ln>
        </p:spPr>
        <p:txBody>
          <a:bodyPr/>
          <a:lstStyle/>
          <a:p>
            <a:endParaRPr lang="en-US"/>
          </a:p>
        </p:txBody>
      </p:sp>
      <p:sp>
        <p:nvSpPr>
          <p:cNvPr id="6" name="Text 3"/>
          <p:cNvSpPr/>
          <p:nvPr/>
        </p:nvSpPr>
        <p:spPr>
          <a:xfrm>
            <a:off x="640080" y="5687568"/>
            <a:ext cx="10972800" cy="320040"/>
          </a:xfrm>
          <a:prstGeom prst="rect">
            <a:avLst/>
          </a:prstGeom>
          <a:noFill/>
          <a:ln/>
        </p:spPr>
        <p:txBody>
          <a:bodyPr wrap="square" lIns="0" tIns="0" rIns="0" bIns="0" rtlCol="0" anchor="ctr"/>
          <a:lstStyle/>
          <a:p>
            <a:pPr marL="0" indent="0">
              <a:buNone/>
            </a:pPr>
            <a:r>
              <a:rPr lang="en-US" sz="1300" b="1" dirty="0">
                <a:solidFill>
                  <a:srgbClr val="2C8C5C"/>
                </a:solidFill>
                <a:latin typeface="Calibri" pitchFamily="34" charset="0"/>
                <a:ea typeface="Calibri" pitchFamily="34" charset="-122"/>
                <a:cs typeface="Calibri" pitchFamily="34" charset="-120"/>
              </a:rPr>
              <a:t>✓ Methodological lesson</a:t>
            </a:r>
            <a:endParaRPr lang="en-US" sz="1300" dirty="0"/>
          </a:p>
        </p:txBody>
      </p:sp>
      <p:sp>
        <p:nvSpPr>
          <p:cNvPr id="7" name="Text 4"/>
          <p:cNvSpPr/>
          <p:nvPr/>
        </p:nvSpPr>
        <p:spPr>
          <a:xfrm>
            <a:off x="640080" y="5989320"/>
            <a:ext cx="10972800" cy="457200"/>
          </a:xfrm>
          <a:prstGeom prst="rect">
            <a:avLst/>
          </a:prstGeom>
          <a:noFill/>
          <a:ln/>
        </p:spPr>
        <p:txBody>
          <a:bodyPr wrap="square" lIns="0" tIns="0" rIns="0" bIns="0" rtlCol="0" anchor="ctr"/>
          <a:lstStyle/>
          <a:p>
            <a:pPr marL="0" indent="0">
              <a:buNone/>
            </a:pPr>
            <a:r>
              <a:rPr lang="en-US" sz="1200" i="1" dirty="0">
                <a:solidFill>
                  <a:srgbClr val="1A1F2E"/>
                </a:solidFill>
                <a:latin typeface="Calibri" pitchFamily="34" charset="0"/>
                <a:ea typeface="Calibri" pitchFamily="34" charset="-122"/>
                <a:cs typeface="Calibri" pitchFamily="34" charset="-120"/>
              </a:rPr>
              <a:t>For imbalanced binary classification, probability calibration is a first-class hyperparameter, not a deployment-time afterthought. But it must be calibrated on data that is not then used to report the result — and the next slide shows exactly what ignoring that was worth.</a:t>
            </a:r>
            <a:endParaRPr lang="en-US" sz="1200" dirty="0"/>
          </a:p>
        </p:txBody>
      </p:sp>
      <p:sp>
        <p:nvSpPr>
          <p:cNvPr id="8" name="Text 5"/>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9" name="Text 6"/>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19 / 29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21295C"/>
          </a:solidFill>
          <a:ln w="12700">
            <a:solidFill>
              <a:srgbClr val="21295C"/>
            </a:solidFill>
            <a:prstDash val="solid"/>
          </a:ln>
        </p:spPr>
        <p:txBody>
          <a:bodyPr/>
          <a:lstStyle/>
          <a:p>
            <a:endParaRPr lang="en-US"/>
          </a:p>
        </p:txBody>
      </p:sp>
      <p:sp>
        <p:nvSpPr>
          <p:cNvPr id="3" name="Text 1"/>
          <p:cNvSpPr/>
          <p:nvPr/>
        </p:nvSpPr>
        <p:spPr>
          <a:xfrm>
            <a:off x="457200" y="365760"/>
            <a:ext cx="11247120" cy="457200"/>
          </a:xfrm>
          <a:prstGeom prst="rect">
            <a:avLst/>
          </a:prstGeom>
          <a:noFill/>
          <a:ln/>
        </p:spPr>
        <p:txBody>
          <a:bodyPr wrap="square" lIns="0" tIns="0" rIns="0" bIns="0" rtlCol="0" anchor="ctr"/>
          <a:lstStyle/>
          <a:p>
            <a:pPr marL="0" indent="0">
              <a:buNone/>
            </a:pPr>
            <a:r>
              <a:rPr lang="en-US" sz="1400" b="1" kern="0" spc="600" dirty="0">
                <a:solidFill>
                  <a:srgbClr val="00C9B7"/>
                </a:solidFill>
                <a:latin typeface="Calibri" pitchFamily="34" charset="0"/>
                <a:ea typeface="Calibri" pitchFamily="34" charset="-122"/>
                <a:cs typeface="Calibri" pitchFamily="34" charset="-120"/>
              </a:rPr>
              <a:t>Where The Original Number Went</a:t>
            </a:r>
            <a:endParaRPr lang="en-US" sz="1400" dirty="0"/>
          </a:p>
        </p:txBody>
      </p:sp>
      <p:sp>
        <p:nvSpPr>
          <p:cNvPr id="4" name="Text 2"/>
          <p:cNvSpPr/>
          <p:nvPr/>
        </p:nvSpPr>
        <p:spPr>
          <a:xfrm>
            <a:off x="457200" y="868680"/>
            <a:ext cx="11247120" cy="411480"/>
          </a:xfrm>
          <a:prstGeom prst="rect">
            <a:avLst/>
          </a:prstGeom>
          <a:noFill/>
          <a:ln/>
        </p:spPr>
        <p:txBody>
          <a:bodyPr wrap="square" lIns="0" tIns="0" rIns="0" bIns="0" rtlCol="0" anchor="ctr"/>
          <a:lstStyle/>
          <a:p>
            <a:pPr marL="0" indent="0">
              <a:buNone/>
            </a:pPr>
            <a:r>
              <a:rPr lang="en-US" sz="1800" i="1" dirty="0">
                <a:solidFill>
                  <a:srgbClr val="FFFFFF"/>
                </a:solidFill>
                <a:latin typeface="Calibri" pitchFamily="34" charset="0"/>
                <a:ea typeface="Calibri" pitchFamily="34" charset="-122"/>
                <a:cs typeface="Calibri" pitchFamily="34" charset="-120"/>
              </a:rPr>
              <a:t>Same model, same data — only the measuring protocol changes</a:t>
            </a:r>
            <a:endParaRPr lang="en-US" sz="1800" dirty="0"/>
          </a:p>
        </p:txBody>
      </p:sp>
      <p:sp>
        <p:nvSpPr>
          <p:cNvPr id="5" name="Shape 3"/>
          <p:cNvSpPr/>
          <p:nvPr/>
        </p:nvSpPr>
        <p:spPr>
          <a:xfrm>
            <a:off x="45720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6" name="Text 4"/>
          <p:cNvSpPr/>
          <p:nvPr/>
        </p:nvSpPr>
        <p:spPr>
          <a:xfrm>
            <a:off x="457200" y="1783080"/>
            <a:ext cx="2788920" cy="1188720"/>
          </a:xfrm>
          <a:prstGeom prst="rect">
            <a:avLst/>
          </a:prstGeom>
          <a:noFill/>
          <a:ln/>
        </p:spPr>
        <p:txBody>
          <a:bodyPr wrap="square" lIns="0" tIns="0" rIns="0" bIns="0" rtlCol="0" anchor="ctr"/>
          <a:lstStyle/>
          <a:p>
            <a:pPr marL="0" indent="0" algn="ctr">
              <a:buNone/>
            </a:pPr>
            <a:r>
              <a:rPr lang="en-US" sz="4200" b="1" dirty="0">
                <a:solidFill>
                  <a:srgbClr val="00C9B7"/>
                </a:solidFill>
                <a:latin typeface="Calibri" pitchFamily="34" charset="0"/>
                <a:ea typeface="Calibri" pitchFamily="34" charset="-122"/>
                <a:cs typeface="Calibri" pitchFamily="34" charset="-120"/>
              </a:rPr>
              <a:t>0.5924</a:t>
            </a:r>
            <a:endParaRPr lang="en-US" sz="5600" dirty="0"/>
          </a:p>
        </p:txBody>
      </p:sp>
      <p:sp>
        <p:nvSpPr>
          <p:cNvPr id="7" name="Text 5"/>
          <p:cNvSpPr/>
          <p:nvPr/>
        </p:nvSpPr>
        <p:spPr>
          <a:xfrm>
            <a:off x="45720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As reported in June</a:t>
            </a:r>
            <a:endParaRPr lang="en-US" sz="1600" dirty="0"/>
          </a:p>
        </p:txBody>
      </p:sp>
      <p:sp>
        <p:nvSpPr>
          <p:cNvPr id="8" name="Text 6"/>
          <p:cNvSpPr/>
          <p:nvPr/>
        </p:nvSpPr>
        <p:spPr>
          <a:xfrm>
            <a:off x="45720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row-level split, threshold picked on test</a:t>
            </a:r>
            <a:endParaRPr lang="en-US" sz="1100" dirty="0"/>
          </a:p>
        </p:txBody>
      </p:sp>
      <p:sp>
        <p:nvSpPr>
          <p:cNvPr id="9" name="Shape 7"/>
          <p:cNvSpPr/>
          <p:nvPr/>
        </p:nvSpPr>
        <p:spPr>
          <a:xfrm>
            <a:off x="338328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10" name="Text 8"/>
          <p:cNvSpPr/>
          <p:nvPr/>
        </p:nvSpPr>
        <p:spPr>
          <a:xfrm>
            <a:off x="3383280" y="1783080"/>
            <a:ext cx="2788920" cy="1188720"/>
          </a:xfrm>
          <a:prstGeom prst="rect">
            <a:avLst/>
          </a:prstGeom>
          <a:noFill/>
          <a:ln/>
        </p:spPr>
        <p:txBody>
          <a:bodyPr wrap="square" lIns="0" tIns="0" rIns="0" bIns="0" rtlCol="0" anchor="ctr"/>
          <a:lstStyle/>
          <a:p>
            <a:pPr marL="0" indent="0" algn="ctr">
              <a:buNone/>
            </a:pPr>
            <a:r>
              <a:rPr lang="en-US" sz="4200" b="1" dirty="0">
                <a:solidFill>
                  <a:srgbClr val="00C9B7"/>
                </a:solidFill>
                <a:latin typeface="Calibri" pitchFamily="34" charset="0"/>
                <a:ea typeface="Calibri" pitchFamily="34" charset="-122"/>
                <a:cs typeface="Calibri" pitchFamily="34" charset="-120"/>
              </a:rPr>
              <a:t>−0.060</a:t>
            </a:r>
            <a:endParaRPr lang="en-US" sz="5600" dirty="0"/>
          </a:p>
        </p:txBody>
      </p:sp>
      <p:sp>
        <p:nvSpPr>
          <p:cNvPr id="11" name="Text 9"/>
          <p:cNvSpPr/>
          <p:nvPr/>
        </p:nvSpPr>
        <p:spPr>
          <a:xfrm>
            <a:off x="338328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Commit leakage</a:t>
            </a:r>
            <a:endParaRPr lang="en-US" sz="1600" dirty="0"/>
          </a:p>
        </p:txBody>
      </p:sp>
      <p:sp>
        <p:nvSpPr>
          <p:cNvPr id="12" name="Text 10"/>
          <p:cNvSpPr/>
          <p:nvPr/>
        </p:nvSpPr>
        <p:spPr>
          <a:xfrm>
            <a:off x="338328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same commit on both sides of the split</a:t>
            </a:r>
            <a:endParaRPr lang="en-US" sz="1100" dirty="0"/>
          </a:p>
        </p:txBody>
      </p:sp>
      <p:sp>
        <p:nvSpPr>
          <p:cNvPr id="13" name="Shape 11"/>
          <p:cNvSpPr/>
          <p:nvPr/>
        </p:nvSpPr>
        <p:spPr>
          <a:xfrm>
            <a:off x="630936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14" name="Text 12"/>
          <p:cNvSpPr/>
          <p:nvPr/>
        </p:nvSpPr>
        <p:spPr>
          <a:xfrm>
            <a:off x="6309360" y="1783080"/>
            <a:ext cx="2788920" cy="1188720"/>
          </a:xfrm>
          <a:prstGeom prst="rect">
            <a:avLst/>
          </a:prstGeom>
          <a:noFill/>
          <a:ln/>
        </p:spPr>
        <p:txBody>
          <a:bodyPr wrap="square" lIns="0" tIns="0" rIns="0" bIns="0" rtlCol="0" anchor="ctr"/>
          <a:lstStyle/>
          <a:p>
            <a:pPr marL="0" indent="0" algn="ctr">
              <a:buNone/>
            </a:pPr>
            <a:r>
              <a:rPr lang="en-US" sz="4200" b="1" dirty="0">
                <a:solidFill>
                  <a:srgbClr val="00C9B7"/>
                </a:solidFill>
                <a:latin typeface="Calibri" pitchFamily="34" charset="0"/>
                <a:ea typeface="Calibri" pitchFamily="34" charset="-122"/>
                <a:cs typeface="Calibri" pitchFamily="34" charset="-120"/>
              </a:rPr>
              <a:t>−0.126</a:t>
            </a:r>
            <a:endParaRPr lang="en-US" sz="5600" dirty="0"/>
          </a:p>
        </p:txBody>
      </p:sp>
      <p:sp>
        <p:nvSpPr>
          <p:cNvPr id="15" name="Text 13"/>
          <p:cNvSpPr/>
          <p:nvPr/>
        </p:nvSpPr>
        <p:spPr>
          <a:xfrm>
            <a:off x="630936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Threshold on test</a:t>
            </a:r>
            <a:endParaRPr lang="en-US" sz="1600" dirty="0"/>
          </a:p>
        </p:txBody>
      </p:sp>
      <p:sp>
        <p:nvSpPr>
          <p:cNvPr id="16" name="Text 14"/>
          <p:cNvSpPr/>
          <p:nvPr/>
        </p:nvSpPr>
        <p:spPr>
          <a:xfrm>
            <a:off x="630936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chosen and reported on the same data</a:t>
            </a:r>
            <a:endParaRPr lang="en-US" sz="1100" dirty="0"/>
          </a:p>
        </p:txBody>
      </p:sp>
      <p:sp>
        <p:nvSpPr>
          <p:cNvPr id="17" name="Shape 15"/>
          <p:cNvSpPr/>
          <p:nvPr/>
        </p:nvSpPr>
        <p:spPr>
          <a:xfrm>
            <a:off x="923544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18" name="Text 16"/>
          <p:cNvSpPr/>
          <p:nvPr/>
        </p:nvSpPr>
        <p:spPr>
          <a:xfrm>
            <a:off x="9235440" y="1783080"/>
            <a:ext cx="2788920" cy="1188720"/>
          </a:xfrm>
          <a:prstGeom prst="rect">
            <a:avLst/>
          </a:prstGeom>
          <a:noFill/>
          <a:ln/>
        </p:spPr>
        <p:txBody>
          <a:bodyPr wrap="square" lIns="0" tIns="0" rIns="0" bIns="0" rtlCol="0" anchor="ctr"/>
          <a:lstStyle/>
          <a:p>
            <a:pPr marL="0" indent="0" algn="ctr">
              <a:buNone/>
            </a:pPr>
            <a:r>
              <a:rPr lang="en-US" sz="4200" b="1" dirty="0">
                <a:solidFill>
                  <a:srgbClr val="00C9B7"/>
                </a:solidFill>
                <a:latin typeface="Calibri" pitchFamily="34" charset="0"/>
                <a:ea typeface="Calibri" pitchFamily="34" charset="-122"/>
                <a:cs typeface="Calibri" pitchFamily="34" charset="-120"/>
              </a:rPr>
              <a:t>0.4216</a:t>
            </a:r>
            <a:endParaRPr lang="en-US" sz="5600" dirty="0"/>
          </a:p>
        </p:txBody>
      </p:sp>
      <p:sp>
        <p:nvSpPr>
          <p:cNvPr id="19" name="Text 17"/>
          <p:cNvSpPr/>
          <p:nvPr/>
        </p:nvSpPr>
        <p:spPr>
          <a:xfrm>
            <a:off x="923544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The honest result</a:t>
            </a:r>
            <a:endParaRPr lang="en-US" sz="1600" dirty="0"/>
          </a:p>
        </p:txBody>
      </p:sp>
      <p:sp>
        <p:nvSpPr>
          <p:cNvPr id="20" name="Text 18"/>
          <p:cNvSpPr/>
          <p:nvPr/>
        </p:nvSpPr>
        <p:spPr>
          <a:xfrm>
            <a:off x="923544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grouped CV, threshold on validation</a:t>
            </a:r>
            <a:endParaRPr lang="en-US" sz="1100" dirty="0"/>
          </a:p>
        </p:txBody>
      </p:sp>
      <p:sp>
        <p:nvSpPr>
          <p:cNvPr id="21" name="Shape 19"/>
          <p:cNvSpPr/>
          <p:nvPr/>
        </p:nvSpPr>
        <p:spPr>
          <a:xfrm>
            <a:off x="457200" y="4297680"/>
            <a:ext cx="11247120" cy="2011680"/>
          </a:xfrm>
          <a:prstGeom prst="rect">
            <a:avLst/>
          </a:prstGeom>
          <a:solidFill>
            <a:srgbClr val="0E3A5C"/>
          </a:solidFill>
          <a:ln w="12700">
            <a:solidFill>
              <a:srgbClr val="00C9B7"/>
            </a:solidFill>
            <a:prstDash val="solid"/>
          </a:ln>
        </p:spPr>
        <p:txBody>
          <a:bodyPr/>
          <a:lstStyle/>
          <a:p>
            <a:endParaRPr lang="en-US"/>
          </a:p>
        </p:txBody>
      </p:sp>
      <p:sp>
        <p:nvSpPr>
          <p:cNvPr id="22" name="Text 20"/>
          <p:cNvSpPr/>
          <p:nvPr/>
        </p:nvSpPr>
        <p:spPr>
          <a:xfrm>
            <a:off x="640080" y="4434840"/>
            <a:ext cx="10972800" cy="365760"/>
          </a:xfrm>
          <a:prstGeom prst="rect">
            <a:avLst/>
          </a:prstGeom>
          <a:noFill/>
          <a:ln/>
        </p:spPr>
        <p:txBody>
          <a:bodyPr wrap="square" lIns="0" tIns="0" rIns="0" bIns="0" rtlCol="0" anchor="ctr"/>
          <a:lstStyle/>
          <a:p>
            <a:pPr marL="0" indent="0">
              <a:buNone/>
            </a:pPr>
            <a:r>
              <a:rPr lang="en-US" sz="1400" b="1" dirty="0">
                <a:solidFill>
                  <a:srgbClr val="00C9B7"/>
                </a:solidFill>
                <a:latin typeface="Calibri" pitchFamily="34" charset="0"/>
                <a:ea typeface="Calibri" pitchFamily="34" charset="-122"/>
                <a:cs typeface="Calibri" pitchFamily="34" charset="-120"/>
              </a:rPr>
              <a:t>The Result I Did Not Expect</a:t>
            </a:r>
            <a:endParaRPr lang="en-US" sz="1400" dirty="0"/>
          </a:p>
        </p:txBody>
      </p:sp>
      <p:sp>
        <p:nvSpPr>
          <p:cNvPr id="23" name="Text 21"/>
          <p:cNvSpPr/>
          <p:nvPr/>
        </p:nvSpPr>
        <p:spPr>
          <a:xfrm>
            <a:off x="640080" y="4846320"/>
            <a:ext cx="10972800" cy="64008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Choosing the threshold on the test set cost  </a:t>
            </a:r>
            <a:r>
              <a:rPr lang="en-US" sz="2200" b="1" dirty="0">
                <a:solidFill>
                  <a:srgbClr val="00C9B7"/>
                </a:solidFill>
                <a:latin typeface="Calibri" pitchFamily="34" charset="0"/>
                <a:ea typeface="Calibri" pitchFamily="34" charset="-122"/>
                <a:cs typeface="Calibri" pitchFamily="34" charset="-120"/>
              </a:rPr>
              <a:t>more than twice</a:t>
            </a:r>
            <a:r>
              <a:rPr lang="en-US" sz="1800" dirty="0">
                <a:solidFill>
                  <a:srgbClr val="000000"/>
                </a:solidFill>
                <a:latin typeface="Calibri" pitchFamily="34" charset="0"/>
                <a:ea typeface="Calibri" pitchFamily="34" charset="-122"/>
                <a:cs typeface="Calibri" pitchFamily="34" charset="-120"/>
              </a:rPr>
              <a:t>  </a:t>
            </a:r>
            <a:r>
              <a:rPr lang="en-US" sz="1400" i="1" dirty="0">
                <a:solidFill>
                  <a:srgbClr val="FFFFFF"/>
                </a:solidFill>
                <a:latin typeface="Calibri" pitchFamily="34" charset="0"/>
                <a:ea typeface="Calibri" pitchFamily="34" charset="-122"/>
                <a:cs typeface="Calibri" pitchFamily="34" charset="-120"/>
              </a:rPr>
              <a:t>what the data leakage did.</a:t>
            </a:r>
            <a:endParaRPr lang="en-US" sz="1800" dirty="0"/>
          </a:p>
        </p:txBody>
      </p:sp>
      <p:sp>
        <p:nvSpPr>
          <p:cNvPr id="24" name="Text 22"/>
          <p:cNvSpPr/>
          <p:nvPr/>
        </p:nvSpPr>
        <p:spPr>
          <a:xfrm>
            <a:off x="640080" y="5486400"/>
            <a:ext cx="10972800" cy="731520"/>
          </a:xfrm>
          <a:prstGeom prst="rect">
            <a:avLst/>
          </a:prstGeom>
          <a:noFill/>
          <a:ln/>
        </p:spPr>
        <p:txBody>
          <a:bodyPr wrap="square" lIns="0" tIns="0" rIns="0" bIns="0" rtlCol="0" anchor="ctr"/>
          <a:lstStyle/>
          <a:p>
            <a:pPr marL="0" indent="0">
              <a:buNone/>
            </a:pPr>
            <a:r>
              <a:rPr lang="en-US" sz="1200" i="1" dirty="0">
                <a:solidFill>
                  <a:srgbClr val="B8C4D0"/>
                </a:solidFill>
                <a:latin typeface="Calibri" pitchFamily="34" charset="0"/>
                <a:ea typeface="Calibri" pitchFamily="34" charset="-122"/>
                <a:cs typeface="Calibri" pitchFamily="34" charset="-120"/>
              </a:rPr>
              <a:t>The leakage is the error everyone looks for; the threshold error is the one that actually cost more. I found it, measured it, corrected it, and published the correction.</a:t>
            </a:r>
            <a:endParaRPr lang="en-US" sz="12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30000" cy="594360"/>
          </a:xfrm>
          <a:prstGeom prst="rect">
            <a:avLst/>
          </a:prstGeom>
          <a:noFill/>
        </p:spPr>
        <p:txBody>
          <a:bodyPr wrap="square" lIns="0" rIns="0" tIns="0" bIns="0" anchor="t">
            <a:spAutoFit/>
          </a:bodyPr>
          <a:lstStyle/>
          <a:p>
            <a:pPr algn="l">
              <a:spcAft>
                <a:spcPts val="0"/>
              </a:spcAft>
            </a:pPr>
            <a:r>
              <a:rPr sz="2800" b="1">
                <a:solidFill>
                  <a:srgbClr val="065A82"/>
                </a:solidFill>
                <a:latin typeface="Calibri"/>
              </a:rPr>
              <a:t>The Same Correction, Drawn</a:t>
            </a:r>
          </a:p>
        </p:txBody>
      </p:sp>
      <p:sp>
        <p:nvSpPr>
          <p:cNvPr id="3" name="TextBox 2"/>
          <p:cNvSpPr txBox="1"/>
          <p:nvPr/>
        </p:nvSpPr>
        <p:spPr>
          <a:xfrm>
            <a:off x="365760" y="868680"/>
            <a:ext cx="11430000" cy="320040"/>
          </a:xfrm>
          <a:prstGeom prst="rect">
            <a:avLst/>
          </a:prstGeom>
          <a:noFill/>
        </p:spPr>
        <p:txBody>
          <a:bodyPr wrap="square" lIns="0" rIns="0" tIns="0" bIns="0" anchor="t">
            <a:spAutoFit/>
          </a:bodyPr>
          <a:lstStyle/>
          <a:p>
            <a:pPr algn="l">
              <a:spcAft>
                <a:spcPts val="0"/>
              </a:spcAft>
            </a:pPr>
            <a:r>
              <a:rPr sz="1400" b="0">
                <a:solidFill>
                  <a:srgbClr val="1C7293"/>
                </a:solidFill>
                <a:latin typeface="Calibri"/>
              </a:rPr>
              <a:t>Each bar is one protocol change, applied on its own, measured on its own</a:t>
            </a:r>
          </a:p>
        </p:txBody>
      </p:sp>
      <p:sp>
        <p:nvSpPr>
          <p:cNvPr id="4" name="TextBox 3"/>
          <p:cNvSpPr txBox="1"/>
          <p:nvPr/>
        </p:nvSpPr>
        <p:spPr>
          <a:xfrm>
            <a:off x="365760" y="6492240"/>
            <a:ext cx="7315200" cy="274320"/>
          </a:xfrm>
          <a:prstGeom prst="rect">
            <a:avLst/>
          </a:prstGeom>
          <a:noFill/>
        </p:spPr>
        <p:txBody>
          <a:bodyPr wrap="square" lIns="0" rIns="0" tIns="0" bIns="0" anchor="t">
            <a:spAutoFit/>
          </a:bodyPr>
          <a:lstStyle/>
          <a:p>
            <a:pPr algn="l">
              <a:spcAft>
                <a:spcPts val="0"/>
              </a:spcAft>
            </a:pPr>
            <a:r>
              <a:rPr sz="900" b="0">
                <a:solidFill>
                  <a:srgbClr val="5A6470"/>
                </a:solidFill>
                <a:latin typeface="Calibri"/>
              </a:rPr>
              <a:t>Moamen M. Aly  ·  MSc Thesis Defense  ·  September 11, 2026</a:t>
            </a:r>
          </a:p>
        </p:txBody>
      </p:sp>
      <p:sp>
        <p:nvSpPr>
          <p:cNvPr id="5" name="TextBox 4"/>
          <p:cNvSpPr txBox="1"/>
          <p:nvPr/>
        </p:nvSpPr>
        <p:spPr>
          <a:xfrm>
            <a:off x="11430000" y="6492240"/>
            <a:ext cx="640080" cy="274320"/>
          </a:xfrm>
          <a:prstGeom prst="rect">
            <a:avLst/>
          </a:prstGeom>
          <a:noFill/>
        </p:spPr>
        <p:txBody>
          <a:bodyPr wrap="square" lIns="0" rIns="0" tIns="0" bIns="0" anchor="t">
            <a:spAutoFit/>
          </a:bodyPr>
          <a:lstStyle/>
          <a:p>
            <a:pPr algn="r">
              <a:spcAft>
                <a:spcPts val="0"/>
              </a:spcAft>
            </a:pPr>
            <a:r>
              <a:rPr sz="900" b="0">
                <a:solidFill>
                  <a:srgbClr val="5A6470"/>
                </a:solidFill>
                <a:latin typeface="Calibri"/>
              </a:rPr>
              <a:t>21 / 29</a:t>
            </a:r>
          </a:p>
        </p:txBody>
      </p:sp>
      <p:pic>
        <p:nvPicPr>
          <p:cNvPr id="6" name="Picture 5" descr="fig_18_metric_attribution.png"/>
          <p:cNvPicPr>
            <a:picLocks noChangeAspect="1"/>
          </p:cNvPicPr>
          <p:nvPr/>
        </p:nvPicPr>
        <p:blipFill>
          <a:blip r:embed="rId2"/>
          <a:stretch>
            <a:fillRect/>
          </a:stretch>
        </p:blipFill>
        <p:spPr>
          <a:xfrm>
            <a:off x="2386584" y="1371600"/>
            <a:ext cx="7420908" cy="4069080"/>
          </a:xfrm>
          <a:prstGeom prst="rect">
            <a:avLst/>
          </a:prstGeom>
        </p:spPr>
      </p:pic>
      <p:sp>
        <p:nvSpPr>
          <p:cNvPr id="7" name="Rectangle 6"/>
          <p:cNvSpPr/>
          <p:nvPr/>
        </p:nvSpPr>
        <p:spPr>
          <a:xfrm>
            <a:off x="457200" y="5504688"/>
            <a:ext cx="11274552" cy="804672"/>
          </a:xfrm>
          <a:prstGeom prst="rect">
            <a:avLst/>
          </a:prstGeom>
          <a:solidFill>
            <a:srgbClr val="F7F9FB"/>
          </a:solidFill>
          <a:ln w="9525">
            <a:solidFill>
              <a:srgbClr val="C9D6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85800" y="5632704"/>
            <a:ext cx="10835640" cy="594360"/>
          </a:xfrm>
          <a:prstGeom prst="rect">
            <a:avLst/>
          </a:prstGeom>
          <a:noFill/>
        </p:spPr>
        <p:txBody>
          <a:bodyPr wrap="square" lIns="0" rIns="0" tIns="0" bIns="0" anchor="t">
            <a:spAutoFit/>
          </a:bodyPr>
          <a:lstStyle/>
          <a:p>
            <a:pPr algn="l">
              <a:lnSpc>
                <a:spcPct val="115000"/>
              </a:lnSpc>
              <a:spcAft>
                <a:spcPts val="0"/>
              </a:spcAft>
            </a:pPr>
            <a:r>
              <a:rPr sz="1200" b="0">
                <a:solidFill>
                  <a:srgbClr val="1A1F2E"/>
                </a:solidFill>
                <a:latin typeface="Calibri"/>
              </a:rPr>
              <a:t>The two corrections are separable because each was applied as a single controlled step, so the cost of each is measured rather than estimated. Choosing the threshold on the test set — the quieter of the two mistakes — cost </a:t>
            </a:r>
            <a:r>
              <a:rPr sz="1200" b="1">
                <a:solidFill>
                  <a:srgbClr val="C8463D"/>
                </a:solidFill>
                <a:latin typeface="Calibri"/>
              </a:rPr>
              <a:t>more than twice</a:t>
            </a:r>
            <a:r>
              <a:rPr sz="1200" b="0">
                <a:solidFill>
                  <a:srgbClr val="1A1F2E"/>
                </a:solidFill>
                <a:latin typeface="Calibri"/>
              </a:rPr>
              <a:t> what the leakage cost.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21295C"/>
          </a:solidFill>
          <a:ln w="12700">
            <a:solidFill>
              <a:srgbClr val="21295C"/>
            </a:solidFill>
            <a:prstDash val="solid"/>
          </a:ln>
        </p:spPr>
        <p:txBody>
          <a:bodyPr/>
          <a:lstStyle/>
          <a:p>
            <a:endParaRPr lang="en-US"/>
          </a:p>
        </p:txBody>
      </p:sp>
      <p:sp>
        <p:nvSpPr>
          <p:cNvPr id="3" name="Text 1"/>
          <p:cNvSpPr/>
          <p:nvPr/>
        </p:nvSpPr>
        <p:spPr>
          <a:xfrm>
            <a:off x="457200" y="365760"/>
            <a:ext cx="11247120" cy="457200"/>
          </a:xfrm>
          <a:prstGeom prst="rect">
            <a:avLst/>
          </a:prstGeom>
          <a:noFill/>
          <a:ln/>
        </p:spPr>
        <p:txBody>
          <a:bodyPr wrap="square" lIns="0" tIns="0" rIns="0" bIns="0" rtlCol="0" anchor="ctr"/>
          <a:lstStyle/>
          <a:p>
            <a:pPr marL="0" indent="0">
              <a:buNone/>
            </a:pPr>
            <a:r>
              <a:rPr lang="en-US" sz="1400" b="1" kern="0" spc="600" dirty="0">
                <a:solidFill>
                  <a:srgbClr val="00C9B7"/>
                </a:solidFill>
                <a:latin typeface="Calibri" pitchFamily="34" charset="0"/>
                <a:ea typeface="Calibri" pitchFamily="34" charset="-122"/>
                <a:cs typeface="Calibri" pitchFamily="34" charset="-120"/>
              </a:rPr>
              <a:t>FINAL RESULTS</a:t>
            </a:r>
            <a:endParaRPr lang="en-US" sz="1400" dirty="0"/>
          </a:p>
        </p:txBody>
      </p:sp>
      <p:sp>
        <p:nvSpPr>
          <p:cNvPr id="4" name="Text 2"/>
          <p:cNvSpPr/>
          <p:nvPr/>
        </p:nvSpPr>
        <p:spPr>
          <a:xfrm>
            <a:off x="457200" y="868680"/>
            <a:ext cx="11247120" cy="411480"/>
          </a:xfrm>
          <a:prstGeom prst="rect">
            <a:avLst/>
          </a:prstGeom>
          <a:noFill/>
          <a:ln/>
        </p:spPr>
        <p:txBody>
          <a:bodyPr wrap="square" lIns="0" tIns="0" rIns="0" bIns="0" rtlCol="0" anchor="ctr"/>
          <a:lstStyle/>
          <a:p>
            <a:pPr marL="0" indent="0">
              <a:buNone/>
            </a:pPr>
            <a:r>
              <a:rPr lang="en-US" sz="1800" i="1" dirty="0">
                <a:solidFill>
                  <a:srgbClr val="FFFFFF"/>
                </a:solidFill>
                <a:latin typeface="Calibri" pitchFamily="34" charset="0"/>
                <a:ea typeface="Calibri" pitchFamily="34" charset="-122"/>
                <a:cs typeface="Calibri" pitchFamily="34" charset="-120"/>
              </a:rPr>
              <a:t>XGBoost  ·  threshold 0.076  ·  commit-grouped 5-fold cross-validation</a:t>
            </a:r>
            <a:endParaRPr lang="en-US" sz="1800" dirty="0"/>
          </a:p>
        </p:txBody>
      </p:sp>
      <p:sp>
        <p:nvSpPr>
          <p:cNvPr id="5" name="Shape 3"/>
          <p:cNvSpPr/>
          <p:nvPr/>
        </p:nvSpPr>
        <p:spPr>
          <a:xfrm>
            <a:off x="45720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6" name="Text 4"/>
          <p:cNvSpPr/>
          <p:nvPr/>
        </p:nvSpPr>
        <p:spPr>
          <a:xfrm>
            <a:off x="457200" y="1783080"/>
            <a:ext cx="2788920" cy="1188720"/>
          </a:xfrm>
          <a:prstGeom prst="rect">
            <a:avLst/>
          </a:prstGeom>
          <a:noFill/>
          <a:ln/>
        </p:spPr>
        <p:txBody>
          <a:bodyPr wrap="square" lIns="0" tIns="0" rIns="0" bIns="0" rtlCol="0" anchor="ctr"/>
          <a:lstStyle/>
          <a:p>
            <a:pPr marL="0" indent="0" algn="ctr">
              <a:buNone/>
            </a:pPr>
            <a:r>
              <a:rPr lang="en-US" sz="5600" b="1" dirty="0">
                <a:solidFill>
                  <a:srgbClr val="00C9B7"/>
                </a:solidFill>
                <a:latin typeface="Calibri" pitchFamily="34" charset="0"/>
                <a:ea typeface="Calibri" pitchFamily="34" charset="-122"/>
                <a:cs typeface="Calibri" pitchFamily="34" charset="-120"/>
              </a:rPr>
              <a:t>0.422</a:t>
            </a:r>
            <a:endParaRPr lang="en-US" sz="5600" dirty="0"/>
          </a:p>
        </p:txBody>
      </p:sp>
      <p:sp>
        <p:nvSpPr>
          <p:cNvPr id="7" name="Text 5"/>
          <p:cNvSpPr/>
          <p:nvPr/>
        </p:nvSpPr>
        <p:spPr>
          <a:xfrm>
            <a:off x="45720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Failure F1</a:t>
            </a:r>
            <a:endParaRPr lang="en-US" sz="1600" dirty="0"/>
          </a:p>
        </p:txBody>
      </p:sp>
      <p:sp>
        <p:nvSpPr>
          <p:cNvPr id="8" name="Text 6"/>
          <p:cNvSpPr/>
          <p:nvPr/>
        </p:nvSpPr>
        <p:spPr>
          <a:xfrm>
            <a:off x="45720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 0.064 across folds</a:t>
            </a:r>
            <a:endParaRPr lang="en-US" sz="1100" dirty="0"/>
          </a:p>
        </p:txBody>
      </p:sp>
      <p:sp>
        <p:nvSpPr>
          <p:cNvPr id="9" name="Shape 7"/>
          <p:cNvSpPr/>
          <p:nvPr/>
        </p:nvSpPr>
        <p:spPr>
          <a:xfrm>
            <a:off x="338328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10" name="Text 8"/>
          <p:cNvSpPr/>
          <p:nvPr/>
        </p:nvSpPr>
        <p:spPr>
          <a:xfrm>
            <a:off x="3383280" y="1783080"/>
            <a:ext cx="2788920" cy="1188720"/>
          </a:xfrm>
          <a:prstGeom prst="rect">
            <a:avLst/>
          </a:prstGeom>
          <a:noFill/>
          <a:ln/>
        </p:spPr>
        <p:txBody>
          <a:bodyPr wrap="square" lIns="0" tIns="0" rIns="0" bIns="0" rtlCol="0" anchor="ctr"/>
          <a:lstStyle/>
          <a:p>
            <a:pPr marL="0" indent="0" algn="ctr">
              <a:buNone/>
            </a:pPr>
            <a:r>
              <a:rPr lang="en-US" sz="5600" b="1" dirty="0">
                <a:solidFill>
                  <a:srgbClr val="00C9B7"/>
                </a:solidFill>
                <a:latin typeface="Calibri" pitchFamily="34" charset="0"/>
                <a:ea typeface="Calibri" pitchFamily="34" charset="-122"/>
                <a:cs typeface="Calibri" pitchFamily="34" charset="-120"/>
              </a:rPr>
              <a:t>66.9%</a:t>
            </a:r>
            <a:endParaRPr lang="en-US" sz="5600" dirty="0"/>
          </a:p>
        </p:txBody>
      </p:sp>
      <p:sp>
        <p:nvSpPr>
          <p:cNvPr id="11" name="Text 9"/>
          <p:cNvSpPr/>
          <p:nvPr/>
        </p:nvSpPr>
        <p:spPr>
          <a:xfrm>
            <a:off x="338328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Balanced Accuracy</a:t>
            </a:r>
            <a:endParaRPr lang="en-US" sz="1600" dirty="0"/>
          </a:p>
        </p:txBody>
      </p:sp>
      <p:sp>
        <p:nvSpPr>
          <p:cNvPr id="12" name="Text 10"/>
          <p:cNvSpPr/>
          <p:nvPr/>
        </p:nvSpPr>
        <p:spPr>
          <a:xfrm>
            <a:off x="338328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imbalance-aware</a:t>
            </a:r>
            <a:endParaRPr lang="en-US" sz="1100" dirty="0"/>
          </a:p>
        </p:txBody>
      </p:sp>
      <p:sp>
        <p:nvSpPr>
          <p:cNvPr id="13" name="Shape 11"/>
          <p:cNvSpPr/>
          <p:nvPr/>
        </p:nvSpPr>
        <p:spPr>
          <a:xfrm>
            <a:off x="630936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14" name="Text 12"/>
          <p:cNvSpPr/>
          <p:nvPr/>
        </p:nvSpPr>
        <p:spPr>
          <a:xfrm>
            <a:off x="6309360" y="1783080"/>
            <a:ext cx="2788920" cy="1188720"/>
          </a:xfrm>
          <a:prstGeom prst="rect">
            <a:avLst/>
          </a:prstGeom>
          <a:noFill/>
          <a:ln/>
        </p:spPr>
        <p:txBody>
          <a:bodyPr wrap="square" lIns="0" tIns="0" rIns="0" bIns="0" rtlCol="0" anchor="ctr"/>
          <a:lstStyle/>
          <a:p>
            <a:pPr marL="0" indent="0" algn="ctr">
              <a:buNone/>
            </a:pPr>
            <a:r>
              <a:rPr lang="en-US" sz="5600" b="1" dirty="0">
                <a:solidFill>
                  <a:srgbClr val="00C9B7"/>
                </a:solidFill>
                <a:latin typeface="Calibri" pitchFamily="34" charset="0"/>
                <a:ea typeface="Calibri" pitchFamily="34" charset="-122"/>
                <a:cs typeface="Calibri" pitchFamily="34" charset="-120"/>
              </a:rPr>
              <a:t>0.824</a:t>
            </a:r>
            <a:endParaRPr lang="en-US" sz="5600" dirty="0"/>
          </a:p>
        </p:txBody>
      </p:sp>
      <p:sp>
        <p:nvSpPr>
          <p:cNvPr id="15" name="Text 13"/>
          <p:cNvSpPr/>
          <p:nvPr/>
        </p:nvSpPr>
        <p:spPr>
          <a:xfrm>
            <a:off x="630936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ROC-AUC</a:t>
            </a:r>
            <a:endParaRPr lang="en-US" sz="1600" dirty="0"/>
          </a:p>
        </p:txBody>
      </p:sp>
      <p:sp>
        <p:nvSpPr>
          <p:cNvPr id="16" name="Text 14"/>
          <p:cNvSpPr/>
          <p:nvPr/>
        </p:nvSpPr>
        <p:spPr>
          <a:xfrm>
            <a:off x="630936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ranking ability</a:t>
            </a:r>
            <a:endParaRPr lang="en-US" sz="1100" dirty="0"/>
          </a:p>
        </p:txBody>
      </p:sp>
      <p:sp>
        <p:nvSpPr>
          <p:cNvPr id="17" name="Shape 15"/>
          <p:cNvSpPr/>
          <p:nvPr/>
        </p:nvSpPr>
        <p:spPr>
          <a:xfrm>
            <a:off x="923544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18" name="Text 16"/>
          <p:cNvSpPr/>
          <p:nvPr/>
        </p:nvSpPr>
        <p:spPr>
          <a:xfrm>
            <a:off x="9235440" y="1783080"/>
            <a:ext cx="2788920" cy="1188720"/>
          </a:xfrm>
          <a:prstGeom prst="rect">
            <a:avLst/>
          </a:prstGeom>
          <a:noFill/>
          <a:ln/>
        </p:spPr>
        <p:txBody>
          <a:bodyPr wrap="square" lIns="0" tIns="0" rIns="0" bIns="0" rtlCol="0" anchor="ctr"/>
          <a:lstStyle/>
          <a:p>
            <a:pPr marL="0" indent="0" algn="ctr">
              <a:buNone/>
            </a:pPr>
            <a:r>
              <a:rPr lang="en-US" sz="5600" b="1" dirty="0">
                <a:solidFill>
                  <a:srgbClr val="00C9B7"/>
                </a:solidFill>
                <a:latin typeface="Calibri" pitchFamily="34" charset="0"/>
                <a:ea typeface="Calibri" pitchFamily="34" charset="-122"/>
                <a:cs typeface="Calibri" pitchFamily="34" charset="-120"/>
              </a:rPr>
              <a:t>0.480</a:t>
            </a:r>
            <a:endParaRPr lang="en-US" sz="5600" dirty="0"/>
          </a:p>
        </p:txBody>
      </p:sp>
      <p:sp>
        <p:nvSpPr>
          <p:cNvPr id="19" name="Text 17"/>
          <p:cNvSpPr/>
          <p:nvPr/>
        </p:nvSpPr>
        <p:spPr>
          <a:xfrm>
            <a:off x="923544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PR-AUC</a:t>
            </a:r>
            <a:endParaRPr lang="en-US" sz="1600" dirty="0"/>
          </a:p>
        </p:txBody>
      </p:sp>
      <p:sp>
        <p:nvSpPr>
          <p:cNvPr id="20" name="Text 18"/>
          <p:cNvSpPr/>
          <p:nvPr/>
        </p:nvSpPr>
        <p:spPr>
          <a:xfrm>
            <a:off x="923544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selection criterion</a:t>
            </a:r>
            <a:endParaRPr lang="en-US" sz="1100" dirty="0"/>
          </a:p>
        </p:txBody>
      </p:sp>
      <p:sp>
        <p:nvSpPr>
          <p:cNvPr id="21" name="Shape 19"/>
          <p:cNvSpPr/>
          <p:nvPr/>
        </p:nvSpPr>
        <p:spPr>
          <a:xfrm>
            <a:off x="457200" y="4297680"/>
            <a:ext cx="11247120" cy="2011680"/>
          </a:xfrm>
          <a:prstGeom prst="rect">
            <a:avLst/>
          </a:prstGeom>
          <a:solidFill>
            <a:srgbClr val="0E3A5C"/>
          </a:solidFill>
          <a:ln w="12700">
            <a:solidFill>
              <a:srgbClr val="00C9B7"/>
            </a:solidFill>
            <a:prstDash val="solid"/>
          </a:ln>
        </p:spPr>
        <p:txBody>
          <a:bodyPr/>
          <a:lstStyle/>
          <a:p>
            <a:endParaRPr lang="en-US"/>
          </a:p>
        </p:txBody>
      </p:sp>
      <p:sp>
        <p:nvSpPr>
          <p:cNvPr id="22" name="Text 20"/>
          <p:cNvSpPr/>
          <p:nvPr/>
        </p:nvSpPr>
        <p:spPr>
          <a:xfrm>
            <a:off x="640080" y="4434840"/>
            <a:ext cx="10972800" cy="365760"/>
          </a:xfrm>
          <a:prstGeom prst="rect">
            <a:avLst/>
          </a:prstGeom>
          <a:noFill/>
          <a:ln/>
        </p:spPr>
        <p:txBody>
          <a:bodyPr wrap="square" lIns="0" tIns="0" rIns="0" bIns="0" rtlCol="0" anchor="ctr"/>
          <a:lstStyle/>
          <a:p>
            <a:pPr marL="0" indent="0">
              <a:buNone/>
            </a:pPr>
            <a:r>
              <a:rPr lang="en-US" sz="1400" b="1" dirty="0">
                <a:solidFill>
                  <a:srgbClr val="00C9B7"/>
                </a:solidFill>
                <a:latin typeface="Calibri" pitchFamily="34" charset="0"/>
                <a:ea typeface="Calibri" pitchFamily="34" charset="-122"/>
                <a:cs typeface="Calibri" pitchFamily="34" charset="-120"/>
              </a:rPr>
              <a:t>Robustness Check (Per-Repository Chronological Split)</a:t>
            </a:r>
            <a:endParaRPr lang="en-US" sz="1400" dirty="0"/>
          </a:p>
        </p:txBody>
      </p:sp>
      <p:sp>
        <p:nvSpPr>
          <p:cNvPr id="23" name="Text 21"/>
          <p:cNvSpPr/>
          <p:nvPr/>
        </p:nvSpPr>
        <p:spPr>
          <a:xfrm>
            <a:off x="640080" y="4846320"/>
            <a:ext cx="10972800" cy="64008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Failure F1 on the chronological test partition:  </a:t>
            </a:r>
            <a:r>
              <a:rPr lang="en-US" sz="2200" b="1" dirty="0">
                <a:solidFill>
                  <a:srgbClr val="00C9B7"/>
                </a:solidFill>
                <a:latin typeface="Calibri" pitchFamily="34" charset="0"/>
                <a:ea typeface="Calibri" pitchFamily="34" charset="-122"/>
                <a:cs typeface="Calibri" pitchFamily="34" charset="-120"/>
              </a:rPr>
              <a:t>0.399</a:t>
            </a:r>
            <a:r>
              <a:rPr lang="en-US" sz="1800" dirty="0">
                <a:solidFill>
                  <a:srgbClr val="000000"/>
                </a:solidFill>
                <a:latin typeface="Calibri" pitchFamily="34" charset="0"/>
                <a:ea typeface="Calibri" pitchFamily="34" charset="-122"/>
                <a:cs typeface="Calibri" pitchFamily="34" charset="-120"/>
              </a:rPr>
              <a:t>  </a:t>
            </a:r>
            <a:r>
              <a:rPr lang="en-US" sz="1400" i="1" dirty="0">
                <a:solidFill>
                  <a:srgbClr val="FFFFFF"/>
                </a:solidFill>
                <a:latin typeface="Calibri" pitchFamily="34" charset="0"/>
                <a:ea typeface="Calibri" pitchFamily="34" charset="-122"/>
                <a:cs typeface="Calibri" pitchFamily="34" charset="-120"/>
              </a:rPr>
              <a:t>(−2pp)</a:t>
            </a:r>
            <a:endParaRPr lang="en-US" sz="1800" dirty="0"/>
          </a:p>
        </p:txBody>
      </p:sp>
      <p:sp>
        <p:nvSpPr>
          <p:cNvPr id="24" name="Text 22"/>
          <p:cNvSpPr/>
          <p:nvPr/>
        </p:nvSpPr>
        <p:spPr>
          <a:xfrm>
            <a:off x="640080" y="5486400"/>
            <a:ext cx="10972800" cy="731520"/>
          </a:xfrm>
          <a:prstGeom prst="rect">
            <a:avLst/>
          </a:prstGeom>
          <a:noFill/>
          <a:ln/>
        </p:spPr>
        <p:txBody>
          <a:bodyPr wrap="square" lIns="0" tIns="0" rIns="0" bIns="0" rtlCol="0" anchor="ctr"/>
          <a:lstStyle/>
          <a:p>
            <a:pPr marL="0" indent="0">
              <a:buNone/>
            </a:pPr>
            <a:r>
              <a:rPr lang="en-US" sz="1200" i="1" dirty="0">
                <a:solidFill>
                  <a:srgbClr val="B8C4D0"/>
                </a:solidFill>
                <a:latin typeface="Calibri" pitchFamily="34" charset="0"/>
                <a:ea typeface="Calibri" pitchFamily="34" charset="-122"/>
                <a:cs typeface="Calibri" pitchFamily="34" charset="-120"/>
              </a:rPr>
              <a:t>Trained on each project's past and tested on its future, for all eighteen projects. The three classifiers are indistinguishable on F1; XGBoost is selected on PR-AUC.</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Business Impact</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From model metrics to dollar value</a:t>
            </a:r>
            <a:endParaRPr lang="en-US" sz="1400" dirty="0"/>
          </a:p>
        </p:txBody>
      </p:sp>
      <p:sp>
        <p:nvSpPr>
          <p:cNvPr id="4" name="Shape 2"/>
          <p:cNvSpPr/>
          <p:nvPr/>
        </p:nvSpPr>
        <p:spPr>
          <a:xfrm>
            <a:off x="457200" y="1463040"/>
            <a:ext cx="5486400" cy="4937760"/>
          </a:xfrm>
          <a:prstGeom prst="rect">
            <a:avLst/>
          </a:prstGeom>
          <a:solidFill>
            <a:srgbClr val="F7F9FB"/>
          </a:solidFill>
          <a:ln w="12700">
            <a:solidFill>
              <a:srgbClr val="065A82"/>
            </a:solidFill>
            <a:prstDash val="solid"/>
          </a:ln>
        </p:spPr>
        <p:txBody>
          <a:bodyPr/>
          <a:lstStyle/>
          <a:p>
            <a:endParaRPr lang="en-US"/>
          </a:p>
        </p:txBody>
      </p:sp>
      <p:sp>
        <p:nvSpPr>
          <p:cNvPr id="5" name="Text 3"/>
          <p:cNvSpPr/>
          <p:nvPr/>
        </p:nvSpPr>
        <p:spPr>
          <a:xfrm>
            <a:off x="640080" y="1645920"/>
            <a:ext cx="5120640" cy="365760"/>
          </a:xfrm>
          <a:prstGeom prst="rect">
            <a:avLst/>
          </a:prstGeom>
          <a:noFill/>
          <a:ln/>
        </p:spPr>
        <p:txBody>
          <a:bodyPr wrap="square" lIns="0" tIns="0" rIns="0" bIns="0"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Operational Scenario</a:t>
            </a:r>
            <a:endParaRPr lang="en-US" sz="1600" dirty="0"/>
          </a:p>
        </p:txBody>
      </p:sp>
      <p:sp>
        <p:nvSpPr>
          <p:cNvPr id="6" name="Text 4"/>
          <p:cNvSpPr/>
          <p:nvPr/>
        </p:nvSpPr>
        <p:spPr>
          <a:xfrm>
            <a:off x="640080" y="2011680"/>
            <a:ext cx="5120640" cy="36576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Mid-sized engineering organization</a:t>
            </a:r>
            <a:endParaRPr lang="en-US" sz="1200" dirty="0"/>
          </a:p>
        </p:txBody>
      </p:sp>
      <p:sp>
        <p:nvSpPr>
          <p:cNvPr id="7" name="Text 5"/>
          <p:cNvSpPr/>
          <p:nvPr/>
        </p:nvSpPr>
        <p:spPr>
          <a:xfrm>
            <a:off x="822960" y="2468880"/>
            <a:ext cx="4937760" cy="32004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1,000</a:t>
            </a:r>
            <a:r>
              <a:rPr lang="en-US" sz="1200" dirty="0">
                <a:solidFill>
                  <a:srgbClr val="5A6470"/>
                </a:solidFill>
                <a:latin typeface="Calibri" pitchFamily="34" charset="0"/>
                <a:ea typeface="Calibri" pitchFamily="34" charset="-122"/>
                <a:cs typeface="Calibri" pitchFamily="34" charset="-120"/>
              </a:rPr>
              <a:t>  pipeline executions per day</a:t>
            </a:r>
            <a:endParaRPr lang="en-US" sz="1300" dirty="0"/>
          </a:p>
        </p:txBody>
      </p:sp>
      <p:sp>
        <p:nvSpPr>
          <p:cNvPr id="8" name="Text 6"/>
          <p:cNvSpPr/>
          <p:nvPr/>
        </p:nvSpPr>
        <p:spPr>
          <a:xfrm>
            <a:off x="822960" y="2852928"/>
            <a:ext cx="4937760" cy="32004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11%</a:t>
            </a:r>
            <a:r>
              <a:rPr lang="en-US" sz="1200" dirty="0">
                <a:solidFill>
                  <a:srgbClr val="5A6470"/>
                </a:solidFill>
                <a:latin typeface="Calibri" pitchFamily="34" charset="0"/>
                <a:ea typeface="Calibri" pitchFamily="34" charset="-122"/>
                <a:cs typeface="Calibri" pitchFamily="34" charset="-120"/>
              </a:rPr>
              <a:t>  observed failure rate (~110/day)</a:t>
            </a:r>
            <a:endParaRPr lang="en-US" sz="1300" dirty="0"/>
          </a:p>
        </p:txBody>
      </p:sp>
      <p:sp>
        <p:nvSpPr>
          <p:cNvPr id="9" name="Text 7"/>
          <p:cNvSpPr/>
          <p:nvPr/>
        </p:nvSpPr>
        <p:spPr>
          <a:xfrm>
            <a:off x="822960" y="3236976"/>
            <a:ext cx="4937760" cy="32004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$0.008/min</a:t>
            </a:r>
            <a:r>
              <a:rPr lang="en-US" sz="1200" dirty="0">
                <a:solidFill>
                  <a:srgbClr val="5A6470"/>
                </a:solidFill>
                <a:latin typeface="Calibri" pitchFamily="34" charset="0"/>
                <a:ea typeface="Calibri" pitchFamily="34" charset="-122"/>
                <a:cs typeface="Calibri" pitchFamily="34" charset="-120"/>
              </a:rPr>
              <a:t>  compute cost (GitHub published)</a:t>
            </a:r>
            <a:endParaRPr lang="en-US" sz="1300" dirty="0"/>
          </a:p>
        </p:txBody>
      </p:sp>
      <p:sp>
        <p:nvSpPr>
          <p:cNvPr id="10" name="Text 8"/>
          <p:cNvSpPr/>
          <p:nvPr/>
        </p:nvSpPr>
        <p:spPr>
          <a:xfrm>
            <a:off x="822960" y="3621024"/>
            <a:ext cx="4937760" cy="32004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$75/hr</a:t>
            </a:r>
            <a:r>
              <a:rPr lang="en-US" sz="1200" dirty="0">
                <a:solidFill>
                  <a:srgbClr val="5A6470"/>
                </a:solidFill>
                <a:latin typeface="Calibri" pitchFamily="34" charset="0"/>
                <a:ea typeface="Calibri" pitchFamily="34" charset="-122"/>
                <a:cs typeface="Calibri" pitchFamily="34" charset="-120"/>
              </a:rPr>
              <a:t>  fully-loaded developer rate</a:t>
            </a:r>
            <a:endParaRPr lang="en-US" sz="1300" dirty="0"/>
          </a:p>
        </p:txBody>
      </p:sp>
      <p:sp>
        <p:nvSpPr>
          <p:cNvPr id="11" name="Text 9"/>
          <p:cNvSpPr/>
          <p:nvPr/>
        </p:nvSpPr>
        <p:spPr>
          <a:xfrm>
            <a:off x="822960" y="4005072"/>
            <a:ext cx="4937760" cy="32004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15 min</a:t>
            </a:r>
            <a:r>
              <a:rPr lang="en-US" sz="1200" dirty="0">
                <a:solidFill>
                  <a:srgbClr val="5A6470"/>
                </a:solidFill>
                <a:latin typeface="Calibri" pitchFamily="34" charset="0"/>
                <a:ea typeface="Calibri" pitchFamily="34" charset="-122"/>
                <a:cs typeface="Calibri" pitchFamily="34" charset="-120"/>
              </a:rPr>
              <a:t>  context-switch penalty per failure</a:t>
            </a:r>
            <a:endParaRPr lang="en-US" sz="1300" dirty="0"/>
          </a:p>
        </p:txBody>
      </p:sp>
      <p:sp>
        <p:nvSpPr>
          <p:cNvPr id="12" name="Text 10"/>
          <p:cNvSpPr/>
          <p:nvPr/>
        </p:nvSpPr>
        <p:spPr>
          <a:xfrm>
            <a:off x="822960" y="4389120"/>
            <a:ext cx="4937760" cy="32004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$2.50</a:t>
            </a:r>
            <a:r>
              <a:rPr lang="en-US" sz="1200" dirty="0">
                <a:solidFill>
                  <a:srgbClr val="5A6470"/>
                </a:solidFill>
                <a:latin typeface="Calibri" pitchFamily="34" charset="0"/>
                <a:ea typeface="Calibri" pitchFamily="34" charset="-122"/>
                <a:cs typeface="Calibri" pitchFamily="34" charset="-120"/>
              </a:rPr>
              <a:t>  false alarm triage cost</a:t>
            </a:r>
            <a:endParaRPr lang="en-US" sz="1300" dirty="0"/>
          </a:p>
        </p:txBody>
      </p:sp>
      <p:sp>
        <p:nvSpPr>
          <p:cNvPr id="13" name="Text 11"/>
          <p:cNvSpPr/>
          <p:nvPr/>
        </p:nvSpPr>
        <p:spPr>
          <a:xfrm>
            <a:off x="822960" y="4773168"/>
            <a:ext cx="4937760" cy="32004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$18.75</a:t>
            </a:r>
            <a:r>
              <a:rPr lang="en-US" sz="1200" dirty="0">
                <a:solidFill>
                  <a:srgbClr val="5A6470"/>
                </a:solidFill>
                <a:latin typeface="Calibri" pitchFamily="34" charset="0"/>
                <a:ea typeface="Calibri" pitchFamily="34" charset="-122"/>
                <a:cs typeface="Calibri" pitchFamily="34" charset="-120"/>
              </a:rPr>
              <a:t>  missed failure cost</a:t>
            </a:r>
            <a:endParaRPr lang="en-US" sz="1300" dirty="0"/>
          </a:p>
        </p:txBody>
      </p:sp>
      <p:sp>
        <p:nvSpPr>
          <p:cNvPr id="14" name="Shape 12"/>
          <p:cNvSpPr/>
          <p:nvPr/>
        </p:nvSpPr>
        <p:spPr>
          <a:xfrm>
            <a:off x="6217920" y="1463040"/>
            <a:ext cx="5486400" cy="4937760"/>
          </a:xfrm>
          <a:prstGeom prst="rect">
            <a:avLst/>
          </a:prstGeom>
          <a:solidFill>
            <a:srgbClr val="21295C"/>
          </a:solidFill>
          <a:ln w="12700">
            <a:solidFill>
              <a:srgbClr val="21295C"/>
            </a:solidFill>
            <a:prstDash val="solid"/>
          </a:ln>
        </p:spPr>
        <p:txBody>
          <a:bodyPr/>
          <a:lstStyle/>
          <a:p>
            <a:endParaRPr lang="en-US"/>
          </a:p>
        </p:txBody>
      </p:sp>
      <p:sp>
        <p:nvSpPr>
          <p:cNvPr id="15" name="Text 13"/>
          <p:cNvSpPr/>
          <p:nvPr/>
        </p:nvSpPr>
        <p:spPr>
          <a:xfrm>
            <a:off x="6400800" y="1691640"/>
            <a:ext cx="5120640" cy="365760"/>
          </a:xfrm>
          <a:prstGeom prst="rect">
            <a:avLst/>
          </a:prstGeom>
          <a:noFill/>
          <a:ln/>
        </p:spPr>
        <p:txBody>
          <a:bodyPr wrap="square" lIns="0" tIns="0" rIns="0" bIns="0" rtlCol="0" anchor="ctr"/>
          <a:lstStyle/>
          <a:p>
            <a:pPr marL="0" indent="0">
              <a:buNone/>
            </a:pPr>
            <a:r>
              <a:rPr lang="en-US" sz="1200" b="1" kern="0" spc="400" dirty="0">
                <a:solidFill>
                  <a:srgbClr val="00C9B7"/>
                </a:solidFill>
                <a:latin typeface="Calibri" pitchFamily="34" charset="0"/>
                <a:ea typeface="Calibri" pitchFamily="34" charset="-122"/>
                <a:cs typeface="Calibri" pitchFamily="34" charset="-120"/>
              </a:rPr>
              <a:t>ESTIMATED ANNUAL NET SAVINGS</a:t>
            </a:r>
            <a:endParaRPr lang="en-US" sz="1200" dirty="0"/>
          </a:p>
        </p:txBody>
      </p:sp>
      <p:sp>
        <p:nvSpPr>
          <p:cNvPr id="16" name="Text 14"/>
          <p:cNvSpPr/>
          <p:nvPr/>
        </p:nvSpPr>
        <p:spPr>
          <a:xfrm>
            <a:off x="6400800" y="2194560"/>
            <a:ext cx="5120640" cy="1371600"/>
          </a:xfrm>
          <a:prstGeom prst="rect">
            <a:avLst/>
          </a:prstGeom>
          <a:noFill/>
          <a:ln/>
        </p:spPr>
        <p:txBody>
          <a:bodyPr wrap="square" lIns="0" tIns="0" rIns="0" bIns="0" rtlCol="0" anchor="ctr"/>
          <a:lstStyle/>
          <a:p>
            <a:pPr marL="0" indent="0" algn="ctr">
              <a:buNone/>
            </a:pPr>
            <a:r>
              <a:rPr lang="en-US" sz="7200" b="1" dirty="0">
                <a:solidFill>
                  <a:srgbClr val="FFFFFF"/>
                </a:solidFill>
                <a:latin typeface="Calibri" pitchFamily="34" charset="0"/>
                <a:ea typeface="Calibri" pitchFamily="34" charset="-122"/>
                <a:cs typeface="Calibri" pitchFamily="34" charset="-120"/>
              </a:rPr>
              <a:t>$243,670</a:t>
            </a:r>
            <a:endParaRPr lang="en-US" sz="7200" dirty="0"/>
          </a:p>
        </p:txBody>
      </p:sp>
      <p:sp>
        <p:nvSpPr>
          <p:cNvPr id="17" name="Text 15"/>
          <p:cNvSpPr/>
          <p:nvPr/>
        </p:nvSpPr>
        <p:spPr>
          <a:xfrm>
            <a:off x="6400800" y="3520440"/>
            <a:ext cx="5120640" cy="365760"/>
          </a:xfrm>
          <a:prstGeom prst="rect">
            <a:avLst/>
          </a:prstGeom>
          <a:noFill/>
          <a:ln/>
        </p:spPr>
        <p:txBody>
          <a:bodyPr wrap="square" lIns="0" tIns="0" rIns="0" bIns="0" rtlCol="0" anchor="ctr"/>
          <a:lstStyle/>
          <a:p>
            <a:pPr marL="0" indent="0" algn="ctr">
              <a:buNone/>
            </a:pPr>
            <a:r>
              <a:rPr lang="en-US" sz="1400" i="1" dirty="0">
                <a:solidFill>
                  <a:srgbClr val="00C9B7"/>
                </a:solidFill>
                <a:latin typeface="Calibri" pitchFamily="34" charset="0"/>
                <a:ea typeface="Calibri" pitchFamily="34" charset="-122"/>
                <a:cs typeface="Calibri" pitchFamily="34" charset="-120"/>
              </a:rPr>
              <a:t>per year, net of false alarms</a:t>
            </a:r>
            <a:endParaRPr lang="en-US" sz="1400" dirty="0"/>
          </a:p>
        </p:txBody>
      </p:sp>
      <p:sp>
        <p:nvSpPr>
          <p:cNvPr id="18" name="Shape 16"/>
          <p:cNvSpPr/>
          <p:nvPr/>
        </p:nvSpPr>
        <p:spPr>
          <a:xfrm>
            <a:off x="6858000" y="4069080"/>
            <a:ext cx="4572000" cy="0"/>
          </a:xfrm>
          <a:prstGeom prst="line">
            <a:avLst/>
          </a:prstGeom>
          <a:noFill/>
          <a:ln w="25400">
            <a:solidFill>
              <a:srgbClr val="00C9B7"/>
            </a:solidFill>
            <a:prstDash val="solid"/>
          </a:ln>
        </p:spPr>
        <p:txBody>
          <a:bodyPr/>
          <a:lstStyle/>
          <a:p>
            <a:endParaRPr lang="en-US"/>
          </a:p>
        </p:txBody>
      </p:sp>
      <p:sp>
        <p:nvSpPr>
          <p:cNvPr id="19" name="Text 17"/>
          <p:cNvSpPr/>
          <p:nvPr/>
        </p:nvSpPr>
        <p:spPr>
          <a:xfrm>
            <a:off x="6400800" y="4206240"/>
            <a:ext cx="5120640" cy="365760"/>
          </a:xfrm>
          <a:prstGeom prst="rect">
            <a:avLst/>
          </a:prstGeom>
          <a:noFill/>
          <a:ln/>
        </p:spPr>
        <p:txBody>
          <a:bodyPr wrap="square" lIns="0" tIns="0" rIns="0" bIns="0" rtlCol="0" anchor="ctr"/>
          <a:lstStyle/>
          <a:p>
            <a:pPr marL="0" indent="0" algn="ctr">
              <a:buNone/>
            </a:pPr>
            <a:r>
              <a:rPr lang="en-US" sz="1400" b="1" dirty="0">
                <a:solidFill>
                  <a:srgbClr val="00C9B7"/>
                </a:solidFill>
                <a:latin typeface="Calibri" pitchFamily="34" charset="0"/>
                <a:ea typeface="Calibri" pitchFamily="34" charset="-122"/>
                <a:cs typeface="Calibri" pitchFamily="34" charset="-120"/>
              </a:rPr>
              <a:t>Break-even false-alarm cost:  $20.41</a:t>
            </a:r>
            <a:endParaRPr lang="en-US" sz="1400" dirty="0"/>
          </a:p>
        </p:txBody>
      </p:sp>
      <p:sp>
        <p:nvSpPr>
          <p:cNvPr id="20" name="Text 18"/>
          <p:cNvSpPr/>
          <p:nvPr/>
        </p:nvSpPr>
        <p:spPr>
          <a:xfrm>
            <a:off x="6400800" y="4617720"/>
            <a:ext cx="5120640" cy="8229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above which this configuration stops paying for itself. Logistic Regression looks better at $2.50 but breaks even at only $10.27.</a:t>
            </a:r>
            <a:endParaRPr lang="en-US" sz="1100" dirty="0"/>
          </a:p>
        </p:txBody>
      </p:sp>
      <p:sp>
        <p:nvSpPr>
          <p:cNvPr id="21" name="Shape 19"/>
          <p:cNvSpPr/>
          <p:nvPr/>
        </p:nvSpPr>
        <p:spPr>
          <a:xfrm>
            <a:off x="6400800" y="5577840"/>
            <a:ext cx="5120640" cy="640080"/>
          </a:xfrm>
          <a:prstGeom prst="rect">
            <a:avLst/>
          </a:prstGeom>
          <a:solidFill>
            <a:srgbClr val="0E3A5C"/>
          </a:solidFill>
          <a:ln w="12700">
            <a:solidFill>
              <a:srgbClr val="00C9B7"/>
            </a:solidFill>
            <a:prstDash val="solid"/>
          </a:ln>
        </p:spPr>
        <p:txBody>
          <a:bodyPr/>
          <a:lstStyle/>
          <a:p>
            <a:endParaRPr lang="en-US"/>
          </a:p>
        </p:txBody>
      </p:sp>
      <p:sp>
        <p:nvSpPr>
          <p:cNvPr id="22" name="Text 20"/>
          <p:cNvSpPr/>
          <p:nvPr/>
        </p:nvSpPr>
        <p:spPr>
          <a:xfrm>
            <a:off x="6537960" y="5669280"/>
            <a:ext cx="4846320" cy="502920"/>
          </a:xfrm>
          <a:prstGeom prst="rect">
            <a:avLst/>
          </a:prstGeom>
          <a:noFill/>
          <a:ln/>
        </p:spPr>
        <p:txBody>
          <a:bodyPr wrap="square" lIns="0" tIns="0" rIns="0" bIns="0" rtlCol="0" anchor="ctr"/>
          <a:lstStyle/>
          <a:p>
            <a:pPr marL="0" indent="0">
              <a:buNone/>
            </a:pPr>
            <a:r>
              <a:rPr lang="en-US" sz="1100" b="1" dirty="0">
                <a:solidFill>
                  <a:srgbClr val="00C9B7"/>
                </a:solidFill>
                <a:latin typeface="Calibri" pitchFamily="34" charset="0"/>
                <a:ea typeface="Calibri" pitchFamily="34" charset="-122"/>
                <a:cs typeface="Calibri" pitchFamily="34" charset="-120"/>
              </a:rPr>
              <a:t>Break-even &gt; point estimate.  </a:t>
            </a:r>
            <a:r>
              <a:rPr lang="en-US" sz="1100" dirty="0">
                <a:solidFill>
                  <a:srgbClr val="FFFFFF"/>
                </a:solidFill>
                <a:latin typeface="Calibri" pitchFamily="34" charset="0"/>
                <a:ea typeface="Calibri" pitchFamily="34" charset="-122"/>
                <a:cs typeface="Calibri" pitchFamily="34" charset="-120"/>
              </a:rPr>
              <a:t>It depends on a ratio I assumed, not measured.</a:t>
            </a:r>
            <a:endParaRPr lang="en-US" sz="1100" dirty="0"/>
          </a:p>
        </p:txBody>
      </p:sp>
      <p:sp>
        <p:nvSpPr>
          <p:cNvPr id="23" name="Text 21"/>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4" name="Text 22"/>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23 / 29</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Objectives — Achieved?</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Validation against the four stated goals</a:t>
            </a:r>
            <a:endParaRPr lang="en-US" sz="1400" dirty="0"/>
          </a:p>
        </p:txBody>
      </p:sp>
      <p:sp>
        <p:nvSpPr>
          <p:cNvPr id="4" name="Shape 2"/>
          <p:cNvSpPr/>
          <p:nvPr/>
        </p:nvSpPr>
        <p:spPr>
          <a:xfrm>
            <a:off x="457200" y="1463040"/>
            <a:ext cx="11247120" cy="1051560"/>
          </a:xfrm>
          <a:prstGeom prst="rect">
            <a:avLst/>
          </a:prstGeom>
          <a:solidFill>
            <a:srgbClr val="F7F9FB"/>
          </a:solidFill>
          <a:ln w="12700">
            <a:solidFill>
              <a:srgbClr val="2C8C5C"/>
            </a:solidFill>
            <a:prstDash val="solid"/>
          </a:ln>
        </p:spPr>
        <p:txBody>
          <a:bodyPr/>
          <a:lstStyle/>
          <a:p>
            <a:endParaRPr lang="en-US"/>
          </a:p>
        </p:txBody>
      </p:sp>
      <p:sp>
        <p:nvSpPr>
          <p:cNvPr id="5" name="Shape 3"/>
          <p:cNvSpPr/>
          <p:nvPr/>
        </p:nvSpPr>
        <p:spPr>
          <a:xfrm>
            <a:off x="457200" y="1463040"/>
            <a:ext cx="822960" cy="1051560"/>
          </a:xfrm>
          <a:prstGeom prst="rect">
            <a:avLst/>
          </a:prstGeom>
          <a:solidFill>
            <a:srgbClr val="2C8C5C"/>
          </a:solidFill>
          <a:ln w="12700">
            <a:solidFill>
              <a:srgbClr val="2C8C5C"/>
            </a:solidFill>
            <a:prstDash val="solid"/>
          </a:ln>
        </p:spPr>
        <p:txBody>
          <a:bodyPr/>
          <a:lstStyle/>
          <a:p>
            <a:endParaRPr lang="en-US"/>
          </a:p>
        </p:txBody>
      </p:sp>
      <p:sp>
        <p:nvSpPr>
          <p:cNvPr id="6" name="Text 4"/>
          <p:cNvSpPr/>
          <p:nvPr/>
        </p:nvSpPr>
        <p:spPr>
          <a:xfrm>
            <a:off x="457200" y="1463040"/>
            <a:ext cx="822960" cy="105156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01</a:t>
            </a:r>
            <a:endParaRPr lang="en-US" sz="2800" dirty="0"/>
          </a:p>
        </p:txBody>
      </p:sp>
      <p:sp>
        <p:nvSpPr>
          <p:cNvPr id="7" name="Text 5"/>
          <p:cNvSpPr/>
          <p:nvPr/>
        </p:nvSpPr>
        <p:spPr>
          <a:xfrm>
            <a:off x="1463040" y="1554480"/>
            <a:ext cx="10058400" cy="365760"/>
          </a:xfrm>
          <a:prstGeom prst="rect">
            <a:avLst/>
          </a:prstGeom>
          <a:noFill/>
          <a:ln/>
        </p:spPr>
        <p:txBody>
          <a:bodyPr wrap="square" lIns="0" tIns="0" rIns="0" bIns="0" rtlCol="0" anchor="ctr"/>
          <a:lstStyle/>
          <a:p>
            <a:pPr marL="0" indent="0">
              <a:buNone/>
            </a:pPr>
            <a:r>
              <a:rPr lang="en-US" sz="1400" b="1" dirty="0">
                <a:solidFill>
                  <a:srgbClr val="1A1F2E"/>
                </a:solidFill>
                <a:latin typeface="Calibri" pitchFamily="34" charset="0"/>
                <a:ea typeface="Calibri" pitchFamily="34" charset="-122"/>
                <a:cs typeface="Calibri" pitchFamily="34" charset="-120"/>
              </a:rPr>
              <a:t>Build a Hybrid ML Pipeline</a:t>
            </a:r>
            <a:r>
              <a:rPr lang="en-US" sz="1200" b="1" dirty="0">
                <a:solidFill>
                  <a:srgbClr val="2C8C5C"/>
                </a:solidFill>
                <a:latin typeface="Calibri" pitchFamily="34" charset="0"/>
                <a:ea typeface="Calibri" pitchFamily="34" charset="-122"/>
                <a:cs typeface="Calibri" pitchFamily="34" charset="-120"/>
              </a:rPr>
              <a:t>    ✓ ACHIEVED</a:t>
            </a:r>
            <a:endParaRPr lang="en-US" sz="1400" dirty="0"/>
          </a:p>
        </p:txBody>
      </p:sp>
      <p:sp>
        <p:nvSpPr>
          <p:cNvPr id="8" name="Text 6"/>
          <p:cNvSpPr/>
          <p:nvPr/>
        </p:nvSpPr>
        <p:spPr>
          <a:xfrm>
            <a:off x="1463040" y="1965960"/>
            <a:ext cx="10058400" cy="502920"/>
          </a:xfrm>
          <a:prstGeom prst="rect">
            <a:avLst/>
          </a:prstGeom>
          <a:noFill/>
          <a:ln/>
        </p:spPr>
        <p:txBody>
          <a:bodyPr wrap="square" lIns="0" tIns="0" rIns="0" bIns="0" rtlCol="0" anchor="ctr"/>
          <a:lstStyle/>
          <a:p>
            <a:pPr marL="0" indent="0">
              <a:buNone/>
            </a:pPr>
            <a:r>
              <a:rPr lang="en-US" sz="1100" i="1" dirty="0">
                <a:solidFill>
                  <a:srgbClr val="5A6470"/>
                </a:solidFill>
                <a:latin typeface="Calibri" pitchFamily="34" charset="0"/>
                <a:ea typeface="Calibri" pitchFamily="34" charset="-122"/>
                <a:cs typeface="Calibri" pitchFamily="34" charset="-120"/>
              </a:rPr>
              <a:t>Four-branch ColumnTransformer implemented, ~3,090-column sparse matrix, &lt;10ms inference latency on commodity hardware.</a:t>
            </a:r>
            <a:endParaRPr lang="en-US" sz="1100" dirty="0"/>
          </a:p>
        </p:txBody>
      </p:sp>
      <p:sp>
        <p:nvSpPr>
          <p:cNvPr id="9" name="Shape 7"/>
          <p:cNvSpPr/>
          <p:nvPr/>
        </p:nvSpPr>
        <p:spPr>
          <a:xfrm>
            <a:off x="457200" y="2651760"/>
            <a:ext cx="11247120" cy="1051560"/>
          </a:xfrm>
          <a:prstGeom prst="rect">
            <a:avLst/>
          </a:prstGeom>
          <a:solidFill>
            <a:srgbClr val="F7F9FB"/>
          </a:solidFill>
          <a:ln w="12700">
            <a:solidFill>
              <a:srgbClr val="2C8C5C"/>
            </a:solidFill>
            <a:prstDash val="solid"/>
          </a:ln>
        </p:spPr>
        <p:txBody>
          <a:bodyPr/>
          <a:lstStyle/>
          <a:p>
            <a:endParaRPr lang="en-US"/>
          </a:p>
        </p:txBody>
      </p:sp>
      <p:sp>
        <p:nvSpPr>
          <p:cNvPr id="10" name="Shape 8"/>
          <p:cNvSpPr/>
          <p:nvPr/>
        </p:nvSpPr>
        <p:spPr>
          <a:xfrm>
            <a:off x="457200" y="2651760"/>
            <a:ext cx="822960" cy="1051560"/>
          </a:xfrm>
          <a:prstGeom prst="rect">
            <a:avLst/>
          </a:prstGeom>
          <a:solidFill>
            <a:srgbClr val="2C8C5C"/>
          </a:solidFill>
          <a:ln w="12700">
            <a:solidFill>
              <a:srgbClr val="2C8C5C"/>
            </a:solidFill>
            <a:prstDash val="solid"/>
          </a:ln>
        </p:spPr>
        <p:txBody>
          <a:bodyPr/>
          <a:lstStyle/>
          <a:p>
            <a:endParaRPr lang="en-US"/>
          </a:p>
        </p:txBody>
      </p:sp>
      <p:sp>
        <p:nvSpPr>
          <p:cNvPr id="11" name="Text 9"/>
          <p:cNvSpPr/>
          <p:nvPr/>
        </p:nvSpPr>
        <p:spPr>
          <a:xfrm>
            <a:off x="457200" y="2651760"/>
            <a:ext cx="822960" cy="105156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02</a:t>
            </a:r>
            <a:endParaRPr lang="en-US" sz="2800" dirty="0"/>
          </a:p>
        </p:txBody>
      </p:sp>
      <p:sp>
        <p:nvSpPr>
          <p:cNvPr id="12" name="Text 10"/>
          <p:cNvSpPr/>
          <p:nvPr/>
        </p:nvSpPr>
        <p:spPr>
          <a:xfrm>
            <a:off x="1463040" y="2743200"/>
            <a:ext cx="10058400" cy="365760"/>
          </a:xfrm>
          <a:prstGeom prst="rect">
            <a:avLst/>
          </a:prstGeom>
          <a:noFill/>
          <a:ln/>
        </p:spPr>
        <p:txBody>
          <a:bodyPr wrap="square" lIns="0" tIns="0" rIns="0" bIns="0" rtlCol="0" anchor="ctr"/>
          <a:lstStyle/>
          <a:p>
            <a:pPr marL="0" indent="0">
              <a:buNone/>
            </a:pPr>
            <a:r>
              <a:rPr lang="en-US" sz="1400" b="1" dirty="0">
                <a:solidFill>
                  <a:srgbClr val="1A1F2E"/>
                </a:solidFill>
                <a:latin typeface="Calibri" pitchFamily="34" charset="0"/>
                <a:ea typeface="Calibri" pitchFamily="34" charset="-122"/>
                <a:cs typeface="Calibri" pitchFamily="34" charset="-120"/>
              </a:rPr>
              <a:t>Compare Three Classifiers</a:t>
            </a:r>
            <a:r>
              <a:rPr lang="en-US" sz="1200" b="1" dirty="0">
                <a:solidFill>
                  <a:srgbClr val="2C8C5C"/>
                </a:solidFill>
                <a:latin typeface="Calibri" pitchFamily="34" charset="0"/>
                <a:ea typeface="Calibri" pitchFamily="34" charset="-122"/>
                <a:cs typeface="Calibri" pitchFamily="34" charset="-120"/>
              </a:rPr>
              <a:t>    ✓ ACHIEVED</a:t>
            </a:r>
            <a:endParaRPr lang="en-US" sz="1400" dirty="0"/>
          </a:p>
        </p:txBody>
      </p:sp>
      <p:sp>
        <p:nvSpPr>
          <p:cNvPr id="13" name="Text 11"/>
          <p:cNvSpPr/>
          <p:nvPr/>
        </p:nvSpPr>
        <p:spPr>
          <a:xfrm>
            <a:off x="1463040" y="3154680"/>
            <a:ext cx="10058400" cy="502920"/>
          </a:xfrm>
          <a:prstGeom prst="rect">
            <a:avLst/>
          </a:prstGeom>
          <a:noFill/>
          <a:ln/>
        </p:spPr>
        <p:txBody>
          <a:bodyPr wrap="square" lIns="0" tIns="0" rIns="0" bIns="0" rtlCol="0" anchor="ctr"/>
          <a:lstStyle/>
          <a:p>
            <a:pPr marL="0" indent="0">
              <a:buNone/>
            </a:pPr>
            <a:r>
              <a:rPr lang="en-US" sz="1100" i="1" dirty="0">
                <a:solidFill>
                  <a:srgbClr val="5A6470"/>
                </a:solidFill>
                <a:latin typeface="Calibri" pitchFamily="34" charset="0"/>
                <a:ea typeface="Calibri" pitchFamily="34" charset="-122"/>
                <a:cs typeface="Calibri" pitchFamily="34" charset="-120"/>
              </a:rPr>
              <a:t>LR / RF / XGBoost trained on identical features, evaluated under identical metric suite, winner selected by objective criterion.</a:t>
            </a:r>
            <a:endParaRPr lang="en-US" sz="1100" dirty="0"/>
          </a:p>
        </p:txBody>
      </p:sp>
      <p:sp>
        <p:nvSpPr>
          <p:cNvPr id="14" name="Shape 12"/>
          <p:cNvSpPr/>
          <p:nvPr/>
        </p:nvSpPr>
        <p:spPr>
          <a:xfrm>
            <a:off x="457200" y="3840480"/>
            <a:ext cx="11247120" cy="1051560"/>
          </a:xfrm>
          <a:prstGeom prst="rect">
            <a:avLst/>
          </a:prstGeom>
          <a:solidFill>
            <a:srgbClr val="F7F9FB"/>
          </a:solidFill>
          <a:ln w="12700">
            <a:solidFill>
              <a:srgbClr val="2C8C5C"/>
            </a:solidFill>
            <a:prstDash val="solid"/>
          </a:ln>
        </p:spPr>
        <p:txBody>
          <a:bodyPr/>
          <a:lstStyle/>
          <a:p>
            <a:endParaRPr lang="en-US"/>
          </a:p>
        </p:txBody>
      </p:sp>
      <p:sp>
        <p:nvSpPr>
          <p:cNvPr id="15" name="Shape 13"/>
          <p:cNvSpPr/>
          <p:nvPr/>
        </p:nvSpPr>
        <p:spPr>
          <a:xfrm>
            <a:off x="457200" y="3840480"/>
            <a:ext cx="822960" cy="1051560"/>
          </a:xfrm>
          <a:prstGeom prst="rect">
            <a:avLst/>
          </a:prstGeom>
          <a:solidFill>
            <a:srgbClr val="2C8C5C"/>
          </a:solidFill>
          <a:ln w="12700">
            <a:solidFill>
              <a:srgbClr val="2C8C5C"/>
            </a:solidFill>
            <a:prstDash val="solid"/>
          </a:ln>
        </p:spPr>
        <p:txBody>
          <a:bodyPr/>
          <a:lstStyle/>
          <a:p>
            <a:endParaRPr lang="en-US"/>
          </a:p>
        </p:txBody>
      </p:sp>
      <p:sp>
        <p:nvSpPr>
          <p:cNvPr id="16" name="Text 14"/>
          <p:cNvSpPr/>
          <p:nvPr/>
        </p:nvSpPr>
        <p:spPr>
          <a:xfrm>
            <a:off x="457200" y="3840480"/>
            <a:ext cx="822960" cy="105156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03</a:t>
            </a:r>
            <a:endParaRPr lang="en-US" sz="2800" dirty="0"/>
          </a:p>
        </p:txBody>
      </p:sp>
      <p:sp>
        <p:nvSpPr>
          <p:cNvPr id="17" name="Text 15"/>
          <p:cNvSpPr/>
          <p:nvPr/>
        </p:nvSpPr>
        <p:spPr>
          <a:xfrm>
            <a:off x="1463040" y="3931920"/>
            <a:ext cx="10058400" cy="365760"/>
          </a:xfrm>
          <a:prstGeom prst="rect">
            <a:avLst/>
          </a:prstGeom>
          <a:noFill/>
          <a:ln/>
        </p:spPr>
        <p:txBody>
          <a:bodyPr wrap="square" lIns="0" tIns="0" rIns="0" bIns="0" rtlCol="0" anchor="ctr"/>
          <a:lstStyle/>
          <a:p>
            <a:pPr marL="0" indent="0">
              <a:buNone/>
            </a:pPr>
            <a:r>
              <a:rPr lang="en-US" sz="1400" b="1" dirty="0">
                <a:solidFill>
                  <a:srgbClr val="1A1F2E"/>
                </a:solidFill>
                <a:latin typeface="Calibri" pitchFamily="34" charset="0"/>
                <a:ea typeface="Calibri" pitchFamily="34" charset="-122"/>
                <a:cs typeface="Calibri" pitchFamily="34" charset="-120"/>
              </a:rPr>
              <a:t>Validate Under Realistic Conditions</a:t>
            </a:r>
            <a:r>
              <a:rPr lang="en-US" sz="1200" b="1" dirty="0">
                <a:solidFill>
                  <a:srgbClr val="2C8C5C"/>
                </a:solidFill>
                <a:latin typeface="Calibri" pitchFamily="34" charset="0"/>
                <a:ea typeface="Calibri" pitchFamily="34" charset="-122"/>
                <a:cs typeface="Calibri" pitchFamily="34" charset="-120"/>
              </a:rPr>
              <a:t>    ◐ PARTIALLY ACHIEVED</a:t>
            </a:r>
            <a:endParaRPr lang="en-US" sz="1400" dirty="0"/>
          </a:p>
        </p:txBody>
      </p:sp>
      <p:sp>
        <p:nvSpPr>
          <p:cNvPr id="18" name="Text 16"/>
          <p:cNvSpPr/>
          <p:nvPr/>
        </p:nvSpPr>
        <p:spPr>
          <a:xfrm>
            <a:off x="1463040" y="4343400"/>
            <a:ext cx="10058400" cy="502920"/>
          </a:xfrm>
          <a:prstGeom prst="rect">
            <a:avLst/>
          </a:prstGeom>
          <a:noFill/>
          <a:ln/>
        </p:spPr>
        <p:txBody>
          <a:bodyPr wrap="square" lIns="0" tIns="0" rIns="0" bIns="0" rtlCol="0" anchor="ctr"/>
          <a:lstStyle/>
          <a:p>
            <a:pPr marL="0" indent="0">
              <a:buNone/>
            </a:pPr>
            <a:r>
              <a:rPr lang="en-US" sz="1100" i="1" dirty="0">
                <a:solidFill>
                  <a:srgbClr val="5A6470"/>
                </a:solidFill>
                <a:latin typeface="Calibri" pitchFamily="34" charset="0"/>
                <a:ea typeface="Calibri" pitchFamily="34" charset="-122"/>
                <a:cs typeface="Calibri" pitchFamily="34" charset="-120"/>
              </a:rPr>
              <a:t>F1 = 0.422 grouped vs 0.399 chronological, temporally valid for all 18 projects. But the 600-run cap makes this short-horizon only.</a:t>
            </a:r>
            <a:endParaRPr lang="en-US" sz="1100" dirty="0"/>
          </a:p>
        </p:txBody>
      </p:sp>
      <p:sp>
        <p:nvSpPr>
          <p:cNvPr id="19" name="Shape 17"/>
          <p:cNvSpPr/>
          <p:nvPr/>
        </p:nvSpPr>
        <p:spPr>
          <a:xfrm>
            <a:off x="457200" y="5029200"/>
            <a:ext cx="11247120" cy="1051560"/>
          </a:xfrm>
          <a:prstGeom prst="rect">
            <a:avLst/>
          </a:prstGeom>
          <a:solidFill>
            <a:srgbClr val="F7F9FB"/>
          </a:solidFill>
          <a:ln w="12700">
            <a:solidFill>
              <a:srgbClr val="2C8C5C"/>
            </a:solidFill>
            <a:prstDash val="solid"/>
          </a:ln>
        </p:spPr>
        <p:txBody>
          <a:bodyPr/>
          <a:lstStyle/>
          <a:p>
            <a:endParaRPr lang="en-US"/>
          </a:p>
        </p:txBody>
      </p:sp>
      <p:sp>
        <p:nvSpPr>
          <p:cNvPr id="20" name="Shape 18"/>
          <p:cNvSpPr/>
          <p:nvPr/>
        </p:nvSpPr>
        <p:spPr>
          <a:xfrm>
            <a:off x="457200" y="5029200"/>
            <a:ext cx="822960" cy="1051560"/>
          </a:xfrm>
          <a:prstGeom prst="rect">
            <a:avLst/>
          </a:prstGeom>
          <a:solidFill>
            <a:srgbClr val="2C8C5C"/>
          </a:solidFill>
          <a:ln w="12700">
            <a:solidFill>
              <a:srgbClr val="2C8C5C"/>
            </a:solidFill>
            <a:prstDash val="solid"/>
          </a:ln>
        </p:spPr>
        <p:txBody>
          <a:bodyPr/>
          <a:lstStyle/>
          <a:p>
            <a:endParaRPr lang="en-US"/>
          </a:p>
        </p:txBody>
      </p:sp>
      <p:sp>
        <p:nvSpPr>
          <p:cNvPr id="21" name="Text 19"/>
          <p:cNvSpPr/>
          <p:nvPr/>
        </p:nvSpPr>
        <p:spPr>
          <a:xfrm>
            <a:off x="457200" y="5029200"/>
            <a:ext cx="822960" cy="105156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04</a:t>
            </a:r>
            <a:endParaRPr lang="en-US" sz="2800" dirty="0"/>
          </a:p>
        </p:txBody>
      </p:sp>
      <p:sp>
        <p:nvSpPr>
          <p:cNvPr id="22" name="Text 20"/>
          <p:cNvSpPr/>
          <p:nvPr/>
        </p:nvSpPr>
        <p:spPr>
          <a:xfrm>
            <a:off x="1463040" y="5120640"/>
            <a:ext cx="10058400" cy="365760"/>
          </a:xfrm>
          <a:prstGeom prst="rect">
            <a:avLst/>
          </a:prstGeom>
          <a:noFill/>
          <a:ln/>
        </p:spPr>
        <p:txBody>
          <a:bodyPr wrap="square" lIns="0" tIns="0" rIns="0" bIns="0" rtlCol="0" anchor="ctr"/>
          <a:lstStyle/>
          <a:p>
            <a:pPr marL="0" indent="0">
              <a:buNone/>
            </a:pPr>
            <a:r>
              <a:rPr lang="en-US" sz="1400" b="1" dirty="0">
                <a:solidFill>
                  <a:srgbClr val="1A1F2E"/>
                </a:solidFill>
                <a:latin typeface="Calibri" pitchFamily="34" charset="0"/>
                <a:ea typeface="Calibri" pitchFamily="34" charset="-122"/>
                <a:cs typeface="Calibri" pitchFamily="34" charset="-120"/>
              </a:rPr>
              <a:t>Quantify Business Impact</a:t>
            </a:r>
            <a:r>
              <a:rPr lang="en-US" sz="1200" b="1" dirty="0">
                <a:solidFill>
                  <a:srgbClr val="2C8C5C"/>
                </a:solidFill>
                <a:latin typeface="Calibri" pitchFamily="34" charset="0"/>
                <a:ea typeface="Calibri" pitchFamily="34" charset="-122"/>
                <a:cs typeface="Calibri" pitchFamily="34" charset="-120"/>
              </a:rPr>
              <a:t>    ✓ ACHIEVED</a:t>
            </a:r>
            <a:endParaRPr lang="en-US" sz="1400" dirty="0"/>
          </a:p>
        </p:txBody>
      </p:sp>
      <p:sp>
        <p:nvSpPr>
          <p:cNvPr id="23" name="Text 21"/>
          <p:cNvSpPr/>
          <p:nvPr/>
        </p:nvSpPr>
        <p:spPr>
          <a:xfrm>
            <a:off x="1463040" y="5532120"/>
            <a:ext cx="10058400" cy="502920"/>
          </a:xfrm>
          <a:prstGeom prst="rect">
            <a:avLst/>
          </a:prstGeom>
          <a:noFill/>
          <a:ln/>
        </p:spPr>
        <p:txBody>
          <a:bodyPr wrap="square" lIns="0" tIns="0" rIns="0" bIns="0" rtlCol="0" anchor="ctr"/>
          <a:lstStyle/>
          <a:p>
            <a:pPr marL="0" indent="0">
              <a:buNone/>
            </a:pPr>
            <a:r>
              <a:rPr lang="en-US" sz="1100" i="1" dirty="0">
                <a:solidFill>
                  <a:srgbClr val="5A6470"/>
                </a:solidFill>
                <a:latin typeface="Calibri" pitchFamily="34" charset="0"/>
                <a:ea typeface="Calibri" pitchFamily="34" charset="-122"/>
                <a:cs typeface="Calibri" pitchFamily="34" charset="-120"/>
              </a:rPr>
              <a:t>$243,670 annual net saving with documented assumptions, plus the break-even false-alarm cost at which it reaches zero.</a:t>
            </a:r>
            <a:endParaRPr lang="en-US" sz="1100" dirty="0"/>
          </a:p>
        </p:txBody>
      </p:sp>
      <p:sp>
        <p:nvSpPr>
          <p:cNvPr id="24" name="Text 22"/>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5" name="Text 23"/>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24 / 29</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Key Contributions</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What this thesis adds to the field</a:t>
            </a:r>
            <a:endParaRPr lang="en-US" sz="1400" dirty="0"/>
          </a:p>
        </p:txBody>
      </p:sp>
      <p:sp>
        <p:nvSpPr>
          <p:cNvPr id="4" name="Shape 2"/>
          <p:cNvSpPr/>
          <p:nvPr/>
        </p:nvSpPr>
        <p:spPr>
          <a:xfrm>
            <a:off x="457200" y="1463040"/>
            <a:ext cx="5486400" cy="1463040"/>
          </a:xfrm>
          <a:prstGeom prst="rect">
            <a:avLst/>
          </a:prstGeom>
          <a:solidFill>
            <a:srgbClr val="F7F9FB"/>
          </a:solidFill>
          <a:ln w="12700">
            <a:solidFill>
              <a:srgbClr val="065A82"/>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594360" y="1600200"/>
            <a:ext cx="731520" cy="731520"/>
          </a:xfrm>
          <a:prstGeom prst="rect">
            <a:avLst/>
          </a:prstGeom>
          <a:noFill/>
          <a:ln/>
        </p:spPr>
        <p:txBody>
          <a:bodyPr wrap="square" lIns="0" tIns="0" rIns="0" bIns="0" rtlCol="0" anchor="ctr"/>
          <a:lstStyle/>
          <a:p>
            <a:pPr marL="0" indent="0" algn="ctr">
              <a:buNone/>
            </a:pPr>
            <a:r>
              <a:rPr lang="en-US" sz="3600" dirty="0">
                <a:solidFill>
                  <a:srgbClr val="1A1F2E"/>
                </a:solidFill>
                <a:latin typeface="Calibri" pitchFamily="34" charset="0"/>
                <a:ea typeface="Calibri" pitchFamily="34" charset="-122"/>
                <a:cs typeface="Calibri" pitchFamily="34" charset="-120"/>
              </a:rPr>
              <a:t>📐</a:t>
            </a:r>
            <a:endParaRPr lang="en-US" sz="3600" dirty="0"/>
          </a:p>
        </p:txBody>
      </p:sp>
      <p:sp>
        <p:nvSpPr>
          <p:cNvPr id="6" name="Text 4"/>
          <p:cNvSpPr/>
          <p:nvPr/>
        </p:nvSpPr>
        <p:spPr>
          <a:xfrm>
            <a:off x="1417320" y="1645920"/>
            <a:ext cx="4434840" cy="41148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Pre-execution prediction protocol</a:t>
            </a:r>
            <a:endParaRPr lang="en-US" sz="1300" dirty="0"/>
          </a:p>
        </p:txBody>
      </p:sp>
      <p:sp>
        <p:nvSpPr>
          <p:cNvPr id="7" name="Text 5"/>
          <p:cNvSpPr/>
          <p:nvPr/>
        </p:nvSpPr>
        <p:spPr>
          <a:xfrm>
            <a:off x="1417320" y="2057400"/>
            <a:ext cx="4434840" cy="822960"/>
          </a:xfrm>
          <a:prstGeom prst="rect">
            <a:avLst/>
          </a:prstGeom>
          <a:noFill/>
          <a:ln/>
        </p:spPr>
        <p:txBody>
          <a:bodyPr wrap="square" lIns="0" tIns="0" rIns="0" bIns="0" rtlCol="0" anchor="ctr"/>
          <a:lstStyle/>
          <a:p>
            <a:pPr marL="0" indent="0">
              <a:buNone/>
            </a:pPr>
            <a:r>
              <a:rPr lang="en-US" sz="1050" dirty="0">
                <a:solidFill>
                  <a:srgbClr val="5A6470"/>
                </a:solidFill>
                <a:latin typeface="Calibri" pitchFamily="34" charset="0"/>
                <a:ea typeface="Calibri" pitchFamily="34" charset="-122"/>
                <a:cs typeface="Calibri" pitchFamily="34" charset="-120"/>
              </a:rPr>
              <a:t>Strict feature-set discipline that distinguishes this work from post-execution telemetry approaches (Patel 2019).</a:t>
            </a:r>
            <a:endParaRPr lang="en-US" sz="1050" dirty="0"/>
          </a:p>
        </p:txBody>
      </p:sp>
      <p:sp>
        <p:nvSpPr>
          <p:cNvPr id="8" name="Shape 6"/>
          <p:cNvSpPr/>
          <p:nvPr/>
        </p:nvSpPr>
        <p:spPr>
          <a:xfrm>
            <a:off x="6217920" y="1463040"/>
            <a:ext cx="5486400" cy="1463040"/>
          </a:xfrm>
          <a:prstGeom prst="rect">
            <a:avLst/>
          </a:prstGeom>
          <a:solidFill>
            <a:srgbClr val="F7F9FB"/>
          </a:solidFill>
          <a:ln w="12700">
            <a:solidFill>
              <a:srgbClr val="065A82"/>
            </a:solidFill>
            <a:prstDash val="solid"/>
          </a:ln>
          <a:effectLst>
            <a:outerShdw blurRad="50800" dist="12700" dir="5400000" algn="bl" rotWithShape="0">
              <a:srgbClr val="000000">
                <a:alpha val="6000"/>
              </a:srgbClr>
            </a:outerShdw>
          </a:effectLst>
        </p:spPr>
        <p:txBody>
          <a:bodyPr/>
          <a:lstStyle/>
          <a:p>
            <a:endParaRPr lang="en-US"/>
          </a:p>
        </p:txBody>
      </p:sp>
      <p:sp>
        <p:nvSpPr>
          <p:cNvPr id="9" name="Text 7"/>
          <p:cNvSpPr/>
          <p:nvPr/>
        </p:nvSpPr>
        <p:spPr>
          <a:xfrm>
            <a:off x="6355080" y="1600200"/>
            <a:ext cx="731520" cy="731520"/>
          </a:xfrm>
          <a:prstGeom prst="rect">
            <a:avLst/>
          </a:prstGeom>
          <a:noFill/>
          <a:ln/>
        </p:spPr>
        <p:txBody>
          <a:bodyPr wrap="square" lIns="0" tIns="0" rIns="0" bIns="0" rtlCol="0" anchor="ctr"/>
          <a:lstStyle/>
          <a:p>
            <a:pPr marL="0" indent="0" algn="ctr">
              <a:buNone/>
            </a:pPr>
            <a:r>
              <a:rPr lang="en-US" sz="3600" dirty="0">
                <a:solidFill>
                  <a:srgbClr val="1A1F2E"/>
                </a:solidFill>
                <a:latin typeface="Calibri" pitchFamily="34" charset="0"/>
                <a:ea typeface="Calibri" pitchFamily="34" charset="-122"/>
                <a:cs typeface="Calibri" pitchFamily="34" charset="-120"/>
              </a:rPr>
              <a:t>🧪</a:t>
            </a:r>
            <a:endParaRPr lang="en-US" sz="3600" dirty="0"/>
          </a:p>
        </p:txBody>
      </p:sp>
      <p:sp>
        <p:nvSpPr>
          <p:cNvPr id="10" name="Text 8"/>
          <p:cNvSpPr/>
          <p:nvPr/>
        </p:nvSpPr>
        <p:spPr>
          <a:xfrm>
            <a:off x="7178040" y="1645920"/>
            <a:ext cx="4434840" cy="41148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Ablation identifying what actually drives the model</a:t>
            </a:r>
            <a:endParaRPr lang="en-US" sz="1300" dirty="0"/>
          </a:p>
        </p:txBody>
      </p:sp>
      <p:sp>
        <p:nvSpPr>
          <p:cNvPr id="11" name="Text 9"/>
          <p:cNvSpPr/>
          <p:nvPr/>
        </p:nvSpPr>
        <p:spPr>
          <a:xfrm>
            <a:off x="7178040" y="2057400"/>
            <a:ext cx="4434840" cy="822960"/>
          </a:xfrm>
          <a:prstGeom prst="rect">
            <a:avLst/>
          </a:prstGeom>
          <a:noFill/>
          <a:ln/>
        </p:spPr>
        <p:txBody>
          <a:bodyPr wrap="square" lIns="0" tIns="0" rIns="0" bIns="0" rtlCol="0" anchor="ctr"/>
          <a:lstStyle/>
          <a:p>
            <a:pPr marL="0" indent="0">
              <a:buNone/>
            </a:pPr>
            <a:r>
              <a:rPr lang="en-US" sz="1050" dirty="0">
                <a:solidFill>
                  <a:srgbClr val="5A6470"/>
                </a:solidFill>
                <a:latin typeface="Calibri" pitchFamily="34" charset="0"/>
                <a:ea typeface="Calibri" pitchFamily="34" charset="-122"/>
                <a:cs typeface="Calibri" pitchFamily="34" charset="-120"/>
              </a:rPr>
              <a:t>Categorical identity alone outperforms the full hybrid. The system is a project-level risk estimator, and this is reported rather than obscured.</a:t>
            </a:r>
            <a:endParaRPr lang="en-US" sz="1050" dirty="0"/>
          </a:p>
        </p:txBody>
      </p:sp>
      <p:sp>
        <p:nvSpPr>
          <p:cNvPr id="12" name="Shape 10"/>
          <p:cNvSpPr/>
          <p:nvPr/>
        </p:nvSpPr>
        <p:spPr>
          <a:xfrm>
            <a:off x="457200" y="3090672"/>
            <a:ext cx="5486400" cy="1463040"/>
          </a:xfrm>
          <a:prstGeom prst="rect">
            <a:avLst/>
          </a:prstGeom>
          <a:solidFill>
            <a:srgbClr val="F7F9FB"/>
          </a:solidFill>
          <a:ln w="12700">
            <a:solidFill>
              <a:srgbClr val="065A82"/>
            </a:solidFill>
            <a:prstDash val="solid"/>
          </a:ln>
          <a:effectLst>
            <a:outerShdw blurRad="50800" dist="12700" dir="5400000" algn="bl" rotWithShape="0">
              <a:srgbClr val="000000">
                <a:alpha val="6000"/>
              </a:srgbClr>
            </a:outerShdw>
          </a:effectLst>
        </p:spPr>
        <p:txBody>
          <a:bodyPr/>
          <a:lstStyle/>
          <a:p>
            <a:endParaRPr lang="en-US"/>
          </a:p>
        </p:txBody>
      </p:sp>
      <p:sp>
        <p:nvSpPr>
          <p:cNvPr id="13" name="Text 11"/>
          <p:cNvSpPr/>
          <p:nvPr/>
        </p:nvSpPr>
        <p:spPr>
          <a:xfrm>
            <a:off x="594360" y="3227832"/>
            <a:ext cx="731520" cy="731520"/>
          </a:xfrm>
          <a:prstGeom prst="rect">
            <a:avLst/>
          </a:prstGeom>
          <a:noFill/>
          <a:ln/>
        </p:spPr>
        <p:txBody>
          <a:bodyPr wrap="square" lIns="0" tIns="0" rIns="0" bIns="0" rtlCol="0" anchor="ctr"/>
          <a:lstStyle/>
          <a:p>
            <a:pPr marL="0" indent="0" algn="ctr">
              <a:buNone/>
            </a:pPr>
            <a:r>
              <a:rPr lang="en-US" sz="3600" dirty="0">
                <a:solidFill>
                  <a:srgbClr val="1A1F2E"/>
                </a:solidFill>
                <a:latin typeface="Calibri" pitchFamily="34" charset="0"/>
                <a:ea typeface="Calibri" pitchFamily="34" charset="-122"/>
                <a:cs typeface="Calibri" pitchFamily="34" charset="-120"/>
              </a:rPr>
              <a:t>🎯</a:t>
            </a:r>
            <a:endParaRPr lang="en-US" sz="3600" dirty="0"/>
          </a:p>
        </p:txBody>
      </p:sp>
      <p:sp>
        <p:nvSpPr>
          <p:cNvPr id="14" name="Text 12"/>
          <p:cNvSpPr/>
          <p:nvPr/>
        </p:nvSpPr>
        <p:spPr>
          <a:xfrm>
            <a:off x="1417320" y="3273552"/>
            <a:ext cx="4434840" cy="41148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A measured account of two evaluation defects</a:t>
            </a:r>
            <a:endParaRPr lang="en-US" sz="1300" dirty="0"/>
          </a:p>
        </p:txBody>
      </p:sp>
      <p:sp>
        <p:nvSpPr>
          <p:cNvPr id="15" name="Text 13"/>
          <p:cNvSpPr/>
          <p:nvPr/>
        </p:nvSpPr>
        <p:spPr>
          <a:xfrm>
            <a:off x="1417320" y="3685032"/>
            <a:ext cx="4434840" cy="822960"/>
          </a:xfrm>
          <a:prstGeom prst="rect">
            <a:avLst/>
          </a:prstGeom>
          <a:noFill/>
          <a:ln/>
        </p:spPr>
        <p:txBody>
          <a:bodyPr wrap="square" lIns="0" tIns="0" rIns="0" bIns="0" rtlCol="0" anchor="ctr"/>
          <a:lstStyle/>
          <a:p>
            <a:pPr marL="0" indent="0">
              <a:buNone/>
            </a:pPr>
            <a:r>
              <a:rPr lang="en-US" sz="1050" dirty="0">
                <a:solidFill>
                  <a:srgbClr val="5A6470"/>
                </a:solidFill>
                <a:latin typeface="Calibri" pitchFamily="34" charset="0"/>
                <a:ea typeface="Calibri" pitchFamily="34" charset="-122"/>
                <a:cs typeface="Calibri" pitchFamily="34" charset="-120"/>
              </a:rPr>
              <a:t>Commit leakage cost 0.060 of F1 and test-set threshold selection cost 0.126 — isolated under otherwise identical conditions.</a:t>
            </a:r>
            <a:endParaRPr lang="en-US" sz="1050" dirty="0"/>
          </a:p>
        </p:txBody>
      </p:sp>
      <p:sp>
        <p:nvSpPr>
          <p:cNvPr id="16" name="Shape 14"/>
          <p:cNvSpPr/>
          <p:nvPr/>
        </p:nvSpPr>
        <p:spPr>
          <a:xfrm>
            <a:off x="6217920" y="3090672"/>
            <a:ext cx="5486400" cy="1463040"/>
          </a:xfrm>
          <a:prstGeom prst="rect">
            <a:avLst/>
          </a:prstGeom>
          <a:solidFill>
            <a:srgbClr val="F7F9FB"/>
          </a:solidFill>
          <a:ln w="12700">
            <a:solidFill>
              <a:srgbClr val="065A82"/>
            </a:solidFill>
            <a:prstDash val="solid"/>
          </a:ln>
          <a:effectLst>
            <a:outerShdw blurRad="50800" dist="12700" dir="5400000" algn="bl" rotWithShape="0">
              <a:srgbClr val="000000">
                <a:alpha val="6000"/>
              </a:srgbClr>
            </a:outerShdw>
          </a:effectLst>
        </p:spPr>
        <p:txBody>
          <a:bodyPr/>
          <a:lstStyle/>
          <a:p>
            <a:endParaRPr lang="en-US"/>
          </a:p>
        </p:txBody>
      </p:sp>
      <p:sp>
        <p:nvSpPr>
          <p:cNvPr id="17" name="Text 15"/>
          <p:cNvSpPr/>
          <p:nvPr/>
        </p:nvSpPr>
        <p:spPr>
          <a:xfrm>
            <a:off x="6355080" y="3227832"/>
            <a:ext cx="731520" cy="731520"/>
          </a:xfrm>
          <a:prstGeom prst="rect">
            <a:avLst/>
          </a:prstGeom>
          <a:noFill/>
          <a:ln/>
        </p:spPr>
        <p:txBody>
          <a:bodyPr wrap="square" lIns="0" tIns="0" rIns="0" bIns="0" rtlCol="0" anchor="ctr"/>
          <a:lstStyle/>
          <a:p>
            <a:pPr marL="0" indent="0" algn="ctr">
              <a:buNone/>
            </a:pPr>
            <a:r>
              <a:rPr lang="en-US" sz="3600" dirty="0">
                <a:solidFill>
                  <a:srgbClr val="1A1F2E"/>
                </a:solidFill>
                <a:latin typeface="Calibri" pitchFamily="34" charset="0"/>
                <a:ea typeface="Calibri" pitchFamily="34" charset="-122"/>
                <a:cs typeface="Calibri" pitchFamily="34" charset="-120"/>
              </a:rPr>
              <a:t>🛡️</a:t>
            </a:r>
            <a:endParaRPr lang="en-US" sz="3600" dirty="0"/>
          </a:p>
        </p:txBody>
      </p:sp>
      <p:sp>
        <p:nvSpPr>
          <p:cNvPr id="18" name="Text 16"/>
          <p:cNvSpPr/>
          <p:nvPr/>
        </p:nvSpPr>
        <p:spPr>
          <a:xfrm>
            <a:off x="7178040" y="3273552"/>
            <a:ext cx="4434840" cy="41148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Identity-leakage defense for TF-IDF</a:t>
            </a:r>
            <a:endParaRPr lang="en-US" sz="1300" dirty="0"/>
          </a:p>
        </p:txBody>
      </p:sp>
      <p:sp>
        <p:nvSpPr>
          <p:cNvPr id="19" name="Text 17"/>
          <p:cNvSpPr/>
          <p:nvPr/>
        </p:nvSpPr>
        <p:spPr>
          <a:xfrm>
            <a:off x="7178040" y="3685032"/>
            <a:ext cx="4434840" cy="822960"/>
          </a:xfrm>
          <a:prstGeom prst="rect">
            <a:avLst/>
          </a:prstGeom>
          <a:noFill/>
          <a:ln/>
        </p:spPr>
        <p:txBody>
          <a:bodyPr wrap="square" lIns="0" tIns="0" rIns="0" bIns="0" rtlCol="0" anchor="ctr"/>
          <a:lstStyle/>
          <a:p>
            <a:pPr marL="0" indent="0">
              <a:buNone/>
            </a:pPr>
            <a:r>
              <a:rPr lang="en-US" sz="1050" dirty="0">
                <a:solidFill>
                  <a:srgbClr val="5A6470"/>
                </a:solidFill>
                <a:latin typeface="Calibri" pitchFamily="34" charset="0"/>
                <a:ea typeface="Calibri" pitchFamily="34" charset="-122"/>
                <a:cs typeface="Calibri" pitchFamily="34" charset="-120"/>
              </a:rPr>
              <a:t>693-token stoplist algorithm that prevents the vectorizer from learning author/repo identifiers.</a:t>
            </a:r>
            <a:endParaRPr lang="en-US" sz="1050" dirty="0"/>
          </a:p>
        </p:txBody>
      </p:sp>
      <p:sp>
        <p:nvSpPr>
          <p:cNvPr id="20" name="Shape 18"/>
          <p:cNvSpPr/>
          <p:nvPr/>
        </p:nvSpPr>
        <p:spPr>
          <a:xfrm>
            <a:off x="457200" y="4718304"/>
            <a:ext cx="5486400" cy="1463040"/>
          </a:xfrm>
          <a:prstGeom prst="rect">
            <a:avLst/>
          </a:prstGeom>
          <a:solidFill>
            <a:srgbClr val="F7F9FB"/>
          </a:solidFill>
          <a:ln w="12700">
            <a:solidFill>
              <a:srgbClr val="065A82"/>
            </a:solidFill>
            <a:prstDash val="solid"/>
          </a:ln>
          <a:effectLst>
            <a:outerShdw blurRad="50800" dist="12700" dir="5400000" algn="bl" rotWithShape="0">
              <a:srgbClr val="000000">
                <a:alpha val="6000"/>
              </a:srgbClr>
            </a:outerShdw>
          </a:effectLst>
        </p:spPr>
        <p:txBody>
          <a:bodyPr/>
          <a:lstStyle/>
          <a:p>
            <a:endParaRPr lang="en-US"/>
          </a:p>
        </p:txBody>
      </p:sp>
      <p:sp>
        <p:nvSpPr>
          <p:cNvPr id="21" name="Text 19"/>
          <p:cNvSpPr/>
          <p:nvPr/>
        </p:nvSpPr>
        <p:spPr>
          <a:xfrm>
            <a:off x="594360" y="4855464"/>
            <a:ext cx="731520" cy="731520"/>
          </a:xfrm>
          <a:prstGeom prst="rect">
            <a:avLst/>
          </a:prstGeom>
          <a:noFill/>
          <a:ln/>
        </p:spPr>
        <p:txBody>
          <a:bodyPr wrap="square" lIns="0" tIns="0" rIns="0" bIns="0" rtlCol="0" anchor="ctr"/>
          <a:lstStyle/>
          <a:p>
            <a:pPr marL="0" indent="0" algn="ctr">
              <a:buNone/>
            </a:pPr>
            <a:r>
              <a:rPr lang="en-US" sz="3600" dirty="0">
                <a:solidFill>
                  <a:srgbClr val="1A1F2E"/>
                </a:solidFill>
                <a:latin typeface="Calibri" pitchFamily="34" charset="0"/>
                <a:ea typeface="Calibri" pitchFamily="34" charset="-122"/>
                <a:cs typeface="Calibri" pitchFamily="34" charset="-120"/>
              </a:rPr>
              <a:t>🔁</a:t>
            </a:r>
            <a:endParaRPr lang="en-US" sz="3600" dirty="0"/>
          </a:p>
        </p:txBody>
      </p:sp>
      <p:sp>
        <p:nvSpPr>
          <p:cNvPr id="22" name="Text 20"/>
          <p:cNvSpPr/>
          <p:nvPr/>
        </p:nvSpPr>
        <p:spPr>
          <a:xfrm>
            <a:off x="1417320" y="4901184"/>
            <a:ext cx="4434840" cy="41148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Full reproducibility</a:t>
            </a:r>
            <a:endParaRPr lang="en-US" sz="1300" dirty="0"/>
          </a:p>
        </p:txBody>
      </p:sp>
      <p:sp>
        <p:nvSpPr>
          <p:cNvPr id="23" name="Text 21"/>
          <p:cNvSpPr/>
          <p:nvPr/>
        </p:nvSpPr>
        <p:spPr>
          <a:xfrm>
            <a:off x="1417320" y="5312664"/>
            <a:ext cx="4434840" cy="822960"/>
          </a:xfrm>
          <a:prstGeom prst="rect">
            <a:avLst/>
          </a:prstGeom>
          <a:noFill/>
          <a:ln/>
        </p:spPr>
        <p:txBody>
          <a:bodyPr wrap="square" lIns="0" tIns="0" rIns="0" bIns="0" rtlCol="0" anchor="ctr"/>
          <a:lstStyle/>
          <a:p>
            <a:pPr marL="0" indent="0">
              <a:buNone/>
            </a:pPr>
            <a:r>
              <a:rPr lang="en-US" sz="1050" dirty="0">
                <a:solidFill>
                  <a:srgbClr val="5A6470"/>
                </a:solidFill>
                <a:latin typeface="Calibri" pitchFamily="34" charset="0"/>
                <a:ea typeface="Calibri" pitchFamily="34" charset="-122"/>
                <a:cs typeface="Calibri" pitchFamily="34" charset="-120"/>
              </a:rPr>
              <a:t>Fixed seed, pinned versions, every artefact committed. One command reproduces every reported number in about three minutes.</a:t>
            </a:r>
            <a:endParaRPr lang="en-US" sz="1050" dirty="0"/>
          </a:p>
        </p:txBody>
      </p:sp>
      <p:sp>
        <p:nvSpPr>
          <p:cNvPr id="24" name="Shape 22"/>
          <p:cNvSpPr/>
          <p:nvPr/>
        </p:nvSpPr>
        <p:spPr>
          <a:xfrm>
            <a:off x="6217920" y="4718304"/>
            <a:ext cx="5486400" cy="1463040"/>
          </a:xfrm>
          <a:prstGeom prst="rect">
            <a:avLst/>
          </a:prstGeom>
          <a:solidFill>
            <a:srgbClr val="F7F9FB"/>
          </a:solidFill>
          <a:ln w="12700">
            <a:solidFill>
              <a:srgbClr val="065A82"/>
            </a:solidFill>
            <a:prstDash val="solid"/>
          </a:ln>
          <a:effectLst>
            <a:outerShdw blurRad="50800" dist="12700" dir="5400000" algn="bl" rotWithShape="0">
              <a:srgbClr val="000000">
                <a:alpha val="6000"/>
              </a:srgbClr>
            </a:outerShdw>
          </a:effectLst>
        </p:spPr>
        <p:txBody>
          <a:bodyPr/>
          <a:lstStyle/>
          <a:p>
            <a:endParaRPr lang="en-US"/>
          </a:p>
        </p:txBody>
      </p:sp>
      <p:sp>
        <p:nvSpPr>
          <p:cNvPr id="25" name="Text 23"/>
          <p:cNvSpPr/>
          <p:nvPr/>
        </p:nvSpPr>
        <p:spPr>
          <a:xfrm>
            <a:off x="6355080" y="4855464"/>
            <a:ext cx="731520" cy="731520"/>
          </a:xfrm>
          <a:prstGeom prst="rect">
            <a:avLst/>
          </a:prstGeom>
          <a:noFill/>
          <a:ln/>
        </p:spPr>
        <p:txBody>
          <a:bodyPr wrap="square" lIns="0" tIns="0" rIns="0" bIns="0" rtlCol="0" anchor="ctr"/>
          <a:lstStyle/>
          <a:p>
            <a:pPr marL="0" indent="0" algn="ctr">
              <a:buNone/>
            </a:pPr>
            <a:r>
              <a:rPr lang="en-US" sz="3600" dirty="0">
                <a:solidFill>
                  <a:srgbClr val="1A1F2E"/>
                </a:solidFill>
                <a:latin typeface="Calibri" pitchFamily="34" charset="0"/>
                <a:ea typeface="Calibri" pitchFamily="34" charset="-122"/>
                <a:cs typeface="Calibri" pitchFamily="34" charset="-120"/>
              </a:rPr>
              <a:t>💰</a:t>
            </a:r>
            <a:endParaRPr lang="en-US" sz="3600" dirty="0"/>
          </a:p>
        </p:txBody>
      </p:sp>
      <p:sp>
        <p:nvSpPr>
          <p:cNvPr id="26" name="Text 24"/>
          <p:cNvSpPr/>
          <p:nvPr/>
        </p:nvSpPr>
        <p:spPr>
          <a:xfrm>
            <a:off x="7178040" y="4901184"/>
            <a:ext cx="4434840" cy="41148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Business-impact translation</a:t>
            </a:r>
            <a:endParaRPr lang="en-US" sz="1300" dirty="0"/>
          </a:p>
        </p:txBody>
      </p:sp>
      <p:sp>
        <p:nvSpPr>
          <p:cNvPr id="27" name="Text 25"/>
          <p:cNvSpPr/>
          <p:nvPr/>
        </p:nvSpPr>
        <p:spPr>
          <a:xfrm>
            <a:off x="7178040" y="5312664"/>
            <a:ext cx="4434840" cy="822960"/>
          </a:xfrm>
          <a:prstGeom prst="rect">
            <a:avLst/>
          </a:prstGeom>
          <a:noFill/>
          <a:ln/>
        </p:spPr>
        <p:txBody>
          <a:bodyPr wrap="square" lIns="0" tIns="0" rIns="0" bIns="0" rtlCol="0" anchor="ctr"/>
          <a:lstStyle/>
          <a:p>
            <a:pPr marL="0" indent="0">
              <a:buNone/>
            </a:pPr>
            <a:r>
              <a:rPr lang="en-US" sz="1050" dirty="0">
                <a:solidFill>
                  <a:srgbClr val="5A6470"/>
                </a:solidFill>
                <a:latin typeface="Calibri" pitchFamily="34" charset="0"/>
                <a:ea typeface="Calibri" pitchFamily="34" charset="-122"/>
                <a:cs typeface="Calibri" pitchFamily="34" charset="-120"/>
              </a:rPr>
              <a:t>Precision and recall converted to dollars under explicit assumptions, reported with the break-even cost at which the saving vanishes.</a:t>
            </a:r>
            <a:endParaRPr lang="en-US" sz="1050" dirty="0"/>
          </a:p>
        </p:txBody>
      </p:sp>
      <p:sp>
        <p:nvSpPr>
          <p:cNvPr id="28" name="Text 26"/>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9" name="Text 27"/>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25 / 29</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Honest Limitations</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What this work doesn't claim — and why that's important</a:t>
            </a:r>
            <a:endParaRPr lang="en-US" sz="1400" dirty="0"/>
          </a:p>
        </p:txBody>
      </p:sp>
      <p:sp>
        <p:nvSpPr>
          <p:cNvPr id="4" name="Shape 2"/>
          <p:cNvSpPr/>
          <p:nvPr/>
        </p:nvSpPr>
        <p:spPr>
          <a:xfrm>
            <a:off x="457200" y="1463040"/>
            <a:ext cx="5486400" cy="1463040"/>
          </a:xfrm>
          <a:prstGeom prst="rect">
            <a:avLst/>
          </a:prstGeom>
          <a:solidFill>
            <a:srgbClr val="FFF6E6"/>
          </a:solidFill>
          <a:ln w="12700">
            <a:solidFill>
              <a:srgbClr val="D4922A"/>
            </a:solidFill>
            <a:prstDash val="solid"/>
          </a:ln>
        </p:spPr>
        <p:txBody>
          <a:bodyPr/>
          <a:lstStyle/>
          <a:p>
            <a:endParaRPr lang="en-US"/>
          </a:p>
        </p:txBody>
      </p:sp>
      <p:sp>
        <p:nvSpPr>
          <p:cNvPr id="5" name="Shape 3"/>
          <p:cNvSpPr/>
          <p:nvPr/>
        </p:nvSpPr>
        <p:spPr>
          <a:xfrm>
            <a:off x="457200" y="1463040"/>
            <a:ext cx="137160" cy="1463040"/>
          </a:xfrm>
          <a:prstGeom prst="rect">
            <a:avLst/>
          </a:prstGeom>
          <a:solidFill>
            <a:srgbClr val="D4922A"/>
          </a:solidFill>
          <a:ln w="12700">
            <a:solidFill>
              <a:srgbClr val="D4922A"/>
            </a:solidFill>
            <a:prstDash val="solid"/>
          </a:ln>
        </p:spPr>
        <p:txBody>
          <a:bodyPr/>
          <a:lstStyle/>
          <a:p>
            <a:endParaRPr lang="en-US"/>
          </a:p>
        </p:txBody>
      </p:sp>
      <p:sp>
        <p:nvSpPr>
          <p:cNvPr id="6" name="Text 4"/>
          <p:cNvSpPr/>
          <p:nvPr/>
        </p:nvSpPr>
        <p:spPr>
          <a:xfrm>
            <a:off x="777240" y="1645920"/>
            <a:ext cx="5029200" cy="365760"/>
          </a:xfrm>
          <a:prstGeom prst="rect">
            <a:avLst/>
          </a:prstGeom>
          <a:noFill/>
          <a:ln/>
        </p:spPr>
        <p:txBody>
          <a:bodyPr wrap="square" lIns="0" tIns="0" rIns="0" bIns="0" rtlCol="0" anchor="ctr"/>
          <a:lstStyle/>
          <a:p>
            <a:pPr marL="0" indent="0">
              <a:buNone/>
            </a:pPr>
            <a:r>
              <a:rPr lang="en-US" sz="1400" b="1" dirty="0">
                <a:solidFill>
                  <a:srgbClr val="D4922A"/>
                </a:solidFill>
                <a:latin typeface="Calibri" pitchFamily="34" charset="0"/>
                <a:ea typeface="Calibri" pitchFamily="34" charset="-122"/>
                <a:cs typeface="Calibri" pitchFamily="34" charset="-120"/>
              </a:rPr>
              <a:t>Dataset scale</a:t>
            </a:r>
            <a:endParaRPr lang="en-US" sz="1400" dirty="0"/>
          </a:p>
        </p:txBody>
      </p:sp>
      <p:sp>
        <p:nvSpPr>
          <p:cNvPr id="7" name="Text 5"/>
          <p:cNvSpPr/>
          <p:nvPr/>
        </p:nvSpPr>
        <p:spPr>
          <a:xfrm>
            <a:off x="777240" y="2057400"/>
            <a:ext cx="5029200" cy="822960"/>
          </a:xfrm>
          <a:prstGeom prst="rect">
            <a:avLst/>
          </a:prstGeom>
          <a:noFill/>
          <a:ln/>
        </p:spPr>
        <p:txBody>
          <a:bodyPr wrap="square" lIns="0" tIns="0" rIns="0" bIns="0" rtlCol="0" anchor="ctr"/>
          <a:lstStyle/>
          <a:p>
            <a:pPr marL="0" indent="0">
              <a:buNone/>
            </a:pPr>
            <a:r>
              <a:rPr lang="en-US" sz="1100" dirty="0">
                <a:solidFill>
                  <a:srgbClr val="1A1F2E"/>
                </a:solidFill>
                <a:latin typeface="Calibri" pitchFamily="34" charset="0"/>
                <a:ea typeface="Calibri" pitchFamily="34" charset="-122"/>
                <a:cs typeface="Calibri" pitchFamily="34" charset="-120"/>
              </a:rPr>
              <a:t>9,772 runs from 18 projects. Larger samples would tighten the confidence intervals; the spread across folds is currently ±0.06 of F1.</a:t>
            </a:r>
            <a:endParaRPr lang="en-US" sz="1100" dirty="0"/>
          </a:p>
        </p:txBody>
      </p:sp>
      <p:sp>
        <p:nvSpPr>
          <p:cNvPr id="8" name="Shape 6"/>
          <p:cNvSpPr/>
          <p:nvPr/>
        </p:nvSpPr>
        <p:spPr>
          <a:xfrm>
            <a:off x="6217920" y="1463040"/>
            <a:ext cx="5486400" cy="1463040"/>
          </a:xfrm>
          <a:prstGeom prst="rect">
            <a:avLst/>
          </a:prstGeom>
          <a:solidFill>
            <a:srgbClr val="FFF6E6"/>
          </a:solidFill>
          <a:ln w="12700">
            <a:solidFill>
              <a:srgbClr val="D4922A"/>
            </a:solidFill>
            <a:prstDash val="solid"/>
          </a:ln>
        </p:spPr>
        <p:txBody>
          <a:bodyPr/>
          <a:lstStyle/>
          <a:p>
            <a:endParaRPr lang="en-US"/>
          </a:p>
        </p:txBody>
      </p:sp>
      <p:sp>
        <p:nvSpPr>
          <p:cNvPr id="9" name="Shape 7"/>
          <p:cNvSpPr/>
          <p:nvPr/>
        </p:nvSpPr>
        <p:spPr>
          <a:xfrm>
            <a:off x="6217920" y="1463040"/>
            <a:ext cx="137160" cy="1463040"/>
          </a:xfrm>
          <a:prstGeom prst="rect">
            <a:avLst/>
          </a:prstGeom>
          <a:solidFill>
            <a:srgbClr val="D4922A"/>
          </a:solidFill>
          <a:ln w="12700">
            <a:solidFill>
              <a:srgbClr val="D4922A"/>
            </a:solidFill>
            <a:prstDash val="solid"/>
          </a:ln>
        </p:spPr>
        <p:txBody>
          <a:bodyPr/>
          <a:lstStyle/>
          <a:p>
            <a:endParaRPr lang="en-US"/>
          </a:p>
        </p:txBody>
      </p:sp>
      <p:sp>
        <p:nvSpPr>
          <p:cNvPr id="10" name="Text 8"/>
          <p:cNvSpPr/>
          <p:nvPr/>
        </p:nvSpPr>
        <p:spPr>
          <a:xfrm>
            <a:off x="6537960" y="1645920"/>
            <a:ext cx="5029200" cy="365760"/>
          </a:xfrm>
          <a:prstGeom prst="rect">
            <a:avLst/>
          </a:prstGeom>
          <a:noFill/>
          <a:ln/>
        </p:spPr>
        <p:txBody>
          <a:bodyPr wrap="square" lIns="0" tIns="0" rIns="0" bIns="0" rtlCol="0" anchor="ctr"/>
          <a:lstStyle/>
          <a:p>
            <a:pPr marL="0" indent="0">
              <a:buNone/>
            </a:pPr>
            <a:r>
              <a:rPr lang="en-US" sz="1400" b="1" dirty="0">
                <a:solidFill>
                  <a:srgbClr val="D4922A"/>
                </a:solidFill>
                <a:latin typeface="Calibri" pitchFamily="34" charset="0"/>
                <a:ea typeface="Calibri" pitchFamily="34" charset="-122"/>
                <a:cs typeface="Calibri" pitchFamily="34" charset="-120"/>
              </a:rPr>
              <a:t>Open-source bias</a:t>
            </a:r>
            <a:endParaRPr lang="en-US" sz="1400" dirty="0"/>
          </a:p>
        </p:txBody>
      </p:sp>
      <p:sp>
        <p:nvSpPr>
          <p:cNvPr id="11" name="Text 9"/>
          <p:cNvSpPr/>
          <p:nvPr/>
        </p:nvSpPr>
        <p:spPr>
          <a:xfrm>
            <a:off x="6537960" y="2057400"/>
            <a:ext cx="5029200" cy="822960"/>
          </a:xfrm>
          <a:prstGeom prst="rect">
            <a:avLst/>
          </a:prstGeom>
          <a:noFill/>
          <a:ln/>
        </p:spPr>
        <p:txBody>
          <a:bodyPr wrap="square" lIns="0" tIns="0" rIns="0" bIns="0" rtlCol="0" anchor="ctr"/>
          <a:lstStyle/>
          <a:p>
            <a:pPr marL="0" indent="0">
              <a:buNone/>
            </a:pPr>
            <a:r>
              <a:rPr lang="en-US" sz="1100" dirty="0">
                <a:solidFill>
                  <a:srgbClr val="1A1F2E"/>
                </a:solidFill>
                <a:latin typeface="Calibri" pitchFamily="34" charset="0"/>
                <a:ea typeface="Calibri" pitchFamily="34" charset="-122"/>
                <a:cs typeface="Calibri" pitchFamily="34" charset="-120"/>
              </a:rPr>
              <a:t>Corporate CI/CD environments differ in commit cadence, branch policy, and tooling. Transfer is unverified.</a:t>
            </a:r>
            <a:endParaRPr lang="en-US" sz="1100" dirty="0"/>
          </a:p>
        </p:txBody>
      </p:sp>
      <p:sp>
        <p:nvSpPr>
          <p:cNvPr id="12" name="Shape 10"/>
          <p:cNvSpPr/>
          <p:nvPr/>
        </p:nvSpPr>
        <p:spPr>
          <a:xfrm>
            <a:off x="457200" y="3090672"/>
            <a:ext cx="5486400" cy="1463040"/>
          </a:xfrm>
          <a:prstGeom prst="rect">
            <a:avLst/>
          </a:prstGeom>
          <a:solidFill>
            <a:srgbClr val="FFF6E6"/>
          </a:solidFill>
          <a:ln w="12700">
            <a:solidFill>
              <a:srgbClr val="D4922A"/>
            </a:solidFill>
            <a:prstDash val="solid"/>
          </a:ln>
        </p:spPr>
        <p:txBody>
          <a:bodyPr/>
          <a:lstStyle/>
          <a:p>
            <a:endParaRPr lang="en-US"/>
          </a:p>
        </p:txBody>
      </p:sp>
      <p:sp>
        <p:nvSpPr>
          <p:cNvPr id="13" name="Shape 11"/>
          <p:cNvSpPr/>
          <p:nvPr/>
        </p:nvSpPr>
        <p:spPr>
          <a:xfrm>
            <a:off x="457200" y="3090672"/>
            <a:ext cx="137160" cy="1463040"/>
          </a:xfrm>
          <a:prstGeom prst="rect">
            <a:avLst/>
          </a:prstGeom>
          <a:solidFill>
            <a:srgbClr val="D4922A"/>
          </a:solidFill>
          <a:ln w="12700">
            <a:solidFill>
              <a:srgbClr val="D4922A"/>
            </a:solidFill>
            <a:prstDash val="solid"/>
          </a:ln>
        </p:spPr>
        <p:txBody>
          <a:bodyPr/>
          <a:lstStyle/>
          <a:p>
            <a:endParaRPr lang="en-US"/>
          </a:p>
        </p:txBody>
      </p:sp>
      <p:sp>
        <p:nvSpPr>
          <p:cNvPr id="14" name="Text 12"/>
          <p:cNvSpPr/>
          <p:nvPr/>
        </p:nvSpPr>
        <p:spPr>
          <a:xfrm>
            <a:off x="777240" y="3273552"/>
            <a:ext cx="5029200" cy="365760"/>
          </a:xfrm>
          <a:prstGeom prst="rect">
            <a:avLst/>
          </a:prstGeom>
          <a:noFill/>
          <a:ln/>
        </p:spPr>
        <p:txBody>
          <a:bodyPr wrap="square" lIns="0" tIns="0" rIns="0" bIns="0" rtlCol="0" anchor="ctr"/>
          <a:lstStyle/>
          <a:p>
            <a:pPr marL="0" indent="0">
              <a:buNone/>
            </a:pPr>
            <a:r>
              <a:rPr lang="en-US" sz="1400" b="1" dirty="0">
                <a:solidFill>
                  <a:srgbClr val="D4922A"/>
                </a:solidFill>
                <a:latin typeface="Calibri" pitchFamily="34" charset="0"/>
                <a:ea typeface="Calibri" pitchFamily="34" charset="-122"/>
                <a:cs typeface="Calibri" pitchFamily="34" charset="-120"/>
              </a:rPr>
              <a:t>TF-IDF text representation</a:t>
            </a:r>
            <a:endParaRPr lang="en-US" sz="1400" dirty="0"/>
          </a:p>
        </p:txBody>
      </p:sp>
      <p:sp>
        <p:nvSpPr>
          <p:cNvPr id="15" name="Text 13"/>
          <p:cNvSpPr/>
          <p:nvPr/>
        </p:nvSpPr>
        <p:spPr>
          <a:xfrm>
            <a:off x="777240" y="3685032"/>
            <a:ext cx="5029200" cy="822960"/>
          </a:xfrm>
          <a:prstGeom prst="rect">
            <a:avLst/>
          </a:prstGeom>
          <a:noFill/>
          <a:ln/>
        </p:spPr>
        <p:txBody>
          <a:bodyPr wrap="square" lIns="0" tIns="0" rIns="0" bIns="0" rtlCol="0" anchor="ctr"/>
          <a:lstStyle/>
          <a:p>
            <a:pPr marL="0" indent="0">
              <a:buNone/>
            </a:pPr>
            <a:r>
              <a:rPr lang="en-US" sz="1100" dirty="0">
                <a:solidFill>
                  <a:srgbClr val="1A1F2E"/>
                </a:solidFill>
                <a:latin typeface="Calibri" pitchFamily="34" charset="0"/>
                <a:ea typeface="Calibri" pitchFamily="34" charset="-122"/>
                <a:cs typeface="Calibri" pitchFamily="34" charset="-120"/>
              </a:rPr>
              <a:t>Lexical-overlap encoding misses semantic similarity — though the ablation shows text contributes almost nothing regardless.</a:t>
            </a:r>
            <a:endParaRPr lang="en-US" sz="1100" dirty="0"/>
          </a:p>
        </p:txBody>
      </p:sp>
      <p:sp>
        <p:nvSpPr>
          <p:cNvPr id="16" name="Shape 14"/>
          <p:cNvSpPr/>
          <p:nvPr/>
        </p:nvSpPr>
        <p:spPr>
          <a:xfrm>
            <a:off x="6217920" y="3090672"/>
            <a:ext cx="5486400" cy="1463040"/>
          </a:xfrm>
          <a:prstGeom prst="rect">
            <a:avLst/>
          </a:prstGeom>
          <a:solidFill>
            <a:srgbClr val="FFF6E6"/>
          </a:solidFill>
          <a:ln w="12700">
            <a:solidFill>
              <a:srgbClr val="D4922A"/>
            </a:solidFill>
            <a:prstDash val="solid"/>
          </a:ln>
        </p:spPr>
        <p:txBody>
          <a:bodyPr/>
          <a:lstStyle/>
          <a:p>
            <a:endParaRPr lang="en-US"/>
          </a:p>
        </p:txBody>
      </p:sp>
      <p:sp>
        <p:nvSpPr>
          <p:cNvPr id="17" name="Shape 15"/>
          <p:cNvSpPr/>
          <p:nvPr/>
        </p:nvSpPr>
        <p:spPr>
          <a:xfrm>
            <a:off x="6217920" y="3090672"/>
            <a:ext cx="137160" cy="1463040"/>
          </a:xfrm>
          <a:prstGeom prst="rect">
            <a:avLst/>
          </a:prstGeom>
          <a:solidFill>
            <a:srgbClr val="D4922A"/>
          </a:solidFill>
          <a:ln w="12700">
            <a:solidFill>
              <a:srgbClr val="D4922A"/>
            </a:solidFill>
            <a:prstDash val="solid"/>
          </a:ln>
        </p:spPr>
        <p:txBody>
          <a:bodyPr/>
          <a:lstStyle/>
          <a:p>
            <a:endParaRPr lang="en-US"/>
          </a:p>
        </p:txBody>
      </p:sp>
      <p:sp>
        <p:nvSpPr>
          <p:cNvPr id="18" name="Text 16"/>
          <p:cNvSpPr/>
          <p:nvPr/>
        </p:nvSpPr>
        <p:spPr>
          <a:xfrm>
            <a:off x="6537960" y="3273552"/>
            <a:ext cx="5029200" cy="365760"/>
          </a:xfrm>
          <a:prstGeom prst="rect">
            <a:avLst/>
          </a:prstGeom>
          <a:noFill/>
          <a:ln/>
        </p:spPr>
        <p:txBody>
          <a:bodyPr wrap="square" lIns="0" tIns="0" rIns="0" bIns="0" rtlCol="0" anchor="ctr"/>
          <a:lstStyle/>
          <a:p>
            <a:pPr marL="0" indent="0">
              <a:buNone/>
            </a:pPr>
            <a:r>
              <a:rPr lang="en-US" sz="1400" b="1" dirty="0">
                <a:solidFill>
                  <a:srgbClr val="D4922A"/>
                </a:solidFill>
                <a:latin typeface="Calibri" pitchFamily="34" charset="0"/>
                <a:ea typeface="Calibri" pitchFamily="34" charset="-122"/>
                <a:cs typeface="Calibri" pitchFamily="34" charset="-120"/>
              </a:rPr>
              <a:t>Preprocessing fitted on all data</a:t>
            </a:r>
            <a:endParaRPr lang="en-US" sz="1400" dirty="0"/>
          </a:p>
        </p:txBody>
      </p:sp>
      <p:sp>
        <p:nvSpPr>
          <p:cNvPr id="19" name="Text 17"/>
          <p:cNvSpPr/>
          <p:nvPr/>
        </p:nvSpPr>
        <p:spPr>
          <a:xfrm>
            <a:off x="6537960" y="3685032"/>
            <a:ext cx="5029200" cy="822960"/>
          </a:xfrm>
          <a:prstGeom prst="rect">
            <a:avLst/>
          </a:prstGeom>
          <a:noFill/>
          <a:ln/>
        </p:spPr>
        <p:txBody>
          <a:bodyPr wrap="square" lIns="0" tIns="0" rIns="0" bIns="0" rtlCol="0" anchor="ctr"/>
          <a:lstStyle/>
          <a:p>
            <a:pPr marL="0" indent="0">
              <a:buNone/>
            </a:pPr>
            <a:r>
              <a:rPr lang="en-US" sz="1100" dirty="0">
                <a:solidFill>
                  <a:srgbClr val="1A1F2E"/>
                </a:solidFill>
                <a:latin typeface="Calibri" pitchFamily="34" charset="0"/>
                <a:ea typeface="Calibri" pitchFamily="34" charset="-122"/>
                <a:cs typeface="Calibri" pitchFamily="34" charset="-120"/>
              </a:rPr>
              <a:t>Medians, vocabularies and the stoplist are computed before splitting. Target-independent, so mild, but they belong in the pipeline.</a:t>
            </a:r>
            <a:endParaRPr lang="en-US" sz="1100" dirty="0"/>
          </a:p>
        </p:txBody>
      </p:sp>
      <p:sp>
        <p:nvSpPr>
          <p:cNvPr id="20" name="Shape 18"/>
          <p:cNvSpPr/>
          <p:nvPr/>
        </p:nvSpPr>
        <p:spPr>
          <a:xfrm>
            <a:off x="457200" y="4718304"/>
            <a:ext cx="5486400" cy="1463040"/>
          </a:xfrm>
          <a:prstGeom prst="rect">
            <a:avLst/>
          </a:prstGeom>
          <a:solidFill>
            <a:srgbClr val="FFF6E6"/>
          </a:solidFill>
          <a:ln w="12700">
            <a:solidFill>
              <a:srgbClr val="D4922A"/>
            </a:solidFill>
            <a:prstDash val="solid"/>
          </a:ln>
        </p:spPr>
        <p:txBody>
          <a:bodyPr/>
          <a:lstStyle/>
          <a:p>
            <a:endParaRPr lang="en-US"/>
          </a:p>
        </p:txBody>
      </p:sp>
      <p:sp>
        <p:nvSpPr>
          <p:cNvPr id="21" name="Shape 19"/>
          <p:cNvSpPr/>
          <p:nvPr/>
        </p:nvSpPr>
        <p:spPr>
          <a:xfrm>
            <a:off x="457200" y="4718304"/>
            <a:ext cx="137160" cy="1463040"/>
          </a:xfrm>
          <a:prstGeom prst="rect">
            <a:avLst/>
          </a:prstGeom>
          <a:solidFill>
            <a:srgbClr val="D4922A"/>
          </a:solidFill>
          <a:ln w="12700">
            <a:solidFill>
              <a:srgbClr val="D4922A"/>
            </a:solidFill>
            <a:prstDash val="solid"/>
          </a:ln>
        </p:spPr>
        <p:txBody>
          <a:bodyPr/>
          <a:lstStyle/>
          <a:p>
            <a:endParaRPr lang="en-US"/>
          </a:p>
        </p:txBody>
      </p:sp>
      <p:sp>
        <p:nvSpPr>
          <p:cNvPr id="22" name="Text 20"/>
          <p:cNvSpPr/>
          <p:nvPr/>
        </p:nvSpPr>
        <p:spPr>
          <a:xfrm>
            <a:off x="777240" y="4901184"/>
            <a:ext cx="5029200" cy="365760"/>
          </a:xfrm>
          <a:prstGeom prst="rect">
            <a:avLst/>
          </a:prstGeom>
          <a:noFill/>
          <a:ln/>
        </p:spPr>
        <p:txBody>
          <a:bodyPr wrap="square" lIns="0" tIns="0" rIns="0" bIns="0" rtlCol="0" anchor="ctr"/>
          <a:lstStyle/>
          <a:p>
            <a:pPr marL="0" indent="0">
              <a:buNone/>
            </a:pPr>
            <a:r>
              <a:rPr lang="en-US" sz="1400" b="1" dirty="0">
                <a:solidFill>
                  <a:srgbClr val="D4922A"/>
                </a:solidFill>
                <a:latin typeface="Calibri" pitchFamily="34" charset="0"/>
                <a:ea typeface="Calibri" pitchFamily="34" charset="-122"/>
                <a:cs typeface="Calibri" pitchFamily="34" charset="-120"/>
              </a:rPr>
              <a:t>No production validation</a:t>
            </a:r>
            <a:endParaRPr lang="en-US" sz="1400" dirty="0"/>
          </a:p>
        </p:txBody>
      </p:sp>
      <p:sp>
        <p:nvSpPr>
          <p:cNvPr id="23" name="Text 21"/>
          <p:cNvSpPr/>
          <p:nvPr/>
        </p:nvSpPr>
        <p:spPr>
          <a:xfrm>
            <a:off x="777240" y="5312664"/>
            <a:ext cx="5029200" cy="822960"/>
          </a:xfrm>
          <a:prstGeom prst="rect">
            <a:avLst/>
          </a:prstGeom>
          <a:noFill/>
          <a:ln/>
        </p:spPr>
        <p:txBody>
          <a:bodyPr wrap="square" lIns="0" tIns="0" rIns="0" bIns="0" rtlCol="0" anchor="ctr"/>
          <a:lstStyle/>
          <a:p>
            <a:pPr marL="0" indent="0">
              <a:buNone/>
            </a:pPr>
            <a:r>
              <a:rPr lang="en-US" sz="1100" dirty="0">
                <a:solidFill>
                  <a:srgbClr val="1A1F2E"/>
                </a:solidFill>
                <a:latin typeface="Calibri" pitchFamily="34" charset="0"/>
                <a:ea typeface="Calibri" pitchFamily="34" charset="-122"/>
                <a:cs typeface="Calibri" pitchFamily="34" charset="-120"/>
              </a:rPr>
              <a:t>Offline metrics ≠ deployed performance. A live deployment study would measure user behavior under predictions.</a:t>
            </a:r>
            <a:endParaRPr lang="en-US" sz="1100" dirty="0"/>
          </a:p>
        </p:txBody>
      </p:sp>
      <p:sp>
        <p:nvSpPr>
          <p:cNvPr id="24" name="Shape 22"/>
          <p:cNvSpPr/>
          <p:nvPr/>
        </p:nvSpPr>
        <p:spPr>
          <a:xfrm>
            <a:off x="6217920" y="4718304"/>
            <a:ext cx="5486400" cy="1463040"/>
          </a:xfrm>
          <a:prstGeom prst="rect">
            <a:avLst/>
          </a:prstGeom>
          <a:solidFill>
            <a:srgbClr val="FFF6E6"/>
          </a:solidFill>
          <a:ln w="12700">
            <a:solidFill>
              <a:srgbClr val="D4922A"/>
            </a:solidFill>
            <a:prstDash val="solid"/>
          </a:ln>
        </p:spPr>
        <p:txBody>
          <a:bodyPr/>
          <a:lstStyle/>
          <a:p>
            <a:endParaRPr lang="en-US"/>
          </a:p>
        </p:txBody>
      </p:sp>
      <p:sp>
        <p:nvSpPr>
          <p:cNvPr id="25" name="Shape 23"/>
          <p:cNvSpPr/>
          <p:nvPr/>
        </p:nvSpPr>
        <p:spPr>
          <a:xfrm>
            <a:off x="6217920" y="4718304"/>
            <a:ext cx="137160" cy="1463040"/>
          </a:xfrm>
          <a:prstGeom prst="rect">
            <a:avLst/>
          </a:prstGeom>
          <a:solidFill>
            <a:srgbClr val="D4922A"/>
          </a:solidFill>
          <a:ln w="12700">
            <a:solidFill>
              <a:srgbClr val="D4922A"/>
            </a:solidFill>
            <a:prstDash val="solid"/>
          </a:ln>
        </p:spPr>
        <p:txBody>
          <a:bodyPr/>
          <a:lstStyle/>
          <a:p>
            <a:endParaRPr lang="en-US"/>
          </a:p>
        </p:txBody>
      </p:sp>
      <p:sp>
        <p:nvSpPr>
          <p:cNvPr id="26" name="Text 24"/>
          <p:cNvSpPr/>
          <p:nvPr/>
        </p:nvSpPr>
        <p:spPr>
          <a:xfrm>
            <a:off x="6537960" y="4901184"/>
            <a:ext cx="5029200" cy="365760"/>
          </a:xfrm>
          <a:prstGeom prst="rect">
            <a:avLst/>
          </a:prstGeom>
          <a:noFill/>
          <a:ln/>
        </p:spPr>
        <p:txBody>
          <a:bodyPr wrap="square" lIns="0" tIns="0" rIns="0" bIns="0" rtlCol="0" anchor="ctr"/>
          <a:lstStyle/>
          <a:p>
            <a:pPr marL="0" indent="0">
              <a:buNone/>
            </a:pPr>
            <a:r>
              <a:rPr lang="en-US" sz="1400" b="1" dirty="0">
                <a:solidFill>
                  <a:srgbClr val="D4922A"/>
                </a:solidFill>
                <a:latin typeface="Calibri" pitchFamily="34" charset="0"/>
                <a:ea typeface="Calibri" pitchFamily="34" charset="-122"/>
                <a:cs typeface="Calibri" pitchFamily="34" charset="-120"/>
              </a:rPr>
              <a:t>Temporal features computed in UTC</a:t>
            </a:r>
            <a:endParaRPr lang="en-US" sz="1400" dirty="0"/>
          </a:p>
        </p:txBody>
      </p:sp>
      <p:sp>
        <p:nvSpPr>
          <p:cNvPr id="27" name="Text 25"/>
          <p:cNvSpPr/>
          <p:nvPr/>
        </p:nvSpPr>
        <p:spPr>
          <a:xfrm>
            <a:off x="6537960" y="5312664"/>
            <a:ext cx="5029200" cy="822960"/>
          </a:xfrm>
          <a:prstGeom prst="rect">
            <a:avLst/>
          </a:prstGeom>
          <a:noFill/>
          <a:ln/>
        </p:spPr>
        <p:txBody>
          <a:bodyPr wrap="square" lIns="0" tIns="0" rIns="0" bIns="0" rtlCol="0" anchor="ctr"/>
          <a:lstStyle/>
          <a:p>
            <a:pPr marL="0" indent="0">
              <a:buNone/>
            </a:pPr>
            <a:r>
              <a:rPr lang="en-US" sz="1100" dirty="0">
                <a:solidFill>
                  <a:srgbClr val="1A1F2E"/>
                </a:solidFill>
                <a:latin typeface="Calibri" pitchFamily="34" charset="0"/>
                <a:ea typeface="Calibri" pitchFamily="34" charset="-122"/>
                <a:cs typeface="Calibri" pitchFamily="34" charset="-120"/>
              </a:rPr>
              <a:t>Computed in UTC across globally distributed projects — 18:00 UTC is mid-afternoon in California, midnight in Tokyo.</a:t>
            </a:r>
            <a:endParaRPr lang="en-US" sz="1100" dirty="0"/>
          </a:p>
        </p:txBody>
      </p:sp>
      <p:sp>
        <p:nvSpPr>
          <p:cNvPr id="28" name="Text 26"/>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9" name="Text 27"/>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26 / 29</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Future Work</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Eight directions for extension</a:t>
            </a:r>
            <a:endParaRPr lang="en-US" sz="1400" dirty="0"/>
          </a:p>
        </p:txBody>
      </p:sp>
      <p:sp>
        <p:nvSpPr>
          <p:cNvPr id="4" name="Shape 2"/>
          <p:cNvSpPr/>
          <p:nvPr/>
        </p:nvSpPr>
        <p:spPr>
          <a:xfrm>
            <a:off x="457200" y="1463040"/>
            <a:ext cx="5486400" cy="1051560"/>
          </a:xfrm>
          <a:prstGeom prst="rect">
            <a:avLst/>
          </a:prstGeom>
          <a:solidFill>
            <a:srgbClr val="F7F9FB"/>
          </a:solidFill>
          <a:ln w="12700">
            <a:solidFill>
              <a:srgbClr val="1C7293"/>
            </a:solidFill>
            <a:prstDash val="solid"/>
          </a:ln>
        </p:spPr>
        <p:txBody>
          <a:bodyPr/>
          <a:lstStyle/>
          <a:p>
            <a:endParaRPr lang="en-US"/>
          </a:p>
        </p:txBody>
      </p:sp>
      <p:sp>
        <p:nvSpPr>
          <p:cNvPr id="5" name="Shape 3"/>
          <p:cNvSpPr/>
          <p:nvPr/>
        </p:nvSpPr>
        <p:spPr>
          <a:xfrm>
            <a:off x="640080" y="1709928"/>
            <a:ext cx="548640" cy="548640"/>
          </a:xfrm>
          <a:prstGeom prst="ellipse">
            <a:avLst/>
          </a:prstGeom>
          <a:solidFill>
            <a:srgbClr val="1C7293"/>
          </a:solidFill>
          <a:ln w="12700">
            <a:solidFill>
              <a:srgbClr val="1C7293"/>
            </a:solidFill>
            <a:prstDash val="solid"/>
          </a:ln>
        </p:spPr>
        <p:txBody>
          <a:bodyPr/>
          <a:lstStyle/>
          <a:p>
            <a:endParaRPr lang="en-US"/>
          </a:p>
        </p:txBody>
      </p:sp>
      <p:sp>
        <p:nvSpPr>
          <p:cNvPr id="6" name="Text 4"/>
          <p:cNvSpPr/>
          <p:nvPr/>
        </p:nvSpPr>
        <p:spPr>
          <a:xfrm>
            <a:off x="640080" y="170992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371600" y="164592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Transformer-based text encoder</a:t>
            </a:r>
            <a:endParaRPr lang="en-US" sz="1300" dirty="0"/>
          </a:p>
        </p:txBody>
      </p:sp>
      <p:sp>
        <p:nvSpPr>
          <p:cNvPr id="8" name="Text 6"/>
          <p:cNvSpPr/>
          <p:nvPr/>
        </p:nvSpPr>
        <p:spPr>
          <a:xfrm>
            <a:off x="1371600" y="201168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CodeBERT / Sentence-BERT — may restore hybrid advantage</a:t>
            </a:r>
            <a:endParaRPr lang="en-US" sz="1050" dirty="0"/>
          </a:p>
        </p:txBody>
      </p:sp>
      <p:sp>
        <p:nvSpPr>
          <p:cNvPr id="9" name="Shape 7"/>
          <p:cNvSpPr/>
          <p:nvPr/>
        </p:nvSpPr>
        <p:spPr>
          <a:xfrm>
            <a:off x="6217920" y="1463040"/>
            <a:ext cx="5486400" cy="1051560"/>
          </a:xfrm>
          <a:prstGeom prst="rect">
            <a:avLst/>
          </a:prstGeom>
          <a:solidFill>
            <a:srgbClr val="F7F9FB"/>
          </a:solidFill>
          <a:ln w="12700">
            <a:solidFill>
              <a:srgbClr val="1C7293"/>
            </a:solidFill>
            <a:prstDash val="solid"/>
          </a:ln>
        </p:spPr>
        <p:txBody>
          <a:bodyPr/>
          <a:lstStyle/>
          <a:p>
            <a:endParaRPr lang="en-US"/>
          </a:p>
        </p:txBody>
      </p:sp>
      <p:sp>
        <p:nvSpPr>
          <p:cNvPr id="10" name="Shape 8"/>
          <p:cNvSpPr/>
          <p:nvPr/>
        </p:nvSpPr>
        <p:spPr>
          <a:xfrm>
            <a:off x="6400800" y="1709928"/>
            <a:ext cx="548640" cy="548640"/>
          </a:xfrm>
          <a:prstGeom prst="ellipse">
            <a:avLst/>
          </a:prstGeom>
          <a:solidFill>
            <a:srgbClr val="1C7293"/>
          </a:solidFill>
          <a:ln w="12700">
            <a:solidFill>
              <a:srgbClr val="1C7293"/>
            </a:solidFill>
            <a:prstDash val="solid"/>
          </a:ln>
        </p:spPr>
        <p:txBody>
          <a:bodyPr/>
          <a:lstStyle/>
          <a:p>
            <a:endParaRPr lang="en-US"/>
          </a:p>
        </p:txBody>
      </p:sp>
      <p:sp>
        <p:nvSpPr>
          <p:cNvPr id="11" name="Text 9"/>
          <p:cNvSpPr/>
          <p:nvPr/>
        </p:nvSpPr>
        <p:spPr>
          <a:xfrm>
            <a:off x="6400800" y="170992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7132320" y="164592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Scale to 1M+ workflow runs</a:t>
            </a:r>
            <a:endParaRPr lang="en-US" sz="1300" dirty="0"/>
          </a:p>
        </p:txBody>
      </p:sp>
      <p:sp>
        <p:nvSpPr>
          <p:cNvPr id="13" name="Text 11"/>
          <p:cNvSpPr/>
          <p:nvPr/>
        </p:nvSpPr>
        <p:spPr>
          <a:xfrm>
            <a:off x="7132320" y="201168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Hundreds of repos, broader generalization</a:t>
            </a:r>
            <a:endParaRPr lang="en-US" sz="1050" dirty="0"/>
          </a:p>
        </p:txBody>
      </p:sp>
      <p:sp>
        <p:nvSpPr>
          <p:cNvPr id="14" name="Shape 12"/>
          <p:cNvSpPr/>
          <p:nvPr/>
        </p:nvSpPr>
        <p:spPr>
          <a:xfrm>
            <a:off x="457200" y="2651760"/>
            <a:ext cx="5486400" cy="1051560"/>
          </a:xfrm>
          <a:prstGeom prst="rect">
            <a:avLst/>
          </a:prstGeom>
          <a:solidFill>
            <a:srgbClr val="F7F9FB"/>
          </a:solidFill>
          <a:ln w="12700">
            <a:solidFill>
              <a:srgbClr val="1C7293"/>
            </a:solidFill>
            <a:prstDash val="solid"/>
          </a:ln>
        </p:spPr>
        <p:txBody>
          <a:bodyPr/>
          <a:lstStyle/>
          <a:p>
            <a:endParaRPr lang="en-US"/>
          </a:p>
        </p:txBody>
      </p:sp>
      <p:sp>
        <p:nvSpPr>
          <p:cNvPr id="15" name="Shape 13"/>
          <p:cNvSpPr/>
          <p:nvPr/>
        </p:nvSpPr>
        <p:spPr>
          <a:xfrm>
            <a:off x="640080" y="2898648"/>
            <a:ext cx="548640" cy="548640"/>
          </a:xfrm>
          <a:prstGeom prst="ellipse">
            <a:avLst/>
          </a:prstGeom>
          <a:solidFill>
            <a:srgbClr val="1C7293"/>
          </a:solidFill>
          <a:ln w="12700">
            <a:solidFill>
              <a:srgbClr val="1C7293"/>
            </a:solidFill>
            <a:prstDash val="solid"/>
          </a:ln>
        </p:spPr>
        <p:txBody>
          <a:bodyPr/>
          <a:lstStyle/>
          <a:p>
            <a:endParaRPr lang="en-US"/>
          </a:p>
        </p:txBody>
      </p:sp>
      <p:sp>
        <p:nvSpPr>
          <p:cNvPr id="16" name="Text 14"/>
          <p:cNvSpPr/>
          <p:nvPr/>
        </p:nvSpPr>
        <p:spPr>
          <a:xfrm>
            <a:off x="640080" y="28986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371600" y="283464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Corporate dataset validation</a:t>
            </a:r>
            <a:endParaRPr lang="en-US" sz="1300" dirty="0"/>
          </a:p>
        </p:txBody>
      </p:sp>
      <p:sp>
        <p:nvSpPr>
          <p:cNvPr id="18" name="Text 16"/>
          <p:cNvSpPr/>
          <p:nvPr/>
        </p:nvSpPr>
        <p:spPr>
          <a:xfrm>
            <a:off x="1371600" y="320040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Test transfer to proprietary CI/CD environments</a:t>
            </a:r>
            <a:endParaRPr lang="en-US" sz="1050" dirty="0"/>
          </a:p>
        </p:txBody>
      </p:sp>
      <p:sp>
        <p:nvSpPr>
          <p:cNvPr id="19" name="Shape 17"/>
          <p:cNvSpPr/>
          <p:nvPr/>
        </p:nvSpPr>
        <p:spPr>
          <a:xfrm>
            <a:off x="6217920" y="2651760"/>
            <a:ext cx="5486400" cy="1051560"/>
          </a:xfrm>
          <a:prstGeom prst="rect">
            <a:avLst/>
          </a:prstGeom>
          <a:solidFill>
            <a:srgbClr val="F7F9FB"/>
          </a:solidFill>
          <a:ln w="12700">
            <a:solidFill>
              <a:srgbClr val="1C7293"/>
            </a:solidFill>
            <a:prstDash val="solid"/>
          </a:ln>
        </p:spPr>
        <p:txBody>
          <a:bodyPr/>
          <a:lstStyle/>
          <a:p>
            <a:endParaRPr lang="en-US"/>
          </a:p>
        </p:txBody>
      </p:sp>
      <p:sp>
        <p:nvSpPr>
          <p:cNvPr id="20" name="Shape 18"/>
          <p:cNvSpPr/>
          <p:nvPr/>
        </p:nvSpPr>
        <p:spPr>
          <a:xfrm>
            <a:off x="6400800" y="2898648"/>
            <a:ext cx="548640" cy="548640"/>
          </a:xfrm>
          <a:prstGeom prst="ellipse">
            <a:avLst/>
          </a:prstGeom>
          <a:solidFill>
            <a:srgbClr val="1C7293"/>
          </a:solidFill>
          <a:ln w="12700">
            <a:solidFill>
              <a:srgbClr val="1C7293"/>
            </a:solidFill>
            <a:prstDash val="solid"/>
          </a:ln>
        </p:spPr>
        <p:txBody>
          <a:bodyPr/>
          <a:lstStyle/>
          <a:p>
            <a:endParaRPr lang="en-US"/>
          </a:p>
        </p:txBody>
      </p:sp>
      <p:sp>
        <p:nvSpPr>
          <p:cNvPr id="21" name="Text 19"/>
          <p:cNvSpPr/>
          <p:nvPr/>
        </p:nvSpPr>
        <p:spPr>
          <a:xfrm>
            <a:off x="6400800" y="28986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7132320" y="283464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Online learning capability</a:t>
            </a:r>
            <a:endParaRPr lang="en-US" sz="1300" dirty="0"/>
          </a:p>
        </p:txBody>
      </p:sp>
      <p:sp>
        <p:nvSpPr>
          <p:cNvPr id="23" name="Text 21"/>
          <p:cNvSpPr/>
          <p:nvPr/>
        </p:nvSpPr>
        <p:spPr>
          <a:xfrm>
            <a:off x="7132320" y="320040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Continuous adaptation to evolving codebases</a:t>
            </a:r>
            <a:endParaRPr lang="en-US" sz="1050" dirty="0"/>
          </a:p>
        </p:txBody>
      </p:sp>
      <p:sp>
        <p:nvSpPr>
          <p:cNvPr id="24" name="Shape 22"/>
          <p:cNvSpPr/>
          <p:nvPr/>
        </p:nvSpPr>
        <p:spPr>
          <a:xfrm>
            <a:off x="457200" y="3840480"/>
            <a:ext cx="5486400" cy="1051560"/>
          </a:xfrm>
          <a:prstGeom prst="rect">
            <a:avLst/>
          </a:prstGeom>
          <a:solidFill>
            <a:srgbClr val="F7F9FB"/>
          </a:solidFill>
          <a:ln w="12700">
            <a:solidFill>
              <a:srgbClr val="1C7293"/>
            </a:solidFill>
            <a:prstDash val="solid"/>
          </a:ln>
        </p:spPr>
        <p:txBody>
          <a:bodyPr/>
          <a:lstStyle/>
          <a:p>
            <a:endParaRPr lang="en-US"/>
          </a:p>
        </p:txBody>
      </p:sp>
      <p:sp>
        <p:nvSpPr>
          <p:cNvPr id="25" name="Shape 23"/>
          <p:cNvSpPr/>
          <p:nvPr/>
        </p:nvSpPr>
        <p:spPr>
          <a:xfrm>
            <a:off x="640080" y="4087368"/>
            <a:ext cx="548640" cy="548640"/>
          </a:xfrm>
          <a:prstGeom prst="ellipse">
            <a:avLst/>
          </a:prstGeom>
          <a:solidFill>
            <a:srgbClr val="1C7293"/>
          </a:solidFill>
          <a:ln w="12700">
            <a:solidFill>
              <a:srgbClr val="1C7293"/>
            </a:solidFill>
            <a:prstDash val="solid"/>
          </a:ln>
        </p:spPr>
        <p:txBody>
          <a:bodyPr/>
          <a:lstStyle/>
          <a:p>
            <a:endParaRPr lang="en-US"/>
          </a:p>
        </p:txBody>
      </p:sp>
      <p:sp>
        <p:nvSpPr>
          <p:cNvPr id="26" name="Text 24"/>
          <p:cNvSpPr/>
          <p:nvPr/>
        </p:nvSpPr>
        <p:spPr>
          <a:xfrm>
            <a:off x="640080" y="408736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7" name="Text 25"/>
          <p:cNvSpPr/>
          <p:nvPr/>
        </p:nvSpPr>
        <p:spPr>
          <a:xfrm>
            <a:off x="1371600" y="402336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SHAP-based per-prediction explanations</a:t>
            </a:r>
            <a:endParaRPr lang="en-US" sz="1300" dirty="0"/>
          </a:p>
        </p:txBody>
      </p:sp>
      <p:sp>
        <p:nvSpPr>
          <p:cNvPr id="28" name="Text 26"/>
          <p:cNvSpPr/>
          <p:nvPr/>
        </p:nvSpPr>
        <p:spPr>
          <a:xfrm>
            <a:off x="1371600" y="438912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Individual-commit interpretability</a:t>
            </a:r>
            <a:endParaRPr lang="en-US" sz="1050" dirty="0"/>
          </a:p>
        </p:txBody>
      </p:sp>
      <p:sp>
        <p:nvSpPr>
          <p:cNvPr id="29" name="Shape 27"/>
          <p:cNvSpPr/>
          <p:nvPr/>
        </p:nvSpPr>
        <p:spPr>
          <a:xfrm>
            <a:off x="6217920" y="3840480"/>
            <a:ext cx="5486400" cy="1051560"/>
          </a:xfrm>
          <a:prstGeom prst="rect">
            <a:avLst/>
          </a:prstGeom>
          <a:solidFill>
            <a:srgbClr val="F7F9FB"/>
          </a:solidFill>
          <a:ln w="12700">
            <a:solidFill>
              <a:srgbClr val="1C7293"/>
            </a:solidFill>
            <a:prstDash val="solid"/>
          </a:ln>
        </p:spPr>
        <p:txBody>
          <a:bodyPr/>
          <a:lstStyle/>
          <a:p>
            <a:endParaRPr lang="en-US"/>
          </a:p>
        </p:txBody>
      </p:sp>
      <p:sp>
        <p:nvSpPr>
          <p:cNvPr id="30" name="Shape 28"/>
          <p:cNvSpPr/>
          <p:nvPr/>
        </p:nvSpPr>
        <p:spPr>
          <a:xfrm>
            <a:off x="6400800" y="4087368"/>
            <a:ext cx="548640" cy="548640"/>
          </a:xfrm>
          <a:prstGeom prst="ellipse">
            <a:avLst/>
          </a:prstGeom>
          <a:solidFill>
            <a:srgbClr val="1C7293"/>
          </a:solidFill>
          <a:ln w="12700">
            <a:solidFill>
              <a:srgbClr val="1C7293"/>
            </a:solidFill>
            <a:prstDash val="solid"/>
          </a:ln>
        </p:spPr>
        <p:txBody>
          <a:bodyPr/>
          <a:lstStyle/>
          <a:p>
            <a:endParaRPr lang="en-US"/>
          </a:p>
        </p:txBody>
      </p:sp>
      <p:sp>
        <p:nvSpPr>
          <p:cNvPr id="31" name="Text 29"/>
          <p:cNvSpPr/>
          <p:nvPr/>
        </p:nvSpPr>
        <p:spPr>
          <a:xfrm>
            <a:off x="6400800" y="408736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2" name="Text 30"/>
          <p:cNvSpPr/>
          <p:nvPr/>
        </p:nvSpPr>
        <p:spPr>
          <a:xfrm>
            <a:off x="7132320" y="402336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Hyperparameter grid/Bayesian search</a:t>
            </a:r>
            <a:endParaRPr lang="en-US" sz="1300" dirty="0"/>
          </a:p>
        </p:txBody>
      </p:sp>
      <p:sp>
        <p:nvSpPr>
          <p:cNvPr id="33" name="Text 31"/>
          <p:cNvSpPr/>
          <p:nvPr/>
        </p:nvSpPr>
        <p:spPr>
          <a:xfrm>
            <a:off x="7132320" y="438912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Tighter optimization than current defaults</a:t>
            </a:r>
            <a:endParaRPr lang="en-US" sz="1050" dirty="0"/>
          </a:p>
        </p:txBody>
      </p:sp>
      <p:sp>
        <p:nvSpPr>
          <p:cNvPr id="34" name="Shape 32"/>
          <p:cNvSpPr/>
          <p:nvPr/>
        </p:nvSpPr>
        <p:spPr>
          <a:xfrm>
            <a:off x="457200" y="5029200"/>
            <a:ext cx="5486400" cy="1051560"/>
          </a:xfrm>
          <a:prstGeom prst="rect">
            <a:avLst/>
          </a:prstGeom>
          <a:solidFill>
            <a:srgbClr val="F7F9FB"/>
          </a:solidFill>
          <a:ln w="12700">
            <a:solidFill>
              <a:srgbClr val="1C7293"/>
            </a:solidFill>
            <a:prstDash val="solid"/>
          </a:ln>
        </p:spPr>
        <p:txBody>
          <a:bodyPr/>
          <a:lstStyle/>
          <a:p>
            <a:endParaRPr lang="en-US"/>
          </a:p>
        </p:txBody>
      </p:sp>
      <p:sp>
        <p:nvSpPr>
          <p:cNvPr id="35" name="Shape 33"/>
          <p:cNvSpPr/>
          <p:nvPr/>
        </p:nvSpPr>
        <p:spPr>
          <a:xfrm>
            <a:off x="640080" y="5276088"/>
            <a:ext cx="548640" cy="548640"/>
          </a:xfrm>
          <a:prstGeom prst="ellipse">
            <a:avLst/>
          </a:prstGeom>
          <a:solidFill>
            <a:srgbClr val="1C7293"/>
          </a:solidFill>
          <a:ln w="12700">
            <a:solidFill>
              <a:srgbClr val="1C7293"/>
            </a:solidFill>
            <a:prstDash val="solid"/>
          </a:ln>
        </p:spPr>
        <p:txBody>
          <a:bodyPr/>
          <a:lstStyle/>
          <a:p>
            <a:endParaRPr lang="en-US"/>
          </a:p>
        </p:txBody>
      </p:sp>
      <p:sp>
        <p:nvSpPr>
          <p:cNvPr id="36" name="Text 34"/>
          <p:cNvSpPr/>
          <p:nvPr/>
        </p:nvSpPr>
        <p:spPr>
          <a:xfrm>
            <a:off x="640080" y="527608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37" name="Text 35"/>
          <p:cNvSpPr/>
          <p:nvPr/>
        </p:nvSpPr>
        <p:spPr>
          <a:xfrm>
            <a:off x="1371600" y="521208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Live operationalized deployment</a:t>
            </a:r>
            <a:endParaRPr lang="en-US" sz="1300" dirty="0"/>
          </a:p>
        </p:txBody>
      </p:sp>
      <p:sp>
        <p:nvSpPr>
          <p:cNvPr id="38" name="Text 36"/>
          <p:cNvSpPr/>
          <p:nvPr/>
        </p:nvSpPr>
        <p:spPr>
          <a:xfrm>
            <a:off x="1371600" y="557784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Measure real user behavior under predictions</a:t>
            </a:r>
            <a:endParaRPr lang="en-US" sz="1050" dirty="0"/>
          </a:p>
        </p:txBody>
      </p:sp>
      <p:sp>
        <p:nvSpPr>
          <p:cNvPr id="39" name="Shape 37"/>
          <p:cNvSpPr/>
          <p:nvPr/>
        </p:nvSpPr>
        <p:spPr>
          <a:xfrm>
            <a:off x="6217920" y="5029200"/>
            <a:ext cx="5486400" cy="1051560"/>
          </a:xfrm>
          <a:prstGeom prst="rect">
            <a:avLst/>
          </a:prstGeom>
          <a:solidFill>
            <a:srgbClr val="F7F9FB"/>
          </a:solidFill>
          <a:ln w="12700">
            <a:solidFill>
              <a:srgbClr val="1C7293"/>
            </a:solidFill>
            <a:prstDash val="solid"/>
          </a:ln>
        </p:spPr>
        <p:txBody>
          <a:bodyPr/>
          <a:lstStyle/>
          <a:p>
            <a:endParaRPr lang="en-US"/>
          </a:p>
        </p:txBody>
      </p:sp>
      <p:sp>
        <p:nvSpPr>
          <p:cNvPr id="40" name="Shape 38"/>
          <p:cNvSpPr/>
          <p:nvPr/>
        </p:nvSpPr>
        <p:spPr>
          <a:xfrm>
            <a:off x="6400800" y="5276088"/>
            <a:ext cx="548640" cy="548640"/>
          </a:xfrm>
          <a:prstGeom prst="ellipse">
            <a:avLst/>
          </a:prstGeom>
          <a:solidFill>
            <a:srgbClr val="1C7293"/>
          </a:solidFill>
          <a:ln w="12700">
            <a:solidFill>
              <a:srgbClr val="1C7293"/>
            </a:solidFill>
            <a:prstDash val="solid"/>
          </a:ln>
        </p:spPr>
        <p:txBody>
          <a:bodyPr/>
          <a:lstStyle/>
          <a:p>
            <a:endParaRPr lang="en-US"/>
          </a:p>
        </p:txBody>
      </p:sp>
      <p:sp>
        <p:nvSpPr>
          <p:cNvPr id="41" name="Text 39"/>
          <p:cNvSpPr/>
          <p:nvPr/>
        </p:nvSpPr>
        <p:spPr>
          <a:xfrm>
            <a:off x="6400800" y="527608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42" name="Text 40"/>
          <p:cNvSpPr/>
          <p:nvPr/>
        </p:nvSpPr>
        <p:spPr>
          <a:xfrm>
            <a:off x="7132320" y="521208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Multi-class failure stage prediction</a:t>
            </a:r>
            <a:endParaRPr lang="en-US" sz="1300" dirty="0"/>
          </a:p>
        </p:txBody>
      </p:sp>
      <p:sp>
        <p:nvSpPr>
          <p:cNvPr id="43" name="Text 41"/>
          <p:cNvSpPr/>
          <p:nvPr/>
        </p:nvSpPr>
        <p:spPr>
          <a:xfrm>
            <a:off x="7132320" y="557784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Build vs. test vs. deploy failure differentiation</a:t>
            </a:r>
            <a:endParaRPr lang="en-US" sz="1050" dirty="0"/>
          </a:p>
        </p:txBody>
      </p:sp>
      <p:sp>
        <p:nvSpPr>
          <p:cNvPr id="44" name="Text 42"/>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45" name="Text 43"/>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27 / 29</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548640"/>
          </a:xfrm>
          <a:prstGeom prst="rect">
            <a:avLst/>
          </a:prstGeom>
          <a:noFill/>
          <a:ln/>
        </p:spPr>
        <p:txBody>
          <a:bodyPr wrap="square" lIns="0" tIns="0" rIns="0" bIns="0" rtlCol="0" anchor="ctr"/>
          <a:lstStyle/>
          <a:p>
            <a:pPr marL="0" indent="0">
              <a:buNone/>
            </a:pPr>
            <a:r>
              <a:rPr lang="en-US" sz="3200" b="1" dirty="0">
                <a:solidFill>
                  <a:srgbClr val="00C9B7"/>
                </a:solidFill>
                <a:latin typeface="Calibri" pitchFamily="34" charset="0"/>
                <a:ea typeface="Calibri" pitchFamily="34" charset="-122"/>
                <a:cs typeface="Calibri" pitchFamily="34" charset="-120"/>
              </a:rPr>
              <a:t>In Summary</a:t>
            </a:r>
            <a:endParaRPr lang="en-US" sz="3200" dirty="0"/>
          </a:p>
        </p:txBody>
      </p:sp>
      <p:sp>
        <p:nvSpPr>
          <p:cNvPr id="3" name="Shape 1"/>
          <p:cNvSpPr/>
          <p:nvPr/>
        </p:nvSpPr>
        <p:spPr>
          <a:xfrm>
            <a:off x="457200" y="1097280"/>
            <a:ext cx="1371600" cy="0"/>
          </a:xfrm>
          <a:prstGeom prst="line">
            <a:avLst/>
          </a:prstGeom>
          <a:noFill/>
          <a:ln w="38100">
            <a:solidFill>
              <a:srgbClr val="00C9B7"/>
            </a:solidFill>
            <a:prstDash val="solid"/>
          </a:ln>
        </p:spPr>
        <p:txBody>
          <a:bodyPr/>
          <a:lstStyle/>
          <a:p>
            <a:endParaRPr lang="en-US"/>
          </a:p>
        </p:txBody>
      </p:sp>
      <p:sp>
        <p:nvSpPr>
          <p:cNvPr id="4" name="Text 2"/>
          <p:cNvSpPr/>
          <p:nvPr/>
        </p:nvSpPr>
        <p:spPr>
          <a:xfrm>
            <a:off x="457200" y="1463040"/>
            <a:ext cx="731520" cy="914400"/>
          </a:xfrm>
          <a:prstGeom prst="rect">
            <a:avLst/>
          </a:prstGeom>
          <a:noFill/>
          <a:ln/>
        </p:spPr>
        <p:txBody>
          <a:bodyPr wrap="square" lIns="0" tIns="0" rIns="0" bIns="0" rtlCol="0" anchor="t"/>
          <a:lstStyle/>
          <a:p>
            <a:pPr marL="0" indent="0">
              <a:buNone/>
            </a:pPr>
            <a:r>
              <a:rPr lang="en-US" sz="3200" b="1" dirty="0">
                <a:solidFill>
                  <a:srgbClr val="00C9B7"/>
                </a:solidFill>
                <a:latin typeface="Calibri" pitchFamily="34" charset="0"/>
                <a:ea typeface="Calibri" pitchFamily="34" charset="-122"/>
                <a:cs typeface="Calibri" pitchFamily="34" charset="-120"/>
              </a:rPr>
              <a:t>01</a:t>
            </a:r>
            <a:endParaRPr lang="en-US" sz="3200" dirty="0"/>
          </a:p>
        </p:txBody>
      </p:sp>
      <p:sp>
        <p:nvSpPr>
          <p:cNvPr id="5" name="Text 3"/>
          <p:cNvSpPr/>
          <p:nvPr/>
        </p:nvSpPr>
        <p:spPr>
          <a:xfrm>
            <a:off x="1371600" y="1600200"/>
            <a:ext cx="1033272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Built a hybrid ML pipeline for pre-execution CI/CD failure prediction using only commit-time features available from the GitHub Actions API.</a:t>
            </a:r>
            <a:endParaRPr lang="en-US" sz="1500" dirty="0"/>
          </a:p>
        </p:txBody>
      </p:sp>
      <p:sp>
        <p:nvSpPr>
          <p:cNvPr id="6" name="Text 4"/>
          <p:cNvSpPr/>
          <p:nvPr/>
        </p:nvSpPr>
        <p:spPr>
          <a:xfrm>
            <a:off x="457200" y="2423160"/>
            <a:ext cx="731520" cy="914400"/>
          </a:xfrm>
          <a:prstGeom prst="rect">
            <a:avLst/>
          </a:prstGeom>
          <a:noFill/>
          <a:ln/>
        </p:spPr>
        <p:txBody>
          <a:bodyPr wrap="square" lIns="0" tIns="0" rIns="0" bIns="0" rtlCol="0" anchor="t"/>
          <a:lstStyle/>
          <a:p>
            <a:pPr marL="0" indent="0">
              <a:buNone/>
            </a:pPr>
            <a:r>
              <a:rPr lang="en-US" sz="3200" b="1" dirty="0">
                <a:solidFill>
                  <a:srgbClr val="00C9B7"/>
                </a:solidFill>
                <a:latin typeface="Calibri" pitchFamily="34" charset="0"/>
                <a:ea typeface="Calibri" pitchFamily="34" charset="-122"/>
                <a:cs typeface="Calibri" pitchFamily="34" charset="-120"/>
              </a:rPr>
              <a:t>02</a:t>
            </a:r>
            <a:endParaRPr lang="en-US" sz="3200" dirty="0"/>
          </a:p>
        </p:txBody>
      </p:sp>
      <p:sp>
        <p:nvSpPr>
          <p:cNvPr id="7" name="Text 5"/>
          <p:cNvSpPr/>
          <p:nvPr/>
        </p:nvSpPr>
        <p:spPr>
          <a:xfrm>
            <a:off x="1371600" y="2560320"/>
            <a:ext cx="1033272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Measured F1 = 0.422 ± 0.064 under commit-grouped cross-validation with the threshold chosen off the test set — lower than the prior art, under stricter constraints and a stricter protocol.</a:t>
            </a:r>
            <a:endParaRPr lang="en-US" sz="1500" dirty="0"/>
          </a:p>
        </p:txBody>
      </p:sp>
      <p:sp>
        <p:nvSpPr>
          <p:cNvPr id="8" name="Text 6"/>
          <p:cNvSpPr/>
          <p:nvPr/>
        </p:nvSpPr>
        <p:spPr>
          <a:xfrm>
            <a:off x="457200" y="3383280"/>
            <a:ext cx="731520" cy="914400"/>
          </a:xfrm>
          <a:prstGeom prst="rect">
            <a:avLst/>
          </a:prstGeom>
          <a:noFill/>
          <a:ln/>
        </p:spPr>
        <p:txBody>
          <a:bodyPr wrap="square" lIns="0" tIns="0" rIns="0" bIns="0" rtlCol="0" anchor="t"/>
          <a:lstStyle/>
          <a:p>
            <a:pPr marL="0" indent="0">
              <a:buNone/>
            </a:pPr>
            <a:r>
              <a:rPr lang="en-US" sz="3200" b="1" dirty="0">
                <a:solidFill>
                  <a:srgbClr val="00C9B7"/>
                </a:solidFill>
                <a:latin typeface="Calibri" pitchFamily="34" charset="0"/>
                <a:ea typeface="Calibri" pitchFamily="34" charset="-122"/>
                <a:cs typeface="Calibri" pitchFamily="34" charset="-120"/>
              </a:rPr>
              <a:t>03</a:t>
            </a:r>
            <a:endParaRPr lang="en-US" sz="3200" dirty="0"/>
          </a:p>
        </p:txBody>
      </p:sp>
      <p:sp>
        <p:nvSpPr>
          <p:cNvPr id="9" name="Text 7"/>
          <p:cNvSpPr/>
          <p:nvPr/>
        </p:nvSpPr>
        <p:spPr>
          <a:xfrm>
            <a:off x="1371600" y="3520440"/>
            <a:ext cx="1033272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Demonstrated through ablation that categorical identity alone outperforms the full hybrid, so the system is a project-level risk estimator rather than a commit-level one.</a:t>
            </a:r>
            <a:endParaRPr lang="en-US" sz="1500" dirty="0"/>
          </a:p>
        </p:txBody>
      </p:sp>
      <p:sp>
        <p:nvSpPr>
          <p:cNvPr id="10" name="Text 8"/>
          <p:cNvSpPr/>
          <p:nvPr/>
        </p:nvSpPr>
        <p:spPr>
          <a:xfrm>
            <a:off x="457200" y="4343400"/>
            <a:ext cx="731520" cy="914400"/>
          </a:xfrm>
          <a:prstGeom prst="rect">
            <a:avLst/>
          </a:prstGeom>
          <a:noFill/>
          <a:ln/>
        </p:spPr>
        <p:txBody>
          <a:bodyPr wrap="square" lIns="0" tIns="0" rIns="0" bIns="0" rtlCol="0" anchor="t"/>
          <a:lstStyle/>
          <a:p>
            <a:pPr marL="0" indent="0">
              <a:buNone/>
            </a:pPr>
            <a:r>
              <a:rPr lang="en-US" sz="3200" b="1" dirty="0">
                <a:solidFill>
                  <a:srgbClr val="00C9B7"/>
                </a:solidFill>
                <a:latin typeface="Calibri" pitchFamily="34" charset="0"/>
                <a:ea typeface="Calibri" pitchFamily="34" charset="-122"/>
                <a:cs typeface="Calibri" pitchFamily="34" charset="-120"/>
              </a:rPr>
              <a:t>04</a:t>
            </a:r>
            <a:endParaRPr lang="en-US" sz="3200" dirty="0"/>
          </a:p>
        </p:txBody>
      </p:sp>
      <p:sp>
        <p:nvSpPr>
          <p:cNvPr id="11" name="Text 9"/>
          <p:cNvSpPr/>
          <p:nvPr/>
        </p:nvSpPr>
        <p:spPr>
          <a:xfrm>
            <a:off x="1371600" y="4480560"/>
            <a:ext cx="1033272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Quantified two evaluation defects in my own earlier results: 0.060 from commit leakage, 0.126 from threshold selection on test.</a:t>
            </a:r>
            <a:endParaRPr lang="en-US" sz="1500" dirty="0"/>
          </a:p>
        </p:txBody>
      </p:sp>
      <p:sp>
        <p:nvSpPr>
          <p:cNvPr id="12" name="Text 10"/>
          <p:cNvSpPr/>
          <p:nvPr/>
        </p:nvSpPr>
        <p:spPr>
          <a:xfrm>
            <a:off x="457200" y="5303520"/>
            <a:ext cx="731520" cy="914400"/>
          </a:xfrm>
          <a:prstGeom prst="rect">
            <a:avLst/>
          </a:prstGeom>
          <a:noFill/>
          <a:ln/>
        </p:spPr>
        <p:txBody>
          <a:bodyPr wrap="square" lIns="0" tIns="0" rIns="0" bIns="0" rtlCol="0" anchor="t"/>
          <a:lstStyle/>
          <a:p>
            <a:pPr marL="0" indent="0">
              <a:buNone/>
            </a:pPr>
            <a:r>
              <a:rPr lang="en-US" sz="3200" b="1" dirty="0">
                <a:solidFill>
                  <a:srgbClr val="00C9B7"/>
                </a:solidFill>
                <a:latin typeface="Calibri" pitchFamily="34" charset="0"/>
                <a:ea typeface="Calibri" pitchFamily="34" charset="-122"/>
                <a:cs typeface="Calibri" pitchFamily="34" charset="-120"/>
              </a:rPr>
              <a:t>05</a:t>
            </a:r>
            <a:endParaRPr lang="en-US" sz="3200" dirty="0"/>
          </a:p>
        </p:txBody>
      </p:sp>
      <p:sp>
        <p:nvSpPr>
          <p:cNvPr id="13" name="Text 11"/>
          <p:cNvSpPr/>
          <p:nvPr/>
        </p:nvSpPr>
        <p:spPr>
          <a:xfrm>
            <a:off x="1371600" y="5440680"/>
            <a:ext cx="1033272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Estimated $243,670 annual net saving, reported alongside the break-even false-alarm cost of $20.41 at which it reaches zero.</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2">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00C9B7"/>
          </a:solidFill>
          <a:ln w="12700">
            <a:solidFill>
              <a:srgbClr val="00C9B7"/>
            </a:solidFill>
            <a:prstDash val="solid"/>
          </a:ln>
        </p:spPr>
        <p:txBody>
          <a:bodyPr/>
          <a:lstStyle/>
          <a:p>
            <a:endParaRPr lang="en-US"/>
          </a:p>
        </p:txBody>
      </p:sp>
      <p:sp>
        <p:nvSpPr>
          <p:cNvPr id="3" name="Text 1"/>
          <p:cNvSpPr/>
          <p:nvPr/>
        </p:nvSpPr>
        <p:spPr>
          <a:xfrm>
            <a:off x="731520" y="1828800"/>
            <a:ext cx="10972800" cy="1097280"/>
          </a:xfrm>
          <a:prstGeom prst="rect">
            <a:avLst/>
          </a:prstGeom>
          <a:noFill/>
          <a:ln/>
        </p:spPr>
        <p:txBody>
          <a:bodyPr wrap="square" lIns="0" tIns="0" rIns="0" bIns="0" rtlCol="0" anchor="ctr"/>
          <a:lstStyle/>
          <a:p>
            <a:pPr marL="0" indent="0">
              <a:buNone/>
            </a:pPr>
            <a:r>
              <a:rPr lang="en-US" sz="8000" b="1" dirty="0">
                <a:solidFill>
                  <a:srgbClr val="FFFFFF"/>
                </a:solidFill>
                <a:latin typeface="Calibri" pitchFamily="34" charset="0"/>
                <a:ea typeface="Calibri" pitchFamily="34" charset="-122"/>
                <a:cs typeface="Calibri" pitchFamily="34" charset="-120"/>
              </a:rPr>
              <a:t>Thank You</a:t>
            </a:r>
            <a:endParaRPr lang="en-US" sz="8000" dirty="0"/>
          </a:p>
        </p:txBody>
      </p:sp>
      <p:sp>
        <p:nvSpPr>
          <p:cNvPr id="4" name="Text 2"/>
          <p:cNvSpPr/>
          <p:nvPr/>
        </p:nvSpPr>
        <p:spPr>
          <a:xfrm>
            <a:off x="731520" y="3017520"/>
            <a:ext cx="10972800" cy="640080"/>
          </a:xfrm>
          <a:prstGeom prst="rect">
            <a:avLst/>
          </a:prstGeom>
          <a:noFill/>
          <a:ln/>
        </p:spPr>
        <p:txBody>
          <a:bodyPr wrap="square" lIns="0" tIns="0" rIns="0" bIns="0" rtlCol="0" anchor="ctr"/>
          <a:lstStyle/>
          <a:p>
            <a:pPr marL="0" indent="0">
              <a:buNone/>
            </a:pPr>
            <a:r>
              <a:rPr lang="en-US" sz="3200" i="1" dirty="0">
                <a:solidFill>
                  <a:srgbClr val="00C9B7"/>
                </a:solidFill>
                <a:latin typeface="Calibri" pitchFamily="34" charset="0"/>
                <a:ea typeface="Calibri" pitchFamily="34" charset="-122"/>
                <a:cs typeface="Calibri" pitchFamily="34" charset="-120"/>
              </a:rPr>
              <a:t>Questions &amp; Discussion</a:t>
            </a:r>
            <a:endParaRPr lang="en-US" sz="3200" dirty="0"/>
          </a:p>
        </p:txBody>
      </p:sp>
      <p:sp>
        <p:nvSpPr>
          <p:cNvPr id="5" name="Shape 3"/>
          <p:cNvSpPr/>
          <p:nvPr/>
        </p:nvSpPr>
        <p:spPr>
          <a:xfrm>
            <a:off x="731520" y="3931920"/>
            <a:ext cx="3657600" cy="0"/>
          </a:xfrm>
          <a:prstGeom prst="line">
            <a:avLst/>
          </a:prstGeom>
          <a:noFill/>
          <a:ln w="25400">
            <a:solidFill>
              <a:srgbClr val="00C9B7"/>
            </a:solidFill>
            <a:prstDash val="solid"/>
          </a:ln>
        </p:spPr>
        <p:txBody>
          <a:bodyPr/>
          <a:lstStyle/>
          <a:p>
            <a:endParaRPr lang="en-US"/>
          </a:p>
        </p:txBody>
      </p:sp>
      <p:sp>
        <p:nvSpPr>
          <p:cNvPr id="6" name="Text 4"/>
          <p:cNvSpPr/>
          <p:nvPr/>
        </p:nvSpPr>
        <p:spPr>
          <a:xfrm>
            <a:off x="731520" y="4114800"/>
            <a:ext cx="10972800" cy="4114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Moamen Mohamed Aly Hussein</a:t>
            </a:r>
            <a:endParaRPr lang="en-US" sz="1800" dirty="0"/>
          </a:p>
        </p:txBody>
      </p:sp>
      <p:sp>
        <p:nvSpPr>
          <p:cNvPr id="7" name="Text 5"/>
          <p:cNvSpPr/>
          <p:nvPr/>
        </p:nvSpPr>
        <p:spPr>
          <a:xfrm>
            <a:off x="731520" y="4526280"/>
            <a:ext cx="10972800" cy="365760"/>
          </a:xfrm>
          <a:prstGeom prst="rect">
            <a:avLst/>
          </a:prstGeom>
          <a:noFill/>
          <a:ln/>
        </p:spPr>
        <p:txBody>
          <a:bodyPr wrap="square" lIns="0" tIns="0" rIns="0" bIns="0" rtlCol="0" anchor="ctr"/>
          <a:lstStyle/>
          <a:p>
            <a:pPr marL="0" indent="0">
              <a:buNone/>
            </a:pPr>
            <a:r>
              <a:rPr lang="en-US" sz="1300" dirty="0">
                <a:solidFill>
                  <a:srgbClr val="B8C4D0"/>
                </a:solidFill>
                <a:latin typeface="Calibri" pitchFamily="34" charset="0"/>
                <a:ea typeface="Calibri" pitchFamily="34" charset="-122"/>
                <a:cs typeface="Calibri" pitchFamily="34" charset="-120"/>
              </a:rPr>
              <a:t>MSc Software Engineering  ·  Cairo University</a:t>
            </a:r>
            <a:endParaRPr lang="en-US" sz="1300" dirty="0"/>
          </a:p>
        </p:txBody>
      </p:sp>
      <p:sp>
        <p:nvSpPr>
          <p:cNvPr id="8" name="Text 6"/>
          <p:cNvSpPr/>
          <p:nvPr/>
        </p:nvSpPr>
        <p:spPr>
          <a:xfrm>
            <a:off x="731520" y="4892040"/>
            <a:ext cx="10972800" cy="365760"/>
          </a:xfrm>
          <a:prstGeom prst="rect">
            <a:avLst/>
          </a:prstGeom>
          <a:noFill/>
          <a:ln/>
        </p:spPr>
        <p:txBody>
          <a:bodyPr wrap="square" lIns="0" tIns="0" rIns="0" bIns="0" rtlCol="0" anchor="ctr"/>
          <a:lstStyle/>
          <a:p>
            <a:pPr marL="0" indent="0">
              <a:buNone/>
            </a:pPr>
            <a:r>
              <a:rPr lang="en-US" sz="1300" i="1" dirty="0">
                <a:solidFill>
                  <a:srgbClr val="B8C4D0"/>
                </a:solidFill>
                <a:latin typeface="Calibri" pitchFamily="34" charset="0"/>
                <a:ea typeface="Calibri" pitchFamily="34" charset="-122"/>
                <a:cs typeface="Calibri" pitchFamily="34" charset="-120"/>
              </a:rPr>
              <a:t>Defense: Friday, September 11, 2026</a:t>
            </a:r>
            <a:endParaRPr lang="en-US" sz="1300" dirty="0"/>
          </a:p>
        </p:txBody>
      </p:sp>
      <p:sp>
        <p:nvSpPr>
          <p:cNvPr id="9" name="Shape 7"/>
          <p:cNvSpPr/>
          <p:nvPr/>
        </p:nvSpPr>
        <p:spPr>
          <a:xfrm>
            <a:off x="731520" y="5760720"/>
            <a:ext cx="7315200" cy="457200"/>
          </a:xfrm>
          <a:prstGeom prst="rect">
            <a:avLst/>
          </a:prstGeom>
          <a:solidFill>
            <a:srgbClr val="0E3A5C"/>
          </a:solidFill>
          <a:ln w="12700">
            <a:solidFill>
              <a:srgbClr val="00C9B7"/>
            </a:solidFill>
            <a:prstDash val="solid"/>
          </a:ln>
        </p:spPr>
        <p:txBody>
          <a:bodyPr/>
          <a:lstStyle/>
          <a:p>
            <a:endParaRPr lang="en-US"/>
          </a:p>
        </p:txBody>
      </p:sp>
      <p:sp>
        <p:nvSpPr>
          <p:cNvPr id="10" name="Text 8"/>
          <p:cNvSpPr/>
          <p:nvPr/>
        </p:nvSpPr>
        <p:spPr>
          <a:xfrm>
            <a:off x="868680" y="5806440"/>
            <a:ext cx="7040880" cy="365760"/>
          </a:xfrm>
          <a:prstGeom prst="rect">
            <a:avLst/>
          </a:prstGeom>
          <a:noFill/>
          <a:ln/>
        </p:spPr>
        <p:txBody>
          <a:bodyPr wrap="square" lIns="0" tIns="0" rIns="0" bIns="0" rtlCol="0" anchor="ctr"/>
          <a:lstStyle/>
          <a:p>
            <a:pPr marL="0" indent="0">
              <a:buNone/>
            </a:pPr>
            <a:r>
              <a:rPr lang="en-US" sz="1100" b="1" dirty="0">
                <a:solidFill>
                  <a:srgbClr val="00C9B7"/>
                </a:solidFill>
                <a:latin typeface="Calibri" pitchFamily="34" charset="0"/>
                <a:ea typeface="Calibri" pitchFamily="34" charset="-122"/>
                <a:cs typeface="Calibri" pitchFamily="34" charset="-120"/>
              </a:rPr>
              <a:t>📎 Backup material available:</a:t>
            </a:r>
            <a:r>
              <a:rPr lang="en-US" sz="1100" i="1" dirty="0">
                <a:solidFill>
                  <a:srgbClr val="B8C4D0"/>
                </a:solidFill>
                <a:latin typeface="Calibri" pitchFamily="34" charset="0"/>
                <a:ea typeface="Calibri" pitchFamily="34" charset="-122"/>
                <a:cs typeface="Calibri" pitchFamily="34" charset="-120"/>
              </a:rPr>
              <a:t>  thesis document, source code, Q&amp;A reference card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2451</Words>
  <Application>Microsoft Office PowerPoint</Application>
  <PresentationFormat>Widescreen</PresentationFormat>
  <Paragraphs>436</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CI/CD Pipeline Build Failures Using Machine Learning</dc:title>
  <dc:subject>PptxGenJS Presentation</dc:subject>
  <dc:creator>Moamen Mohamed Aly Hussein</dc:creator>
  <cp:lastModifiedBy>Moamen Mohamed</cp:lastModifiedBy>
  <cp:revision>2</cp:revision>
  <dcterms:created xsi:type="dcterms:W3CDTF">2026-05-30T20:02:31Z</dcterms:created>
  <dcterms:modified xsi:type="dcterms:W3CDTF">2026-06-20T23:39:49Z</dcterms:modified>
</cp:coreProperties>
</file>